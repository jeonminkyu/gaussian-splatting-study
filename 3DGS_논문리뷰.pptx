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9" r:id="rId12"/>
    <p:sldId id="266" r:id="rId13"/>
    <p:sldId id="270" r:id="rId14"/>
    <p:sldId id="268"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D69E64-4B97-1A4A-B54B-3FAC05027437}" v="4" dt="2026-04-23T15:35:00.7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9498"/>
    <p:restoredTop sz="94610"/>
  </p:normalViewPr>
  <p:slideViewPr>
    <p:cSldViewPr snapToGrid="0" snapToObjects="1">
      <p:cViewPr varScale="1">
        <p:scale>
          <a:sx n="112" d="100"/>
          <a:sy n="112" d="100"/>
        </p:scale>
        <p:origin x="232" y="5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민규 전" userId="6cf71c6126298eba" providerId="LiveId" clId="{86D69E64-4B97-1A4A-B54B-3FAC05027437}"/>
    <pc:docChg chg="undo custSel addSld delSld modSld">
      <pc:chgData name="민규 전" userId="6cf71c6126298eba" providerId="LiveId" clId="{86D69E64-4B97-1A4A-B54B-3FAC05027437}" dt="2026-04-23T15:36:11.332" v="138" actId="20577"/>
      <pc:docMkLst>
        <pc:docMk/>
      </pc:docMkLst>
      <pc:sldChg chg="modSp mod">
        <pc:chgData name="민규 전" userId="6cf71c6126298eba" providerId="LiveId" clId="{86D69E64-4B97-1A4A-B54B-3FAC05027437}" dt="2026-04-23T15:17:48.895" v="25" actId="20577"/>
        <pc:sldMkLst>
          <pc:docMk/>
          <pc:sldMk cId="0" sldId="261"/>
        </pc:sldMkLst>
        <pc:spChg chg="mod">
          <ac:chgData name="민규 전" userId="6cf71c6126298eba" providerId="LiveId" clId="{86D69E64-4B97-1A4A-B54B-3FAC05027437}" dt="2026-04-23T15:17:48.895" v="25" actId="20577"/>
          <ac:spMkLst>
            <pc:docMk/>
            <pc:sldMk cId="0" sldId="261"/>
            <ac:spMk id="21" creationId="{00000000-0000-0000-0000-000000000000}"/>
          </ac:spMkLst>
        </pc:spChg>
        <pc:spChg chg="mod">
          <ac:chgData name="민규 전" userId="6cf71c6126298eba" providerId="LiveId" clId="{86D69E64-4B97-1A4A-B54B-3FAC05027437}" dt="2026-04-23T15:16:34.970" v="3" actId="20577"/>
          <ac:spMkLst>
            <pc:docMk/>
            <pc:sldMk cId="0" sldId="261"/>
            <ac:spMk id="22" creationId="{00000000-0000-0000-0000-000000000000}"/>
          </ac:spMkLst>
        </pc:spChg>
      </pc:sldChg>
      <pc:sldChg chg="modSp mod">
        <pc:chgData name="민규 전" userId="6cf71c6126298eba" providerId="LiveId" clId="{86D69E64-4B97-1A4A-B54B-3FAC05027437}" dt="2026-04-23T15:18:11.240" v="31"/>
        <pc:sldMkLst>
          <pc:docMk/>
          <pc:sldMk cId="0" sldId="262"/>
        </pc:sldMkLst>
        <pc:spChg chg="mod">
          <ac:chgData name="민규 전" userId="6cf71c6126298eba" providerId="LiveId" clId="{86D69E64-4B97-1A4A-B54B-3FAC05027437}" dt="2026-04-23T15:17:31.992" v="8" actId="20577"/>
          <ac:spMkLst>
            <pc:docMk/>
            <pc:sldMk cId="0" sldId="262"/>
            <ac:spMk id="20" creationId="{00000000-0000-0000-0000-000000000000}"/>
          </ac:spMkLst>
        </pc:spChg>
        <pc:spChg chg="mod">
          <ac:chgData name="민규 전" userId="6cf71c6126298eba" providerId="LiveId" clId="{86D69E64-4B97-1A4A-B54B-3FAC05027437}" dt="2026-04-23T15:18:11.240" v="31"/>
          <ac:spMkLst>
            <pc:docMk/>
            <pc:sldMk cId="0" sldId="262"/>
            <ac:spMk id="21" creationId="{00000000-0000-0000-0000-000000000000}"/>
          </ac:spMkLst>
        </pc:spChg>
        <pc:spChg chg="mod">
          <ac:chgData name="민규 전" userId="6cf71c6126298eba" providerId="LiveId" clId="{86D69E64-4B97-1A4A-B54B-3FAC05027437}" dt="2026-04-23T15:18:00.217" v="27" actId="20577"/>
          <ac:spMkLst>
            <pc:docMk/>
            <pc:sldMk cId="0" sldId="262"/>
            <ac:spMk id="22" creationId="{00000000-0000-0000-0000-000000000000}"/>
          </ac:spMkLst>
        </pc:spChg>
      </pc:sldChg>
      <pc:sldChg chg="modSp mod">
        <pc:chgData name="민규 전" userId="6cf71c6126298eba" providerId="LiveId" clId="{86D69E64-4B97-1A4A-B54B-3FAC05027437}" dt="2026-04-23T15:19:15.794" v="33"/>
        <pc:sldMkLst>
          <pc:docMk/>
          <pc:sldMk cId="0" sldId="263"/>
        </pc:sldMkLst>
        <pc:spChg chg="mod">
          <ac:chgData name="민규 전" userId="6cf71c6126298eba" providerId="LiveId" clId="{86D69E64-4B97-1A4A-B54B-3FAC05027437}" dt="2026-04-23T15:19:15.794" v="33"/>
          <ac:spMkLst>
            <pc:docMk/>
            <pc:sldMk cId="0" sldId="263"/>
            <ac:spMk id="22" creationId="{00000000-0000-0000-0000-000000000000}"/>
          </ac:spMkLst>
        </pc:spChg>
      </pc:sldChg>
      <pc:sldChg chg="modSp mod">
        <pc:chgData name="민규 전" userId="6cf71c6126298eba" providerId="LiveId" clId="{86D69E64-4B97-1A4A-B54B-3FAC05027437}" dt="2026-04-23T15:35:29.776" v="60" actId="20577"/>
        <pc:sldMkLst>
          <pc:docMk/>
          <pc:sldMk cId="0" sldId="266"/>
        </pc:sldMkLst>
        <pc:spChg chg="mod">
          <ac:chgData name="민규 전" userId="6cf71c6126298eba" providerId="LiveId" clId="{86D69E64-4B97-1A4A-B54B-3FAC05027437}" dt="2026-04-23T15:35:29.776" v="60" actId="20577"/>
          <ac:spMkLst>
            <pc:docMk/>
            <pc:sldMk cId="0" sldId="266"/>
            <ac:spMk id="2" creationId="{00000000-0000-0000-0000-000000000000}"/>
          </ac:spMkLst>
        </pc:spChg>
      </pc:sldChg>
      <pc:sldChg chg="del">
        <pc:chgData name="민규 전" userId="6cf71c6126298eba" providerId="LiveId" clId="{86D69E64-4B97-1A4A-B54B-3FAC05027437}" dt="2026-04-23T15:35:08.324" v="58" actId="2696"/>
        <pc:sldMkLst>
          <pc:docMk/>
          <pc:sldMk cId="0" sldId="267"/>
        </pc:sldMkLst>
      </pc:sldChg>
      <pc:sldChg chg="addSp modSp add mod setBg">
        <pc:chgData name="민규 전" userId="6cf71c6126298eba" providerId="LiveId" clId="{86D69E64-4B97-1A4A-B54B-3FAC05027437}" dt="2026-04-23T15:21:17.642" v="56" actId="1076"/>
        <pc:sldMkLst>
          <pc:docMk/>
          <pc:sldMk cId="0" sldId="269"/>
        </pc:sldMkLst>
        <pc:spChg chg="mod">
          <ac:chgData name="민규 전" userId="6cf71c6126298eba" providerId="LiveId" clId="{86D69E64-4B97-1A4A-B54B-3FAC05027437}" dt="2026-04-23T15:20:43.588" v="35" actId="1076"/>
          <ac:spMkLst>
            <pc:docMk/>
            <pc:sldMk cId="0" sldId="269"/>
            <ac:spMk id="10" creationId="{00000000-0000-0000-0000-000000000000}"/>
          </ac:spMkLst>
        </pc:spChg>
        <pc:spChg chg="mod">
          <ac:chgData name="민규 전" userId="6cf71c6126298eba" providerId="LiveId" clId="{86D69E64-4B97-1A4A-B54B-3FAC05027437}" dt="2026-04-23T15:20:47.269" v="36" actId="1076"/>
          <ac:spMkLst>
            <pc:docMk/>
            <pc:sldMk cId="0" sldId="269"/>
            <ac:spMk id="11" creationId="{00000000-0000-0000-0000-000000000000}"/>
          </ac:spMkLst>
        </pc:spChg>
        <pc:spChg chg="mod">
          <ac:chgData name="민규 전" userId="6cf71c6126298eba" providerId="LiveId" clId="{86D69E64-4B97-1A4A-B54B-3FAC05027437}" dt="2026-04-23T15:21:00.674" v="42" actId="1076"/>
          <ac:spMkLst>
            <pc:docMk/>
            <pc:sldMk cId="0" sldId="269"/>
            <ac:spMk id="16" creationId="{00000000-0000-0000-0000-000000000000}"/>
          </ac:spMkLst>
        </pc:spChg>
        <pc:spChg chg="mod">
          <ac:chgData name="민규 전" userId="6cf71c6126298eba" providerId="LiveId" clId="{86D69E64-4B97-1A4A-B54B-3FAC05027437}" dt="2026-04-23T15:21:05.817" v="43" actId="1076"/>
          <ac:spMkLst>
            <pc:docMk/>
            <pc:sldMk cId="0" sldId="269"/>
            <ac:spMk id="18" creationId="{00000000-0000-0000-0000-000000000000}"/>
          </ac:spMkLst>
        </pc:spChg>
        <pc:spChg chg="mod">
          <ac:chgData name="민규 전" userId="6cf71c6126298eba" providerId="LiveId" clId="{86D69E64-4B97-1A4A-B54B-3FAC05027437}" dt="2026-04-23T15:21:14.165" v="54" actId="20577"/>
          <ac:spMkLst>
            <pc:docMk/>
            <pc:sldMk cId="0" sldId="269"/>
            <ac:spMk id="19" creationId="{00000000-0000-0000-0000-000000000000}"/>
          </ac:spMkLst>
        </pc:spChg>
        <pc:spChg chg="add mod">
          <ac:chgData name="민규 전" userId="6cf71c6126298eba" providerId="LiveId" clId="{86D69E64-4B97-1A4A-B54B-3FAC05027437}" dt="2026-04-23T15:21:09.402" v="44" actId="1076"/>
          <ac:spMkLst>
            <pc:docMk/>
            <pc:sldMk cId="0" sldId="269"/>
            <ac:spMk id="37" creationId="{3F6EDE53-0716-CF70-84DF-D1E8FA8664D0}"/>
          </ac:spMkLst>
        </pc:spChg>
        <pc:spChg chg="add mod">
          <ac:chgData name="민규 전" userId="6cf71c6126298eba" providerId="LiveId" clId="{86D69E64-4B97-1A4A-B54B-3FAC05027437}" dt="2026-04-23T15:21:17.642" v="56" actId="1076"/>
          <ac:spMkLst>
            <pc:docMk/>
            <pc:sldMk cId="0" sldId="269"/>
            <ac:spMk id="38" creationId="{EC270FA6-C4DB-6491-19A9-D08F973956F8}"/>
          </ac:spMkLst>
        </pc:spChg>
      </pc:sldChg>
      <pc:sldChg chg="modSp add mod setBg">
        <pc:chgData name="민규 전" userId="6cf71c6126298eba" providerId="LiveId" clId="{86D69E64-4B97-1A4A-B54B-3FAC05027437}" dt="2026-04-23T15:36:11.332" v="138" actId="20577"/>
        <pc:sldMkLst>
          <pc:docMk/>
          <pc:sldMk cId="0" sldId="270"/>
        </pc:sldMkLst>
        <pc:spChg chg="mod">
          <ac:chgData name="민규 전" userId="6cf71c6126298eba" providerId="LiveId" clId="{86D69E64-4B97-1A4A-B54B-3FAC05027437}" dt="2026-04-23T15:36:11.332" v="138" actId="20577"/>
          <ac:spMkLst>
            <pc:docMk/>
            <pc:sldMk cId="0" sldId="270"/>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9946820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14400" y="2011680"/>
            <a:ext cx="10058400" cy="457200"/>
          </a:xfrm>
          <a:prstGeom prst="rect">
            <a:avLst/>
          </a:prstGeom>
          <a:noFill/>
          <a:ln/>
        </p:spPr>
        <p:txBody>
          <a:bodyPr wrap="square" lIns="0" tIns="0" rIns="0" bIns="0" rtlCol="0" anchor="ctr"/>
          <a:lstStyle/>
          <a:p>
            <a:pPr marL="0" indent="0">
              <a:buNone/>
            </a:pPr>
            <a:r>
              <a:rPr lang="en-US" sz="1400" b="1" kern="0" spc="400" dirty="0">
                <a:solidFill>
                  <a:srgbClr val="1E40AF"/>
                </a:solidFill>
                <a:latin typeface="Malgun Gothic" pitchFamily="34" charset="0"/>
                <a:ea typeface="Malgun Gothic" pitchFamily="34" charset="-122"/>
                <a:cs typeface="Malgun Gothic" pitchFamily="34" charset="-120"/>
              </a:rPr>
              <a:t>연구 포트폴리오</a:t>
            </a:r>
            <a:endParaRPr lang="en-US" sz="1400" dirty="0"/>
          </a:p>
        </p:txBody>
      </p:sp>
      <p:sp>
        <p:nvSpPr>
          <p:cNvPr id="3" name="Text 1"/>
          <p:cNvSpPr/>
          <p:nvPr/>
        </p:nvSpPr>
        <p:spPr>
          <a:xfrm>
            <a:off x="914400" y="2514600"/>
            <a:ext cx="10058400" cy="822960"/>
          </a:xfrm>
          <a:prstGeom prst="rect">
            <a:avLst/>
          </a:prstGeom>
          <a:noFill/>
          <a:ln/>
        </p:spPr>
        <p:txBody>
          <a:bodyPr wrap="square" lIns="0" tIns="0" rIns="0" bIns="0" rtlCol="0" anchor="ctr"/>
          <a:lstStyle/>
          <a:p>
            <a:pPr marL="0" indent="0">
              <a:buNone/>
            </a:pPr>
            <a:r>
              <a:rPr lang="en-US" sz="3600" b="1" dirty="0">
                <a:solidFill>
                  <a:srgbClr val="111827"/>
                </a:solidFill>
                <a:latin typeface="Malgun Gothic" pitchFamily="34" charset="0"/>
                <a:ea typeface="Malgun Gothic" pitchFamily="34" charset="-122"/>
                <a:cs typeface="Malgun Gothic" pitchFamily="34" charset="-120"/>
              </a:rPr>
              <a:t>3D Gaussian Splatting 논문 · 코드 리뷰</a:t>
            </a:r>
            <a:endParaRPr lang="en-US" sz="3600" dirty="0"/>
          </a:p>
        </p:txBody>
      </p:sp>
      <p:sp>
        <p:nvSpPr>
          <p:cNvPr id="4" name="Text 2"/>
          <p:cNvSpPr/>
          <p:nvPr/>
        </p:nvSpPr>
        <p:spPr>
          <a:xfrm>
            <a:off x="914400" y="3429000"/>
            <a:ext cx="10058400" cy="502920"/>
          </a:xfrm>
          <a:prstGeom prst="rect">
            <a:avLst/>
          </a:prstGeom>
          <a:noFill/>
          <a:ln/>
        </p:spPr>
        <p:txBody>
          <a:bodyPr wrap="square" lIns="0" tIns="0" rIns="0" bIns="0" rtlCol="0" anchor="ctr"/>
          <a:lstStyle/>
          <a:p>
            <a:pPr marL="0" indent="0">
              <a:buNone/>
            </a:pPr>
            <a:r>
              <a:rPr lang="en-US" sz="2000" dirty="0">
                <a:solidFill>
                  <a:srgbClr val="4B5563"/>
                </a:solidFill>
                <a:latin typeface="Malgun Gothic" pitchFamily="34" charset="0"/>
                <a:ea typeface="Malgun Gothic" pitchFamily="34" charset="-122"/>
                <a:cs typeface="Malgun Gothic" pitchFamily="34" charset="-120"/>
              </a:rPr>
              <a:t>Sparse Multi-View 환경에서의 한계점과 연구 방향</a:t>
            </a:r>
            <a:endParaRPr lang="en-US" sz="2000" dirty="0"/>
          </a:p>
        </p:txBody>
      </p:sp>
      <p:sp>
        <p:nvSpPr>
          <p:cNvPr id="5" name="Shape 3"/>
          <p:cNvSpPr/>
          <p:nvPr/>
        </p:nvSpPr>
        <p:spPr>
          <a:xfrm>
            <a:off x="914400" y="4206240"/>
            <a:ext cx="1828800" cy="0"/>
          </a:xfrm>
          <a:prstGeom prst="line">
            <a:avLst/>
          </a:prstGeom>
          <a:noFill/>
          <a:ln w="25400">
            <a:solidFill>
              <a:srgbClr val="1E40AF"/>
            </a:solidFill>
            <a:prstDash val="solid"/>
          </a:ln>
        </p:spPr>
        <p:txBody>
          <a:bodyPr/>
          <a:lstStyle/>
          <a:p>
            <a:endParaRPr lang="ko-KR" altLang="en-US"/>
          </a:p>
        </p:txBody>
      </p:sp>
      <p:sp>
        <p:nvSpPr>
          <p:cNvPr id="6" name="Text 4"/>
          <p:cNvSpPr/>
          <p:nvPr/>
        </p:nvSpPr>
        <p:spPr>
          <a:xfrm>
            <a:off x="914400" y="4480560"/>
            <a:ext cx="10058400" cy="1097280"/>
          </a:xfrm>
          <a:prstGeom prst="rect">
            <a:avLst/>
          </a:prstGeom>
          <a:noFill/>
          <a:ln/>
        </p:spPr>
        <p:txBody>
          <a:bodyPr wrap="square" lIns="0" tIns="0" rIns="0" bIns="0" rtlCol="0" anchor="t"/>
          <a:lstStyle/>
          <a:p>
            <a:pPr marL="0" indent="0">
              <a:buNone/>
            </a:pP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74320"/>
          </a:xfrm>
          <a:prstGeom prst="rect">
            <a:avLst/>
          </a:prstGeom>
          <a:noFill/>
          <a:ln/>
        </p:spPr>
        <p:txBody>
          <a:bodyPr wrap="square" lIns="0" tIns="0" rIns="0" bIns="0" rtlCol="0" anchor="ctr"/>
          <a:lstStyle/>
          <a:p>
            <a:pPr marL="0" indent="0">
              <a:buNone/>
            </a:pPr>
            <a:r>
              <a:rPr lang="en-US" sz="1100" b="1" kern="0" spc="200" dirty="0">
                <a:solidFill>
                  <a:srgbClr val="1E40AF"/>
                </a:solidFill>
                <a:latin typeface="Malgun Gothic" pitchFamily="34" charset="0"/>
                <a:ea typeface="Malgun Gothic" pitchFamily="34" charset="-122"/>
                <a:cs typeface="Malgun Gothic" pitchFamily="34" charset="-120"/>
              </a:rPr>
              <a:t>01. 연구 관심사</a:t>
            </a:r>
            <a:endParaRPr lang="en-US" sz="1100" dirty="0"/>
          </a:p>
        </p:txBody>
      </p:sp>
      <p:sp>
        <p:nvSpPr>
          <p:cNvPr id="3" name="Text 1"/>
          <p:cNvSpPr/>
          <p:nvPr/>
        </p:nvSpPr>
        <p:spPr>
          <a:xfrm>
            <a:off x="640080" y="640080"/>
            <a:ext cx="10972800" cy="548640"/>
          </a:xfrm>
          <a:prstGeom prst="rect">
            <a:avLst/>
          </a:prstGeom>
          <a:noFill/>
          <a:ln/>
        </p:spPr>
        <p:txBody>
          <a:bodyPr wrap="square" lIns="0" tIns="0" rIns="0" bIns="0" rtlCol="0" anchor="ctr"/>
          <a:lstStyle/>
          <a:p>
            <a:pPr marL="0" indent="0">
              <a:buNone/>
            </a:pPr>
            <a:r>
              <a:rPr lang="en-US" sz="2400" b="1" dirty="0">
                <a:solidFill>
                  <a:srgbClr val="111827"/>
                </a:solidFill>
                <a:latin typeface="Malgun Gothic" pitchFamily="34" charset="0"/>
                <a:ea typeface="Malgun Gothic" pitchFamily="34" charset="-122"/>
                <a:cs typeface="Malgun Gothic" pitchFamily="34" charset="-120"/>
              </a:rPr>
              <a:t>Sparse Multi-View 상황에서의 3DGS 품질 저하 문제</a:t>
            </a:r>
            <a:endParaRPr lang="en-US" sz="2400" dirty="0"/>
          </a:p>
        </p:txBody>
      </p:sp>
      <p:sp>
        <p:nvSpPr>
          <p:cNvPr id="4" name="Shape 2"/>
          <p:cNvSpPr/>
          <p:nvPr/>
        </p:nvSpPr>
        <p:spPr>
          <a:xfrm>
            <a:off x="640080" y="1280160"/>
            <a:ext cx="10881360" cy="0"/>
          </a:xfrm>
          <a:prstGeom prst="line">
            <a:avLst/>
          </a:prstGeom>
          <a:noFill/>
          <a:ln w="9525">
            <a:solidFill>
              <a:srgbClr val="D1D5DB"/>
            </a:solidFill>
            <a:prstDash val="solid"/>
          </a:ln>
        </p:spPr>
        <p:txBody>
          <a:bodyPr/>
          <a:lstStyle/>
          <a:p>
            <a:endParaRPr lang="ko-KR" altLang="en-US"/>
          </a:p>
        </p:txBody>
      </p:sp>
      <p:sp>
        <p:nvSpPr>
          <p:cNvPr id="5" name="Text 3"/>
          <p:cNvSpPr/>
          <p:nvPr/>
        </p:nvSpPr>
        <p:spPr>
          <a:xfrm>
            <a:off x="640080" y="1554480"/>
            <a:ext cx="10972800" cy="777240"/>
          </a:xfrm>
          <a:prstGeom prst="rect">
            <a:avLst/>
          </a:prstGeom>
          <a:noFill/>
          <a:ln/>
        </p:spPr>
        <p:txBody>
          <a:bodyPr wrap="square" lIns="0" tIns="0" rIns="0" bIns="0" rtlCol="0" anchor="t"/>
          <a:lstStyle/>
          <a:p>
            <a:pPr marL="0" indent="0">
              <a:buNone/>
            </a:pPr>
            <a:r>
              <a:rPr lang="en-US" sz="1500" dirty="0">
                <a:solidFill>
                  <a:srgbClr val="1A202C"/>
                </a:solidFill>
                <a:latin typeface="Malgun Gothic" pitchFamily="34" charset="0"/>
                <a:ea typeface="Malgun Gothic" pitchFamily="34" charset="-122"/>
                <a:cs typeface="Malgun Gothic" pitchFamily="34" charset="-120"/>
              </a:rPr>
              <a:t>현재 3D Gaussian Splatting은 사실적인 실시간 렌더링을 가능하게 하지만,</a:t>
            </a:r>
            <a:endParaRPr lang="en-US" sz="1500" dirty="0"/>
          </a:p>
          <a:p>
            <a:pPr marL="0" indent="0">
              <a:buNone/>
            </a:pPr>
            <a:r>
              <a:rPr lang="en-US" sz="1500" dirty="0">
                <a:solidFill>
                  <a:srgbClr val="1A202C"/>
                </a:solidFill>
                <a:latin typeface="Malgun Gothic" pitchFamily="34" charset="0"/>
                <a:ea typeface="Malgun Gothic" pitchFamily="34" charset="-122"/>
                <a:cs typeface="Malgun Gothic" pitchFamily="34" charset="-120"/>
              </a:rPr>
              <a:t>입력 이미지가 충분하고 다양한 각도에서 촬영되었다는 전제를 깔고 있다.</a:t>
            </a:r>
            <a:endParaRPr lang="en-US" sz="1500" dirty="0"/>
          </a:p>
        </p:txBody>
      </p:sp>
      <p:sp>
        <p:nvSpPr>
          <p:cNvPr id="6" name="Text 4"/>
          <p:cNvSpPr/>
          <p:nvPr/>
        </p:nvSpPr>
        <p:spPr>
          <a:xfrm>
            <a:off x="640080" y="2514600"/>
            <a:ext cx="10972800" cy="411480"/>
          </a:xfrm>
          <a:prstGeom prst="rect">
            <a:avLst/>
          </a:prstGeom>
          <a:noFill/>
          <a:ln/>
        </p:spPr>
        <p:txBody>
          <a:bodyPr wrap="square" lIns="0" tIns="0" rIns="0" bIns="0" rtlCol="0" anchor="ctr"/>
          <a:lstStyle/>
          <a:p>
            <a:pPr marL="0" indent="0">
              <a:buNone/>
            </a:pPr>
            <a:r>
              <a:rPr lang="en-US" sz="1700" b="1" dirty="0">
                <a:solidFill>
                  <a:srgbClr val="1E40AF"/>
                </a:solidFill>
                <a:latin typeface="Malgun Gothic" pitchFamily="34" charset="0"/>
                <a:ea typeface="Malgun Gothic" pitchFamily="34" charset="-122"/>
                <a:cs typeface="Malgun Gothic" pitchFamily="34" charset="-120"/>
              </a:rPr>
              <a:t>실제 환경에서는 이 전제가 잘 성립하지 않는다.</a:t>
            </a:r>
            <a:endParaRPr lang="en-US" sz="1700" dirty="0"/>
          </a:p>
        </p:txBody>
      </p:sp>
      <p:sp>
        <p:nvSpPr>
          <p:cNvPr id="7" name="Shape 5"/>
          <p:cNvSpPr/>
          <p:nvPr/>
        </p:nvSpPr>
        <p:spPr>
          <a:xfrm>
            <a:off x="822960" y="3291840"/>
            <a:ext cx="137160" cy="137160"/>
          </a:xfrm>
          <a:prstGeom prst="ellipse">
            <a:avLst/>
          </a:prstGeom>
          <a:solidFill>
            <a:srgbClr val="1E40AF"/>
          </a:solidFill>
          <a:ln/>
        </p:spPr>
        <p:txBody>
          <a:bodyPr/>
          <a:lstStyle/>
          <a:p>
            <a:endParaRPr lang="ko-KR" altLang="en-US"/>
          </a:p>
        </p:txBody>
      </p:sp>
      <p:sp>
        <p:nvSpPr>
          <p:cNvPr id="8" name="Text 6"/>
          <p:cNvSpPr/>
          <p:nvPr/>
        </p:nvSpPr>
        <p:spPr>
          <a:xfrm>
            <a:off x="1097280" y="3200400"/>
            <a:ext cx="10515600" cy="320040"/>
          </a:xfrm>
          <a:prstGeom prst="rect">
            <a:avLst/>
          </a:prstGeom>
          <a:noFill/>
          <a:ln/>
        </p:spPr>
        <p:txBody>
          <a:bodyPr wrap="square" lIns="0" tIns="0" rIns="0" bIns="0" rtlCol="0" anchor="ctr"/>
          <a:lstStyle/>
          <a:p>
            <a:pPr marL="0" indent="0">
              <a:buNone/>
            </a:pPr>
            <a:r>
              <a:rPr lang="en-US" sz="1500" b="1" dirty="0">
                <a:solidFill>
                  <a:srgbClr val="111827"/>
                </a:solidFill>
                <a:latin typeface="Malgun Gothic" pitchFamily="34" charset="0"/>
                <a:ea typeface="Malgun Gothic" pitchFamily="34" charset="-122"/>
                <a:cs typeface="Malgun Gothic" pitchFamily="34" charset="-120"/>
              </a:rPr>
              <a:t>입력 뷰의 수가 적을 때</a:t>
            </a:r>
            <a:endParaRPr lang="en-US" sz="1500" dirty="0"/>
          </a:p>
        </p:txBody>
      </p:sp>
      <p:sp>
        <p:nvSpPr>
          <p:cNvPr id="9" name="Text 7"/>
          <p:cNvSpPr/>
          <p:nvPr/>
        </p:nvSpPr>
        <p:spPr>
          <a:xfrm>
            <a:off x="1097280" y="3529584"/>
            <a:ext cx="10515600" cy="320040"/>
          </a:xfrm>
          <a:prstGeom prst="rect">
            <a:avLst/>
          </a:prstGeom>
          <a:noFill/>
          <a:ln/>
        </p:spPr>
        <p:txBody>
          <a:bodyPr wrap="square" lIns="0" tIns="0" rIns="0" bIns="0" rtlCol="0" anchor="ctr"/>
          <a:lstStyle/>
          <a:p>
            <a:pPr marL="0" indent="0">
              <a:buNone/>
            </a:pPr>
            <a:r>
              <a:rPr lang="en-US" sz="1300" dirty="0">
                <a:solidFill>
                  <a:srgbClr val="6B7280"/>
                </a:solidFill>
                <a:latin typeface="Malgun Gothic" pitchFamily="34" charset="0"/>
                <a:ea typeface="Malgun Gothic" pitchFamily="34" charset="-122"/>
                <a:cs typeface="Malgun Gothic" pitchFamily="34" charset="-120"/>
              </a:rPr>
              <a:t>사용자가 제한된 각도에서 소수의 이미지만 촬영</a:t>
            </a:r>
            <a:endParaRPr lang="en-US" sz="1300" dirty="0"/>
          </a:p>
        </p:txBody>
      </p:sp>
      <p:sp>
        <p:nvSpPr>
          <p:cNvPr id="10" name="Shape 8"/>
          <p:cNvSpPr/>
          <p:nvPr/>
        </p:nvSpPr>
        <p:spPr>
          <a:xfrm>
            <a:off x="822960" y="4023360"/>
            <a:ext cx="137160" cy="137160"/>
          </a:xfrm>
          <a:prstGeom prst="ellipse">
            <a:avLst/>
          </a:prstGeom>
          <a:solidFill>
            <a:srgbClr val="1E40AF"/>
          </a:solidFill>
          <a:ln/>
        </p:spPr>
        <p:txBody>
          <a:bodyPr/>
          <a:lstStyle/>
          <a:p>
            <a:endParaRPr lang="ko-KR" altLang="en-US"/>
          </a:p>
        </p:txBody>
      </p:sp>
      <p:sp>
        <p:nvSpPr>
          <p:cNvPr id="11" name="Text 9"/>
          <p:cNvSpPr/>
          <p:nvPr/>
        </p:nvSpPr>
        <p:spPr>
          <a:xfrm>
            <a:off x="1097280" y="3931920"/>
            <a:ext cx="10515600" cy="320040"/>
          </a:xfrm>
          <a:prstGeom prst="rect">
            <a:avLst/>
          </a:prstGeom>
          <a:noFill/>
          <a:ln/>
        </p:spPr>
        <p:txBody>
          <a:bodyPr wrap="square" lIns="0" tIns="0" rIns="0" bIns="0" rtlCol="0" anchor="ctr"/>
          <a:lstStyle/>
          <a:p>
            <a:pPr marL="0" indent="0">
              <a:buNone/>
            </a:pPr>
            <a:r>
              <a:rPr lang="en-US" sz="1500" b="1" dirty="0">
                <a:solidFill>
                  <a:srgbClr val="111827"/>
                </a:solidFill>
                <a:latin typeface="Malgun Gothic" pitchFamily="34" charset="0"/>
                <a:ea typeface="Malgun Gothic" pitchFamily="34" charset="-122"/>
                <a:cs typeface="Malgun Gothic" pitchFamily="34" charset="-120"/>
              </a:rPr>
              <a:t>시점(view) 분포가 한쪽으로 치우칠 때</a:t>
            </a:r>
            <a:endParaRPr lang="en-US" sz="1500" dirty="0"/>
          </a:p>
        </p:txBody>
      </p:sp>
      <p:sp>
        <p:nvSpPr>
          <p:cNvPr id="12" name="Text 10"/>
          <p:cNvSpPr/>
          <p:nvPr/>
        </p:nvSpPr>
        <p:spPr>
          <a:xfrm>
            <a:off x="1097280" y="4261104"/>
            <a:ext cx="10515600" cy="320040"/>
          </a:xfrm>
          <a:prstGeom prst="rect">
            <a:avLst/>
          </a:prstGeom>
          <a:noFill/>
          <a:ln/>
        </p:spPr>
        <p:txBody>
          <a:bodyPr wrap="square" lIns="0" tIns="0" rIns="0" bIns="0" rtlCol="0" anchor="ctr"/>
          <a:lstStyle/>
          <a:p>
            <a:pPr marL="0" indent="0">
              <a:buNone/>
            </a:pPr>
            <a:r>
              <a:rPr lang="en-US" sz="1300" dirty="0">
                <a:solidFill>
                  <a:srgbClr val="6B7280"/>
                </a:solidFill>
                <a:latin typeface="Malgun Gothic" pitchFamily="34" charset="0"/>
                <a:ea typeface="Malgun Gothic" pitchFamily="34" charset="-122"/>
                <a:cs typeface="Malgun Gothic" pitchFamily="34" charset="-120"/>
              </a:rPr>
              <a:t>특정 영역은 여러 번, 다른 영역은 거의 관측되지 않음</a:t>
            </a:r>
            <a:endParaRPr lang="en-US" sz="1300" dirty="0"/>
          </a:p>
        </p:txBody>
      </p:sp>
      <p:sp>
        <p:nvSpPr>
          <p:cNvPr id="13" name="Shape 11"/>
          <p:cNvSpPr/>
          <p:nvPr/>
        </p:nvSpPr>
        <p:spPr>
          <a:xfrm>
            <a:off x="822960" y="4754880"/>
            <a:ext cx="137160" cy="137160"/>
          </a:xfrm>
          <a:prstGeom prst="ellipse">
            <a:avLst/>
          </a:prstGeom>
          <a:solidFill>
            <a:srgbClr val="1E40AF"/>
          </a:solidFill>
          <a:ln/>
        </p:spPr>
        <p:txBody>
          <a:bodyPr/>
          <a:lstStyle/>
          <a:p>
            <a:endParaRPr lang="ko-KR" altLang="en-US"/>
          </a:p>
        </p:txBody>
      </p:sp>
      <p:sp>
        <p:nvSpPr>
          <p:cNvPr id="14" name="Text 12"/>
          <p:cNvSpPr/>
          <p:nvPr/>
        </p:nvSpPr>
        <p:spPr>
          <a:xfrm>
            <a:off x="1097280" y="4663440"/>
            <a:ext cx="10515600" cy="320040"/>
          </a:xfrm>
          <a:prstGeom prst="rect">
            <a:avLst/>
          </a:prstGeom>
          <a:noFill/>
          <a:ln/>
        </p:spPr>
        <p:txBody>
          <a:bodyPr wrap="square" lIns="0" tIns="0" rIns="0" bIns="0" rtlCol="0" anchor="ctr"/>
          <a:lstStyle/>
          <a:p>
            <a:pPr marL="0" indent="0">
              <a:buNone/>
            </a:pPr>
            <a:r>
              <a:rPr lang="en-US" sz="1500" b="1" dirty="0">
                <a:solidFill>
                  <a:srgbClr val="111827"/>
                </a:solidFill>
                <a:latin typeface="Malgun Gothic" pitchFamily="34" charset="0"/>
                <a:ea typeface="Malgun Gothic" pitchFamily="34" charset="-122"/>
                <a:cs typeface="Malgun Gothic" pitchFamily="34" charset="-120"/>
              </a:rPr>
              <a:t>결과 품질이 급격히 저하</a:t>
            </a:r>
            <a:endParaRPr lang="en-US" sz="1500" dirty="0"/>
          </a:p>
        </p:txBody>
      </p:sp>
      <p:sp>
        <p:nvSpPr>
          <p:cNvPr id="15" name="Text 13"/>
          <p:cNvSpPr/>
          <p:nvPr/>
        </p:nvSpPr>
        <p:spPr>
          <a:xfrm>
            <a:off x="1097280" y="4992624"/>
            <a:ext cx="10515600" cy="320040"/>
          </a:xfrm>
          <a:prstGeom prst="rect">
            <a:avLst/>
          </a:prstGeom>
          <a:noFill/>
          <a:ln/>
        </p:spPr>
        <p:txBody>
          <a:bodyPr wrap="square" lIns="0" tIns="0" rIns="0" bIns="0" rtlCol="0" anchor="ctr"/>
          <a:lstStyle/>
          <a:p>
            <a:pPr marL="0" indent="0">
              <a:buNone/>
            </a:pPr>
            <a:r>
              <a:rPr lang="en-US" sz="1300" dirty="0">
                <a:solidFill>
                  <a:srgbClr val="6B7280"/>
                </a:solidFill>
                <a:latin typeface="Malgun Gothic" pitchFamily="34" charset="0"/>
                <a:ea typeface="Malgun Gothic" pitchFamily="34" charset="-122"/>
                <a:cs typeface="Malgun Gothic" pitchFamily="34" charset="-120"/>
              </a:rPr>
              <a:t>floater, background collapse, 노이즈 등 artifact 폭발</a:t>
            </a:r>
            <a:endParaRPr lang="en-US" sz="1300" dirty="0"/>
          </a:p>
        </p:txBody>
      </p:sp>
      <p:sp>
        <p:nvSpPr>
          <p:cNvPr id="16" name="Shape 14"/>
          <p:cNvSpPr/>
          <p:nvPr/>
        </p:nvSpPr>
        <p:spPr>
          <a:xfrm>
            <a:off x="640080" y="5715000"/>
            <a:ext cx="10881360" cy="731520"/>
          </a:xfrm>
          <a:prstGeom prst="rect">
            <a:avLst/>
          </a:prstGeom>
          <a:solidFill>
            <a:srgbClr val="F9FAFB"/>
          </a:solidFill>
          <a:ln w="6350">
            <a:solidFill>
              <a:srgbClr val="D1D5DB"/>
            </a:solidFill>
            <a:prstDash val="solid"/>
          </a:ln>
        </p:spPr>
        <p:txBody>
          <a:bodyPr/>
          <a:lstStyle/>
          <a:p>
            <a:endParaRPr lang="ko-KR" altLang="en-US"/>
          </a:p>
        </p:txBody>
      </p:sp>
      <p:sp>
        <p:nvSpPr>
          <p:cNvPr id="17" name="Text 15"/>
          <p:cNvSpPr/>
          <p:nvPr/>
        </p:nvSpPr>
        <p:spPr>
          <a:xfrm>
            <a:off x="822960" y="5715000"/>
            <a:ext cx="10515600" cy="731520"/>
          </a:xfrm>
          <a:prstGeom prst="rect">
            <a:avLst/>
          </a:prstGeom>
          <a:noFill/>
          <a:ln/>
        </p:spPr>
        <p:txBody>
          <a:bodyPr wrap="square" lIns="0" tIns="0" rIns="0" bIns="0" rtlCol="0" anchor="ctr"/>
          <a:lstStyle/>
          <a:p>
            <a:pPr marL="0" indent="0">
              <a:buNone/>
            </a:pPr>
            <a:r>
              <a:rPr lang="en-US" sz="1400" b="1" dirty="0">
                <a:solidFill>
                  <a:srgbClr val="1E40AF"/>
                </a:solidFill>
                <a:latin typeface="Malgun Gothic" pitchFamily="34" charset="0"/>
                <a:ea typeface="Malgun Gothic" pitchFamily="34" charset="-122"/>
                <a:cs typeface="Malgun Gothic" pitchFamily="34" charset="-120"/>
              </a:rPr>
              <a:t>연구 관심사  </a:t>
            </a:r>
            <a:r>
              <a:rPr lang="en-US" sz="1400" dirty="0">
                <a:solidFill>
                  <a:srgbClr val="1A202C"/>
                </a:solidFill>
                <a:latin typeface="Malgun Gothic" pitchFamily="34" charset="0"/>
                <a:ea typeface="Malgun Gothic" pitchFamily="34" charset="-122"/>
                <a:cs typeface="Malgun Gothic" pitchFamily="34" charset="-120"/>
              </a:rPr>
              <a:t>·  sparse multi-view 상황에서 생기는 노이즈와 artifact를 줄이고, </a:t>
            </a:r>
            <a:r>
              <a:rPr lang="en-US" sz="1400" b="1" dirty="0">
                <a:solidFill>
                  <a:srgbClr val="1A202C"/>
                </a:solidFill>
                <a:latin typeface="Malgun Gothic" pitchFamily="34" charset="0"/>
                <a:ea typeface="Malgun Gothic" pitchFamily="34" charset="-122"/>
                <a:cs typeface="Malgun Gothic" pitchFamily="34" charset="-120"/>
              </a:rPr>
              <a:t>렌더링 품질을 유지하는 방법</a:t>
            </a:r>
            <a:endParaRPr lang="en-US" sz="1400" dirty="0"/>
          </a:p>
        </p:txBody>
      </p:sp>
      <p:sp>
        <p:nvSpPr>
          <p:cNvPr id="18" name="Text 16"/>
          <p:cNvSpPr/>
          <p:nvPr/>
        </p:nvSpPr>
        <p:spPr>
          <a:xfrm>
            <a:off x="11064240" y="649224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Malgun Gothic" pitchFamily="34" charset="0"/>
                <a:ea typeface="Malgun Gothic" pitchFamily="34" charset="-122"/>
                <a:cs typeface="Malgun Gothic" pitchFamily="34" charset="-120"/>
              </a:rPr>
              <a:t>2 / 13</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74320"/>
          </a:xfrm>
          <a:prstGeom prst="rect">
            <a:avLst/>
          </a:prstGeom>
          <a:noFill/>
          <a:ln/>
        </p:spPr>
        <p:txBody>
          <a:bodyPr wrap="square" lIns="0" tIns="0" rIns="0" bIns="0" rtlCol="0" anchor="ctr"/>
          <a:lstStyle/>
          <a:p>
            <a:pPr marL="0" indent="0">
              <a:buNone/>
            </a:pPr>
            <a:r>
              <a:rPr lang="en-US" sz="1100" b="1" kern="0" spc="200" dirty="0">
                <a:solidFill>
                  <a:srgbClr val="1E40AF"/>
                </a:solidFill>
                <a:latin typeface="Malgun Gothic" pitchFamily="34" charset="0"/>
                <a:ea typeface="Malgun Gothic" pitchFamily="34" charset="-122"/>
                <a:cs typeface="Malgun Gothic" pitchFamily="34" charset="-120"/>
              </a:rPr>
              <a:t>02. 배경</a:t>
            </a:r>
            <a:endParaRPr lang="en-US" sz="1100" dirty="0"/>
          </a:p>
        </p:txBody>
      </p:sp>
      <p:sp>
        <p:nvSpPr>
          <p:cNvPr id="3" name="Text 1"/>
          <p:cNvSpPr/>
          <p:nvPr/>
        </p:nvSpPr>
        <p:spPr>
          <a:xfrm>
            <a:off x="640080" y="640080"/>
            <a:ext cx="10972800" cy="548640"/>
          </a:xfrm>
          <a:prstGeom prst="rect">
            <a:avLst/>
          </a:prstGeom>
          <a:noFill/>
          <a:ln/>
        </p:spPr>
        <p:txBody>
          <a:bodyPr wrap="square" lIns="0" tIns="0" rIns="0" bIns="0" rtlCol="0" anchor="ctr"/>
          <a:lstStyle/>
          <a:p>
            <a:pPr marL="0" indent="0">
              <a:buNone/>
            </a:pPr>
            <a:r>
              <a:rPr lang="en-US" sz="2400" b="1" dirty="0">
                <a:solidFill>
                  <a:srgbClr val="111827"/>
                </a:solidFill>
                <a:latin typeface="Malgun Gothic" pitchFamily="34" charset="0"/>
                <a:ea typeface="Malgun Gothic" pitchFamily="34" charset="-122"/>
                <a:cs typeface="Malgun Gothic" pitchFamily="34" charset="-120"/>
              </a:rPr>
              <a:t>3D Gaussian Splatting 개요</a:t>
            </a:r>
            <a:endParaRPr lang="en-US" sz="2400" dirty="0"/>
          </a:p>
        </p:txBody>
      </p:sp>
      <p:sp>
        <p:nvSpPr>
          <p:cNvPr id="4" name="Shape 2"/>
          <p:cNvSpPr/>
          <p:nvPr/>
        </p:nvSpPr>
        <p:spPr>
          <a:xfrm>
            <a:off x="640080" y="1280160"/>
            <a:ext cx="10881360" cy="0"/>
          </a:xfrm>
          <a:prstGeom prst="line">
            <a:avLst/>
          </a:prstGeom>
          <a:noFill/>
          <a:ln w="9525">
            <a:solidFill>
              <a:srgbClr val="D1D5DB"/>
            </a:solidFill>
            <a:prstDash val="solid"/>
          </a:ln>
        </p:spPr>
        <p:txBody>
          <a:bodyPr/>
          <a:lstStyle/>
          <a:p>
            <a:endParaRPr lang="ko-KR" altLang="en-US"/>
          </a:p>
        </p:txBody>
      </p:sp>
      <p:sp>
        <p:nvSpPr>
          <p:cNvPr id="5" name="Text 3"/>
          <p:cNvSpPr/>
          <p:nvPr/>
        </p:nvSpPr>
        <p:spPr>
          <a:xfrm>
            <a:off x="640080" y="1508760"/>
            <a:ext cx="5486400" cy="365760"/>
          </a:xfrm>
          <a:prstGeom prst="rect">
            <a:avLst/>
          </a:prstGeom>
          <a:noFill/>
          <a:ln/>
        </p:spPr>
        <p:txBody>
          <a:bodyPr wrap="square" lIns="0" tIns="0" rIns="0" bIns="0" rtlCol="0" anchor="ctr"/>
          <a:lstStyle/>
          <a:p>
            <a:pPr marL="0" indent="0">
              <a:buNone/>
            </a:pPr>
            <a:r>
              <a:rPr lang="en-US" sz="1400" b="1" dirty="0">
                <a:solidFill>
                  <a:srgbClr val="1E40AF"/>
                </a:solidFill>
                <a:latin typeface="Calibri" pitchFamily="34" charset="0"/>
                <a:ea typeface="Calibri" pitchFamily="34" charset="-122"/>
                <a:cs typeface="Calibri" pitchFamily="34" charset="-120"/>
              </a:rPr>
              <a:t>Scene Representation</a:t>
            </a:r>
            <a:endParaRPr lang="en-US" sz="1400" dirty="0"/>
          </a:p>
        </p:txBody>
      </p:sp>
      <p:sp>
        <p:nvSpPr>
          <p:cNvPr id="6" name="Text 4"/>
          <p:cNvSpPr/>
          <p:nvPr/>
        </p:nvSpPr>
        <p:spPr>
          <a:xfrm>
            <a:off x="640080" y="1874520"/>
            <a:ext cx="5486400" cy="365760"/>
          </a:xfrm>
          <a:prstGeom prst="rect">
            <a:avLst/>
          </a:prstGeom>
          <a:noFill/>
          <a:ln/>
        </p:spPr>
        <p:txBody>
          <a:bodyPr wrap="square" lIns="0" tIns="0" rIns="0" bIns="0" rtlCol="0" anchor="ctr"/>
          <a:lstStyle/>
          <a:p>
            <a:pPr marL="0" indent="0">
              <a:buNone/>
            </a:pPr>
            <a:r>
              <a:rPr lang="en-US" sz="1300" dirty="0">
                <a:solidFill>
                  <a:srgbClr val="1A202C"/>
                </a:solidFill>
                <a:latin typeface="Malgun Gothic" pitchFamily="34" charset="0"/>
                <a:ea typeface="Malgun Gothic" pitchFamily="34" charset="-122"/>
                <a:cs typeface="Malgun Gothic" pitchFamily="34" charset="-120"/>
              </a:rPr>
              <a:t>장면을 수백만 개의 3D Gaussian으로 표현한다.</a:t>
            </a:r>
            <a:endParaRPr lang="en-US" sz="1300" dirty="0"/>
          </a:p>
        </p:txBody>
      </p:sp>
      <p:sp>
        <p:nvSpPr>
          <p:cNvPr id="7" name="Text 5"/>
          <p:cNvSpPr/>
          <p:nvPr/>
        </p:nvSpPr>
        <p:spPr>
          <a:xfrm>
            <a:off x="640080" y="2377440"/>
            <a:ext cx="5486400" cy="365760"/>
          </a:xfrm>
          <a:prstGeom prst="rect">
            <a:avLst/>
          </a:prstGeom>
          <a:noFill/>
          <a:ln/>
        </p:spPr>
        <p:txBody>
          <a:bodyPr wrap="square" lIns="0" tIns="0" rIns="0" bIns="0" rtlCol="0" anchor="ctr"/>
          <a:lstStyle/>
          <a:p>
            <a:pPr marL="0" indent="0">
              <a:buNone/>
            </a:pPr>
            <a:r>
              <a:rPr lang="en-US" sz="1300" b="1" dirty="0">
                <a:solidFill>
                  <a:srgbClr val="4B5563"/>
                </a:solidFill>
                <a:latin typeface="Malgun Gothic" pitchFamily="34" charset="0"/>
                <a:ea typeface="Malgun Gothic" pitchFamily="34" charset="-122"/>
                <a:cs typeface="Malgun Gothic" pitchFamily="34" charset="-120"/>
              </a:rPr>
              <a:t>각 Gaussian이 가지는 파라미터</a:t>
            </a:r>
            <a:endParaRPr lang="en-US" sz="1300" dirty="0"/>
          </a:p>
        </p:txBody>
      </p:sp>
      <p:sp>
        <p:nvSpPr>
          <p:cNvPr id="8" name="Text 6"/>
          <p:cNvSpPr/>
          <p:nvPr/>
        </p:nvSpPr>
        <p:spPr>
          <a:xfrm>
            <a:off x="822960" y="2788920"/>
            <a:ext cx="2194560" cy="320040"/>
          </a:xfrm>
          <a:prstGeom prst="rect">
            <a:avLst/>
          </a:prstGeom>
          <a:noFill/>
          <a:ln/>
        </p:spPr>
        <p:txBody>
          <a:bodyPr wrap="square" lIns="0" tIns="0" rIns="0" bIns="0" rtlCol="0" anchor="ctr"/>
          <a:lstStyle/>
          <a:p>
            <a:pPr marL="0" indent="0">
              <a:buNone/>
            </a:pPr>
            <a:r>
              <a:rPr lang="en-US" sz="1200" b="1" dirty="0">
                <a:solidFill>
                  <a:srgbClr val="1E40AF"/>
                </a:solidFill>
                <a:latin typeface="Consolas" pitchFamily="34" charset="0"/>
                <a:ea typeface="Consolas" pitchFamily="34" charset="-122"/>
                <a:cs typeface="Consolas" pitchFamily="34" charset="-120"/>
              </a:rPr>
              <a:t>position μ ∈ ℝ³</a:t>
            </a:r>
            <a:endParaRPr lang="en-US" sz="1200" dirty="0"/>
          </a:p>
        </p:txBody>
      </p:sp>
      <p:sp>
        <p:nvSpPr>
          <p:cNvPr id="9" name="Text 7"/>
          <p:cNvSpPr/>
          <p:nvPr/>
        </p:nvSpPr>
        <p:spPr>
          <a:xfrm>
            <a:off x="3108960" y="2788920"/>
            <a:ext cx="2926080" cy="320040"/>
          </a:xfrm>
          <a:prstGeom prst="rect">
            <a:avLst/>
          </a:prstGeom>
          <a:noFill/>
          <a:ln/>
        </p:spPr>
        <p:txBody>
          <a:bodyPr wrap="square" lIns="0" tIns="0" rIns="0" bIns="0" rtlCol="0" anchor="ctr"/>
          <a:lstStyle/>
          <a:p>
            <a:pPr marL="0" indent="0">
              <a:buNone/>
            </a:pPr>
            <a:r>
              <a:rPr lang="en-US" sz="1200" dirty="0">
                <a:solidFill>
                  <a:srgbClr val="1A202C"/>
                </a:solidFill>
                <a:latin typeface="Malgun Gothic" pitchFamily="34" charset="0"/>
                <a:ea typeface="Malgun Gothic" pitchFamily="34" charset="-122"/>
                <a:cs typeface="Malgun Gothic" pitchFamily="34" charset="-120"/>
              </a:rPr>
              <a:t>3D 공간에서의 위치</a:t>
            </a:r>
            <a:endParaRPr lang="en-US" sz="1200" dirty="0"/>
          </a:p>
        </p:txBody>
      </p:sp>
      <p:sp>
        <p:nvSpPr>
          <p:cNvPr id="10" name="Text 8"/>
          <p:cNvSpPr/>
          <p:nvPr/>
        </p:nvSpPr>
        <p:spPr>
          <a:xfrm>
            <a:off x="822960" y="3172968"/>
            <a:ext cx="2194560" cy="320040"/>
          </a:xfrm>
          <a:prstGeom prst="rect">
            <a:avLst/>
          </a:prstGeom>
          <a:noFill/>
          <a:ln/>
        </p:spPr>
        <p:txBody>
          <a:bodyPr wrap="square" lIns="0" tIns="0" rIns="0" bIns="0" rtlCol="0" anchor="ctr"/>
          <a:lstStyle/>
          <a:p>
            <a:pPr marL="0" indent="0">
              <a:buNone/>
            </a:pPr>
            <a:r>
              <a:rPr lang="en-US" sz="1200" b="1" dirty="0">
                <a:solidFill>
                  <a:srgbClr val="1E40AF"/>
                </a:solidFill>
                <a:latin typeface="Consolas" pitchFamily="34" charset="0"/>
                <a:ea typeface="Consolas" pitchFamily="34" charset="-122"/>
                <a:cs typeface="Consolas" pitchFamily="34" charset="-120"/>
              </a:rPr>
              <a:t>scale s ∈ ℝ³</a:t>
            </a:r>
            <a:endParaRPr lang="en-US" sz="1200" dirty="0"/>
          </a:p>
        </p:txBody>
      </p:sp>
      <p:sp>
        <p:nvSpPr>
          <p:cNvPr id="11" name="Text 9"/>
          <p:cNvSpPr/>
          <p:nvPr/>
        </p:nvSpPr>
        <p:spPr>
          <a:xfrm>
            <a:off x="3108960" y="3172968"/>
            <a:ext cx="2926080" cy="320040"/>
          </a:xfrm>
          <a:prstGeom prst="rect">
            <a:avLst/>
          </a:prstGeom>
          <a:noFill/>
          <a:ln/>
        </p:spPr>
        <p:txBody>
          <a:bodyPr wrap="square" lIns="0" tIns="0" rIns="0" bIns="0" rtlCol="0" anchor="ctr"/>
          <a:lstStyle/>
          <a:p>
            <a:pPr marL="0" indent="0">
              <a:buNone/>
            </a:pPr>
            <a:r>
              <a:rPr lang="en-US" sz="1200" dirty="0">
                <a:solidFill>
                  <a:srgbClr val="1A202C"/>
                </a:solidFill>
                <a:latin typeface="Malgun Gothic" pitchFamily="34" charset="0"/>
                <a:ea typeface="Malgun Gothic" pitchFamily="34" charset="-122"/>
                <a:cs typeface="Malgun Gothic" pitchFamily="34" charset="-120"/>
              </a:rPr>
              <a:t>3축 방향 크기</a:t>
            </a:r>
            <a:endParaRPr lang="en-US" sz="1200" dirty="0"/>
          </a:p>
        </p:txBody>
      </p:sp>
      <p:sp>
        <p:nvSpPr>
          <p:cNvPr id="12" name="Text 10"/>
          <p:cNvSpPr/>
          <p:nvPr/>
        </p:nvSpPr>
        <p:spPr>
          <a:xfrm>
            <a:off x="822960" y="3557016"/>
            <a:ext cx="2194560" cy="320040"/>
          </a:xfrm>
          <a:prstGeom prst="rect">
            <a:avLst/>
          </a:prstGeom>
          <a:noFill/>
          <a:ln/>
        </p:spPr>
        <p:txBody>
          <a:bodyPr wrap="square" lIns="0" tIns="0" rIns="0" bIns="0" rtlCol="0" anchor="ctr"/>
          <a:lstStyle/>
          <a:p>
            <a:pPr marL="0" indent="0">
              <a:buNone/>
            </a:pPr>
            <a:r>
              <a:rPr lang="en-US" sz="1200" b="1" dirty="0">
                <a:solidFill>
                  <a:srgbClr val="1E40AF"/>
                </a:solidFill>
                <a:latin typeface="Consolas" pitchFamily="34" charset="0"/>
                <a:ea typeface="Consolas" pitchFamily="34" charset="-122"/>
                <a:cs typeface="Consolas" pitchFamily="34" charset="-120"/>
              </a:rPr>
              <a:t>rotation q ∈ ℝ⁴</a:t>
            </a:r>
            <a:endParaRPr lang="en-US" sz="1200" dirty="0"/>
          </a:p>
        </p:txBody>
      </p:sp>
      <p:sp>
        <p:nvSpPr>
          <p:cNvPr id="13" name="Text 11"/>
          <p:cNvSpPr/>
          <p:nvPr/>
        </p:nvSpPr>
        <p:spPr>
          <a:xfrm>
            <a:off x="3108960" y="3557016"/>
            <a:ext cx="2926080" cy="320040"/>
          </a:xfrm>
          <a:prstGeom prst="rect">
            <a:avLst/>
          </a:prstGeom>
          <a:noFill/>
          <a:ln/>
        </p:spPr>
        <p:txBody>
          <a:bodyPr wrap="square" lIns="0" tIns="0" rIns="0" bIns="0" rtlCol="0" anchor="ctr"/>
          <a:lstStyle/>
          <a:p>
            <a:pPr marL="0" indent="0">
              <a:buNone/>
            </a:pPr>
            <a:r>
              <a:rPr lang="en-US" sz="1200" dirty="0">
                <a:solidFill>
                  <a:srgbClr val="1A202C"/>
                </a:solidFill>
                <a:latin typeface="Malgun Gothic" pitchFamily="34" charset="0"/>
                <a:ea typeface="Malgun Gothic" pitchFamily="34" charset="-122"/>
                <a:cs typeface="Malgun Gothic" pitchFamily="34" charset="-120"/>
              </a:rPr>
              <a:t>회전 (quaternion)</a:t>
            </a:r>
            <a:endParaRPr lang="en-US" sz="1200" dirty="0"/>
          </a:p>
        </p:txBody>
      </p:sp>
      <p:sp>
        <p:nvSpPr>
          <p:cNvPr id="14" name="Text 12"/>
          <p:cNvSpPr/>
          <p:nvPr/>
        </p:nvSpPr>
        <p:spPr>
          <a:xfrm>
            <a:off x="822960" y="3941064"/>
            <a:ext cx="2194560" cy="320040"/>
          </a:xfrm>
          <a:prstGeom prst="rect">
            <a:avLst/>
          </a:prstGeom>
          <a:noFill/>
          <a:ln/>
        </p:spPr>
        <p:txBody>
          <a:bodyPr wrap="square" lIns="0" tIns="0" rIns="0" bIns="0" rtlCol="0" anchor="ctr"/>
          <a:lstStyle/>
          <a:p>
            <a:pPr marL="0" indent="0">
              <a:buNone/>
            </a:pPr>
            <a:r>
              <a:rPr lang="en-US" sz="1200" b="1" dirty="0">
                <a:solidFill>
                  <a:srgbClr val="1E40AF"/>
                </a:solidFill>
                <a:latin typeface="Consolas" pitchFamily="34" charset="0"/>
                <a:ea typeface="Consolas" pitchFamily="34" charset="-122"/>
                <a:cs typeface="Consolas" pitchFamily="34" charset="-120"/>
              </a:rPr>
              <a:t>opacity α ∈ [0, 1]</a:t>
            </a:r>
            <a:endParaRPr lang="en-US" sz="1200" dirty="0"/>
          </a:p>
        </p:txBody>
      </p:sp>
      <p:sp>
        <p:nvSpPr>
          <p:cNvPr id="15" name="Text 13"/>
          <p:cNvSpPr/>
          <p:nvPr/>
        </p:nvSpPr>
        <p:spPr>
          <a:xfrm>
            <a:off x="3108960" y="3941064"/>
            <a:ext cx="2926080" cy="320040"/>
          </a:xfrm>
          <a:prstGeom prst="rect">
            <a:avLst/>
          </a:prstGeom>
          <a:noFill/>
          <a:ln/>
        </p:spPr>
        <p:txBody>
          <a:bodyPr wrap="square" lIns="0" tIns="0" rIns="0" bIns="0" rtlCol="0" anchor="ctr"/>
          <a:lstStyle/>
          <a:p>
            <a:pPr marL="0" indent="0">
              <a:buNone/>
            </a:pPr>
            <a:r>
              <a:rPr lang="en-US" sz="1200" dirty="0">
                <a:solidFill>
                  <a:srgbClr val="1A202C"/>
                </a:solidFill>
                <a:latin typeface="Malgun Gothic" pitchFamily="34" charset="0"/>
                <a:ea typeface="Malgun Gothic" pitchFamily="34" charset="-122"/>
                <a:cs typeface="Malgun Gothic" pitchFamily="34" charset="-120"/>
              </a:rPr>
              <a:t>불투명도</a:t>
            </a:r>
            <a:endParaRPr lang="en-US" sz="1200" dirty="0"/>
          </a:p>
        </p:txBody>
      </p:sp>
      <p:sp>
        <p:nvSpPr>
          <p:cNvPr id="16" name="Text 14"/>
          <p:cNvSpPr/>
          <p:nvPr/>
        </p:nvSpPr>
        <p:spPr>
          <a:xfrm>
            <a:off x="822960" y="4325112"/>
            <a:ext cx="2194560" cy="320040"/>
          </a:xfrm>
          <a:prstGeom prst="rect">
            <a:avLst/>
          </a:prstGeom>
          <a:noFill/>
          <a:ln/>
        </p:spPr>
        <p:txBody>
          <a:bodyPr wrap="square" lIns="0" tIns="0" rIns="0" bIns="0" rtlCol="0" anchor="ctr"/>
          <a:lstStyle/>
          <a:p>
            <a:pPr marL="0" indent="0">
              <a:buNone/>
            </a:pPr>
            <a:r>
              <a:rPr lang="en-US" sz="1200" b="1" dirty="0">
                <a:solidFill>
                  <a:srgbClr val="1E40AF"/>
                </a:solidFill>
                <a:latin typeface="Consolas" pitchFamily="34" charset="0"/>
                <a:ea typeface="Consolas" pitchFamily="34" charset="-122"/>
                <a:cs typeface="Consolas" pitchFamily="34" charset="-120"/>
              </a:rPr>
              <a:t>color c (SH)</a:t>
            </a:r>
            <a:endParaRPr lang="en-US" sz="1200" dirty="0"/>
          </a:p>
        </p:txBody>
      </p:sp>
      <p:sp>
        <p:nvSpPr>
          <p:cNvPr id="17" name="Text 15"/>
          <p:cNvSpPr/>
          <p:nvPr/>
        </p:nvSpPr>
        <p:spPr>
          <a:xfrm>
            <a:off x="3108960" y="4325112"/>
            <a:ext cx="2926080" cy="320040"/>
          </a:xfrm>
          <a:prstGeom prst="rect">
            <a:avLst/>
          </a:prstGeom>
          <a:noFill/>
          <a:ln/>
        </p:spPr>
        <p:txBody>
          <a:bodyPr wrap="square" lIns="0" tIns="0" rIns="0" bIns="0" rtlCol="0" anchor="ctr"/>
          <a:lstStyle/>
          <a:p>
            <a:pPr marL="0" indent="0">
              <a:buNone/>
            </a:pPr>
            <a:r>
              <a:rPr lang="en-US" sz="1200" dirty="0">
                <a:solidFill>
                  <a:srgbClr val="1A202C"/>
                </a:solidFill>
                <a:latin typeface="Malgun Gothic" pitchFamily="34" charset="0"/>
                <a:ea typeface="Malgun Gothic" pitchFamily="34" charset="-122"/>
                <a:cs typeface="Malgun Gothic" pitchFamily="34" charset="-120"/>
              </a:rPr>
              <a:t>방향에 따른 색 (Spherical Harmonics)</a:t>
            </a:r>
            <a:endParaRPr lang="en-US" sz="1200" dirty="0"/>
          </a:p>
        </p:txBody>
      </p:sp>
      <p:sp>
        <p:nvSpPr>
          <p:cNvPr id="18" name="Text 16"/>
          <p:cNvSpPr/>
          <p:nvPr/>
        </p:nvSpPr>
        <p:spPr>
          <a:xfrm>
            <a:off x="6400800" y="1508760"/>
            <a:ext cx="5486400" cy="365760"/>
          </a:xfrm>
          <a:prstGeom prst="rect">
            <a:avLst/>
          </a:prstGeom>
          <a:noFill/>
          <a:ln/>
        </p:spPr>
        <p:txBody>
          <a:bodyPr wrap="square" lIns="0" tIns="0" rIns="0" bIns="0" rtlCol="0" anchor="ctr"/>
          <a:lstStyle/>
          <a:p>
            <a:pPr marL="0" indent="0">
              <a:buNone/>
            </a:pPr>
            <a:r>
              <a:rPr lang="en-US" sz="1400" b="1" dirty="0">
                <a:solidFill>
                  <a:srgbClr val="1E40AF"/>
                </a:solidFill>
                <a:latin typeface="Calibri" pitchFamily="34" charset="0"/>
                <a:ea typeface="Calibri" pitchFamily="34" charset="-122"/>
                <a:cs typeface="Calibri" pitchFamily="34" charset="-120"/>
              </a:rPr>
              <a:t>Rendering — Differentiable α-blending</a:t>
            </a:r>
            <a:endParaRPr lang="en-US" sz="1400" dirty="0"/>
          </a:p>
        </p:txBody>
      </p:sp>
      <p:sp>
        <p:nvSpPr>
          <p:cNvPr id="19" name="Text 17"/>
          <p:cNvSpPr/>
          <p:nvPr/>
        </p:nvSpPr>
        <p:spPr>
          <a:xfrm>
            <a:off x="6400800" y="1874520"/>
            <a:ext cx="5486400" cy="365760"/>
          </a:xfrm>
          <a:prstGeom prst="rect">
            <a:avLst/>
          </a:prstGeom>
          <a:noFill/>
          <a:ln/>
        </p:spPr>
        <p:txBody>
          <a:bodyPr wrap="square" lIns="0" tIns="0" rIns="0" bIns="0" rtlCol="0" anchor="ctr"/>
          <a:lstStyle/>
          <a:p>
            <a:pPr marL="0" indent="0">
              <a:buNone/>
            </a:pPr>
            <a:r>
              <a:rPr lang="en-US" sz="1300" dirty="0">
                <a:solidFill>
                  <a:srgbClr val="1A202C"/>
                </a:solidFill>
                <a:latin typeface="Malgun Gothic" pitchFamily="34" charset="0"/>
                <a:ea typeface="Malgun Gothic" pitchFamily="34" charset="-122"/>
                <a:cs typeface="Malgun Gothic" pitchFamily="34" charset="-120"/>
              </a:rPr>
              <a:t>픽셀 색을 깊이 순 정렬된 Gaussian의 α-blending으로 합성한다.</a:t>
            </a:r>
            <a:endParaRPr lang="en-US" sz="1300" dirty="0"/>
          </a:p>
        </p:txBody>
      </p:sp>
      <p:sp>
        <p:nvSpPr>
          <p:cNvPr id="20" name="Shape 18"/>
          <p:cNvSpPr/>
          <p:nvPr/>
        </p:nvSpPr>
        <p:spPr>
          <a:xfrm>
            <a:off x="6400800" y="2331720"/>
            <a:ext cx="5212080" cy="640080"/>
          </a:xfrm>
          <a:prstGeom prst="rect">
            <a:avLst/>
          </a:prstGeom>
          <a:solidFill>
            <a:srgbClr val="F3F4F6"/>
          </a:solidFill>
          <a:ln w="6350">
            <a:solidFill>
              <a:srgbClr val="D1D5DB"/>
            </a:solidFill>
            <a:prstDash val="solid"/>
          </a:ln>
        </p:spPr>
        <p:txBody>
          <a:bodyPr/>
          <a:lstStyle/>
          <a:p>
            <a:endParaRPr lang="ko-KR" altLang="en-US"/>
          </a:p>
        </p:txBody>
      </p:sp>
      <p:sp>
        <p:nvSpPr>
          <p:cNvPr id="21" name="Text 19"/>
          <p:cNvSpPr/>
          <p:nvPr/>
        </p:nvSpPr>
        <p:spPr>
          <a:xfrm>
            <a:off x="6492240" y="2331720"/>
            <a:ext cx="5029200" cy="640080"/>
          </a:xfrm>
          <a:prstGeom prst="rect">
            <a:avLst/>
          </a:prstGeom>
          <a:noFill/>
          <a:ln/>
        </p:spPr>
        <p:txBody>
          <a:bodyPr wrap="square" lIns="0" tIns="0" rIns="0" bIns="0" rtlCol="0" anchor="ctr"/>
          <a:lstStyle/>
          <a:p>
            <a:pPr marL="0" indent="0">
              <a:buNone/>
            </a:pPr>
            <a:r>
              <a:rPr lang="en-US" sz="1300" dirty="0">
                <a:solidFill>
                  <a:srgbClr val="111827"/>
                </a:solidFill>
                <a:latin typeface="Consolas" pitchFamily="34" charset="0"/>
                <a:ea typeface="Consolas" pitchFamily="34" charset="-122"/>
                <a:cs typeface="Consolas" pitchFamily="34" charset="-120"/>
              </a:rPr>
              <a:t>C(p) = Σ cᵢ · αᵢ · Π (1 − αⱼ)</a:t>
            </a:r>
            <a:endParaRPr lang="en-US" sz="1300" dirty="0"/>
          </a:p>
        </p:txBody>
      </p:sp>
      <p:sp>
        <p:nvSpPr>
          <p:cNvPr id="22" name="Text 20"/>
          <p:cNvSpPr/>
          <p:nvPr/>
        </p:nvSpPr>
        <p:spPr>
          <a:xfrm>
            <a:off x="6400800" y="3246120"/>
            <a:ext cx="5486400" cy="365760"/>
          </a:xfrm>
          <a:prstGeom prst="rect">
            <a:avLst/>
          </a:prstGeom>
          <a:noFill/>
          <a:ln/>
        </p:spPr>
        <p:txBody>
          <a:bodyPr wrap="square" lIns="0" tIns="0" rIns="0" bIns="0" rtlCol="0" anchor="ctr"/>
          <a:lstStyle/>
          <a:p>
            <a:pPr marL="0" indent="0">
              <a:buNone/>
            </a:pPr>
            <a:r>
              <a:rPr lang="en-US" sz="1400" b="1" dirty="0">
                <a:solidFill>
                  <a:srgbClr val="1E40AF"/>
                </a:solidFill>
                <a:latin typeface="Calibri" pitchFamily="34" charset="0"/>
                <a:ea typeface="Calibri" pitchFamily="34" charset="-122"/>
                <a:cs typeface="Calibri" pitchFamily="34" charset="-120"/>
              </a:rPr>
              <a:t>Optimization</a:t>
            </a:r>
            <a:endParaRPr lang="en-US" sz="1400" dirty="0"/>
          </a:p>
        </p:txBody>
      </p:sp>
      <p:sp>
        <p:nvSpPr>
          <p:cNvPr id="23" name="Shape 21"/>
          <p:cNvSpPr/>
          <p:nvPr/>
        </p:nvSpPr>
        <p:spPr>
          <a:xfrm>
            <a:off x="6400800" y="3611880"/>
            <a:ext cx="5212080" cy="640080"/>
          </a:xfrm>
          <a:prstGeom prst="rect">
            <a:avLst/>
          </a:prstGeom>
          <a:solidFill>
            <a:srgbClr val="F3F4F6"/>
          </a:solidFill>
          <a:ln w="6350">
            <a:solidFill>
              <a:srgbClr val="D1D5DB"/>
            </a:solidFill>
            <a:prstDash val="solid"/>
          </a:ln>
        </p:spPr>
        <p:txBody>
          <a:bodyPr/>
          <a:lstStyle/>
          <a:p>
            <a:endParaRPr lang="ko-KR" altLang="en-US"/>
          </a:p>
        </p:txBody>
      </p:sp>
      <p:sp>
        <p:nvSpPr>
          <p:cNvPr id="24" name="Text 22"/>
          <p:cNvSpPr/>
          <p:nvPr/>
        </p:nvSpPr>
        <p:spPr>
          <a:xfrm>
            <a:off x="6492240" y="3611880"/>
            <a:ext cx="5029200" cy="640080"/>
          </a:xfrm>
          <a:prstGeom prst="rect">
            <a:avLst/>
          </a:prstGeom>
          <a:noFill/>
          <a:ln/>
        </p:spPr>
        <p:txBody>
          <a:bodyPr wrap="square" lIns="0" tIns="0" rIns="0" bIns="0" rtlCol="0" anchor="ctr"/>
          <a:lstStyle/>
          <a:p>
            <a:pPr marL="0" indent="0">
              <a:buNone/>
            </a:pPr>
            <a:r>
              <a:rPr lang="en-US" sz="1300" dirty="0">
                <a:solidFill>
                  <a:srgbClr val="111827"/>
                </a:solidFill>
                <a:latin typeface="Consolas" pitchFamily="34" charset="0"/>
                <a:ea typeface="Consolas" pitchFamily="34" charset="-122"/>
                <a:cs typeface="Consolas" pitchFamily="34" charset="-120"/>
              </a:rPr>
              <a:t>L = (1 − λ) · L1 + λ · (1 − SSIM)</a:t>
            </a:r>
            <a:endParaRPr lang="en-US" sz="1300" dirty="0"/>
          </a:p>
        </p:txBody>
      </p:sp>
      <p:sp>
        <p:nvSpPr>
          <p:cNvPr id="25" name="Text 23"/>
          <p:cNvSpPr/>
          <p:nvPr/>
        </p:nvSpPr>
        <p:spPr>
          <a:xfrm>
            <a:off x="6400800" y="4434840"/>
            <a:ext cx="5486400" cy="320040"/>
          </a:xfrm>
          <a:prstGeom prst="rect">
            <a:avLst/>
          </a:prstGeom>
          <a:noFill/>
          <a:ln/>
        </p:spPr>
        <p:txBody>
          <a:bodyPr wrap="square" lIns="0" tIns="0" rIns="0" bIns="0" rtlCol="0" anchor="ctr"/>
          <a:lstStyle/>
          <a:p>
            <a:pPr marL="0" indent="0">
              <a:buNone/>
            </a:pPr>
            <a:r>
              <a:rPr lang="en-US" sz="1200" i="1" dirty="0">
                <a:solidFill>
                  <a:srgbClr val="6B7280"/>
                </a:solidFill>
                <a:latin typeface="Calibri" pitchFamily="34" charset="0"/>
                <a:ea typeface="Calibri" pitchFamily="34" charset="-122"/>
                <a:cs typeface="Calibri" pitchFamily="34" charset="-120"/>
              </a:rPr>
              <a:t>+ Adaptive Densification (split / clone / prune)</a:t>
            </a:r>
            <a:endParaRPr lang="en-US" sz="1200" dirty="0"/>
          </a:p>
        </p:txBody>
      </p:sp>
      <p:sp>
        <p:nvSpPr>
          <p:cNvPr id="26" name="Text 24"/>
          <p:cNvSpPr/>
          <p:nvPr/>
        </p:nvSpPr>
        <p:spPr>
          <a:xfrm>
            <a:off x="6400800" y="4754880"/>
            <a:ext cx="5486400" cy="320040"/>
          </a:xfrm>
          <a:prstGeom prst="rect">
            <a:avLst/>
          </a:prstGeom>
          <a:noFill/>
          <a:ln/>
        </p:spPr>
        <p:txBody>
          <a:bodyPr wrap="square" lIns="0" tIns="0" rIns="0" bIns="0" rtlCol="0" anchor="ctr"/>
          <a:lstStyle/>
          <a:p>
            <a:pPr marL="0" indent="0">
              <a:buNone/>
            </a:pPr>
            <a:r>
              <a:rPr lang="en-US" sz="1200" dirty="0">
                <a:solidFill>
                  <a:srgbClr val="6B7280"/>
                </a:solidFill>
                <a:latin typeface="Malgun Gothic" pitchFamily="34" charset="0"/>
                <a:ea typeface="Malgun Gothic" pitchFamily="34" charset="-122"/>
                <a:cs typeface="Malgun Gothic" pitchFamily="34" charset="-120"/>
              </a:rPr>
              <a:t>Gaussian 개수를 학습 중 동적으로 늘리고 줄임</a:t>
            </a:r>
            <a:endParaRPr lang="en-US" sz="1200" dirty="0"/>
          </a:p>
        </p:txBody>
      </p:sp>
      <p:sp>
        <p:nvSpPr>
          <p:cNvPr id="27" name="Shape 25"/>
          <p:cNvSpPr/>
          <p:nvPr/>
        </p:nvSpPr>
        <p:spPr>
          <a:xfrm>
            <a:off x="640080" y="5349240"/>
            <a:ext cx="10881360" cy="1325880"/>
          </a:xfrm>
          <a:prstGeom prst="rect">
            <a:avLst/>
          </a:prstGeom>
          <a:solidFill>
            <a:srgbClr val="F9FAFB"/>
          </a:solidFill>
          <a:ln w="6350">
            <a:solidFill>
              <a:srgbClr val="D1D5DB"/>
            </a:solidFill>
            <a:prstDash val="solid"/>
          </a:ln>
        </p:spPr>
        <p:txBody>
          <a:bodyPr/>
          <a:lstStyle/>
          <a:p>
            <a:endParaRPr lang="ko-KR" altLang="en-US"/>
          </a:p>
        </p:txBody>
      </p:sp>
      <p:sp>
        <p:nvSpPr>
          <p:cNvPr id="28" name="Shape 26"/>
          <p:cNvSpPr/>
          <p:nvPr/>
        </p:nvSpPr>
        <p:spPr>
          <a:xfrm>
            <a:off x="640080" y="5349240"/>
            <a:ext cx="73152" cy="1325880"/>
          </a:xfrm>
          <a:prstGeom prst="rect">
            <a:avLst/>
          </a:prstGeom>
          <a:solidFill>
            <a:srgbClr val="1E40AF"/>
          </a:solidFill>
          <a:ln w="12700">
            <a:solidFill>
              <a:srgbClr val="1E40AF"/>
            </a:solidFill>
            <a:prstDash val="solid"/>
          </a:ln>
        </p:spPr>
        <p:txBody>
          <a:bodyPr/>
          <a:lstStyle/>
          <a:p>
            <a:endParaRPr lang="ko-KR" altLang="en-US"/>
          </a:p>
        </p:txBody>
      </p:sp>
      <p:sp>
        <p:nvSpPr>
          <p:cNvPr id="29" name="Text 27"/>
          <p:cNvSpPr/>
          <p:nvPr/>
        </p:nvSpPr>
        <p:spPr>
          <a:xfrm>
            <a:off x="868680" y="5394960"/>
            <a:ext cx="10515600" cy="274320"/>
          </a:xfrm>
          <a:prstGeom prst="rect">
            <a:avLst/>
          </a:prstGeom>
          <a:noFill/>
          <a:ln/>
        </p:spPr>
        <p:txBody>
          <a:bodyPr wrap="square" lIns="0" tIns="0" rIns="0" bIns="0" rtlCol="0" anchor="ctr"/>
          <a:lstStyle/>
          <a:p>
            <a:pPr marL="0" indent="0">
              <a:buNone/>
            </a:pPr>
            <a:r>
              <a:rPr lang="en-US" sz="1100" b="1" kern="0" spc="100" dirty="0">
                <a:solidFill>
                  <a:srgbClr val="1E40AF"/>
                </a:solidFill>
                <a:latin typeface="Malgun Gothic" pitchFamily="34" charset="0"/>
                <a:ea typeface="Malgun Gothic" pitchFamily="34" charset="-122"/>
                <a:cs typeface="Malgun Gothic" pitchFamily="34" charset="-120"/>
              </a:rPr>
              <a:t>NeRF vs 3D Gaussian Splatting</a:t>
            </a:r>
            <a:endParaRPr lang="en-US" sz="1100" dirty="0"/>
          </a:p>
        </p:txBody>
      </p:sp>
      <p:sp>
        <p:nvSpPr>
          <p:cNvPr id="30" name="Text 28"/>
          <p:cNvSpPr/>
          <p:nvPr/>
        </p:nvSpPr>
        <p:spPr>
          <a:xfrm>
            <a:off x="868680" y="5687568"/>
            <a:ext cx="3444240" cy="256032"/>
          </a:xfrm>
          <a:prstGeom prst="rect">
            <a:avLst/>
          </a:prstGeom>
          <a:noFill/>
          <a:ln/>
        </p:spPr>
        <p:txBody>
          <a:bodyPr wrap="square" lIns="0" tIns="0" rIns="0" bIns="0" rtlCol="0" anchor="ctr"/>
          <a:lstStyle/>
          <a:p>
            <a:pPr marL="0" indent="0">
              <a:buNone/>
            </a:pPr>
            <a:r>
              <a:rPr lang="en-US" sz="1000" b="1" dirty="0">
                <a:solidFill>
                  <a:srgbClr val="4B5563"/>
                </a:solidFill>
                <a:latin typeface="Malgun Gothic" pitchFamily="34" charset="0"/>
                <a:ea typeface="Malgun Gothic" pitchFamily="34" charset="-122"/>
                <a:cs typeface="Malgun Gothic" pitchFamily="34" charset="-120"/>
              </a:rPr>
              <a:t>Scene 표현</a:t>
            </a:r>
            <a:endParaRPr lang="en-US" sz="1000" dirty="0"/>
          </a:p>
        </p:txBody>
      </p:sp>
      <p:sp>
        <p:nvSpPr>
          <p:cNvPr id="31" name="Text 29"/>
          <p:cNvSpPr/>
          <p:nvPr/>
        </p:nvSpPr>
        <p:spPr>
          <a:xfrm>
            <a:off x="868680" y="5943600"/>
            <a:ext cx="3444240" cy="292608"/>
          </a:xfrm>
          <a:prstGeom prst="rect">
            <a:avLst/>
          </a:prstGeom>
          <a:noFill/>
          <a:ln/>
        </p:spPr>
        <p:txBody>
          <a:bodyPr wrap="square" lIns="0" tIns="0" rIns="0" bIns="0" rtlCol="0" anchor="t"/>
          <a:lstStyle/>
          <a:p>
            <a:pPr marL="0" indent="0">
              <a:buNone/>
            </a:pPr>
            <a:r>
              <a:rPr lang="en-US" sz="950" b="1" dirty="0">
                <a:solidFill>
                  <a:srgbClr val="B91C1C"/>
                </a:solidFill>
                <a:latin typeface="Malgun Gothic" pitchFamily="34" charset="0"/>
                <a:ea typeface="Malgun Gothic" pitchFamily="34" charset="-122"/>
                <a:cs typeface="Malgun Gothic" pitchFamily="34" charset="-120"/>
              </a:rPr>
              <a:t>NeRF  </a:t>
            </a:r>
            <a:r>
              <a:rPr lang="en-US" sz="950" dirty="0">
                <a:solidFill>
                  <a:srgbClr val="1A202C"/>
                </a:solidFill>
                <a:latin typeface="Malgun Gothic" pitchFamily="34" charset="0"/>
                <a:ea typeface="Malgun Gothic" pitchFamily="34" charset="-122"/>
                <a:cs typeface="Malgun Gothic" pitchFamily="34" charset="-120"/>
              </a:rPr>
              <a:t>MLP 네트워크 (implicit)</a:t>
            </a:r>
            <a:endParaRPr lang="en-US" sz="950" dirty="0"/>
          </a:p>
        </p:txBody>
      </p:sp>
      <p:sp>
        <p:nvSpPr>
          <p:cNvPr id="32" name="Text 30"/>
          <p:cNvSpPr/>
          <p:nvPr/>
        </p:nvSpPr>
        <p:spPr>
          <a:xfrm>
            <a:off x="868680" y="6263640"/>
            <a:ext cx="3444240" cy="292608"/>
          </a:xfrm>
          <a:prstGeom prst="rect">
            <a:avLst/>
          </a:prstGeom>
          <a:noFill/>
          <a:ln/>
        </p:spPr>
        <p:txBody>
          <a:bodyPr wrap="square" lIns="0" tIns="0" rIns="0" bIns="0" rtlCol="0" anchor="t"/>
          <a:lstStyle/>
          <a:p>
            <a:pPr marL="0" indent="0">
              <a:buNone/>
            </a:pPr>
            <a:r>
              <a:rPr lang="en-US" sz="950" b="1" dirty="0">
                <a:solidFill>
                  <a:srgbClr val="065F46"/>
                </a:solidFill>
                <a:latin typeface="Malgun Gothic" pitchFamily="34" charset="0"/>
                <a:ea typeface="Malgun Gothic" pitchFamily="34" charset="-122"/>
                <a:cs typeface="Malgun Gothic" pitchFamily="34" charset="-120"/>
              </a:rPr>
              <a:t>3DGS  </a:t>
            </a:r>
            <a:r>
              <a:rPr lang="en-US" sz="950" dirty="0">
                <a:solidFill>
                  <a:srgbClr val="1A202C"/>
                </a:solidFill>
                <a:latin typeface="Malgun Gothic" pitchFamily="34" charset="0"/>
                <a:ea typeface="Malgun Gothic" pitchFamily="34" charset="-122"/>
                <a:cs typeface="Malgun Gothic" pitchFamily="34" charset="-120"/>
              </a:rPr>
              <a:t>수백만 개 3D Gaussian (explicit)</a:t>
            </a:r>
            <a:endParaRPr lang="en-US" sz="950" dirty="0"/>
          </a:p>
        </p:txBody>
      </p:sp>
      <p:sp>
        <p:nvSpPr>
          <p:cNvPr id="33" name="Text 31"/>
          <p:cNvSpPr/>
          <p:nvPr/>
        </p:nvSpPr>
        <p:spPr>
          <a:xfrm>
            <a:off x="4495800" y="5687568"/>
            <a:ext cx="3444240" cy="256032"/>
          </a:xfrm>
          <a:prstGeom prst="rect">
            <a:avLst/>
          </a:prstGeom>
          <a:noFill/>
          <a:ln/>
        </p:spPr>
        <p:txBody>
          <a:bodyPr wrap="square" lIns="0" tIns="0" rIns="0" bIns="0" rtlCol="0" anchor="ctr"/>
          <a:lstStyle/>
          <a:p>
            <a:pPr marL="0" indent="0">
              <a:buNone/>
            </a:pPr>
            <a:r>
              <a:rPr lang="en-US" sz="1000" b="1" dirty="0">
                <a:solidFill>
                  <a:srgbClr val="4B5563"/>
                </a:solidFill>
                <a:latin typeface="Malgun Gothic" pitchFamily="34" charset="0"/>
                <a:ea typeface="Malgun Gothic" pitchFamily="34" charset="-122"/>
                <a:cs typeface="Malgun Gothic" pitchFamily="34" charset="-120"/>
              </a:rPr>
              <a:t>Rendering</a:t>
            </a:r>
            <a:endParaRPr lang="en-US" sz="1000" dirty="0"/>
          </a:p>
        </p:txBody>
      </p:sp>
      <p:sp>
        <p:nvSpPr>
          <p:cNvPr id="34" name="Text 32"/>
          <p:cNvSpPr/>
          <p:nvPr/>
        </p:nvSpPr>
        <p:spPr>
          <a:xfrm>
            <a:off x="4495800" y="5943600"/>
            <a:ext cx="3444240" cy="292608"/>
          </a:xfrm>
          <a:prstGeom prst="rect">
            <a:avLst/>
          </a:prstGeom>
          <a:noFill/>
          <a:ln/>
        </p:spPr>
        <p:txBody>
          <a:bodyPr wrap="square" lIns="0" tIns="0" rIns="0" bIns="0" rtlCol="0" anchor="t"/>
          <a:lstStyle/>
          <a:p>
            <a:pPr marL="0" indent="0">
              <a:buNone/>
            </a:pPr>
            <a:r>
              <a:rPr lang="en-US" sz="950" b="1" dirty="0">
                <a:solidFill>
                  <a:srgbClr val="B91C1C"/>
                </a:solidFill>
                <a:latin typeface="Malgun Gothic" pitchFamily="34" charset="0"/>
                <a:ea typeface="Malgun Gothic" pitchFamily="34" charset="-122"/>
                <a:cs typeface="Malgun Gothic" pitchFamily="34" charset="-120"/>
              </a:rPr>
              <a:t>NeRF  </a:t>
            </a:r>
            <a:r>
              <a:rPr lang="en-US" sz="950" dirty="0">
                <a:solidFill>
                  <a:srgbClr val="1A202C"/>
                </a:solidFill>
                <a:latin typeface="Malgun Gothic" pitchFamily="34" charset="0"/>
                <a:ea typeface="Malgun Gothic" pitchFamily="34" charset="-122"/>
                <a:cs typeface="Malgun Gothic" pitchFamily="34" charset="-120"/>
              </a:rPr>
              <a:t>Ray marching — 픽셀마다 100+ 샘플 MLP query</a:t>
            </a:r>
            <a:endParaRPr lang="en-US" sz="950" dirty="0"/>
          </a:p>
        </p:txBody>
      </p:sp>
      <p:sp>
        <p:nvSpPr>
          <p:cNvPr id="35" name="Text 33"/>
          <p:cNvSpPr/>
          <p:nvPr/>
        </p:nvSpPr>
        <p:spPr>
          <a:xfrm>
            <a:off x="4495800" y="6263640"/>
            <a:ext cx="3444240" cy="292608"/>
          </a:xfrm>
          <a:prstGeom prst="rect">
            <a:avLst/>
          </a:prstGeom>
          <a:noFill/>
          <a:ln/>
        </p:spPr>
        <p:txBody>
          <a:bodyPr wrap="square" lIns="0" tIns="0" rIns="0" bIns="0" rtlCol="0" anchor="t"/>
          <a:lstStyle/>
          <a:p>
            <a:pPr marL="0" indent="0">
              <a:buNone/>
            </a:pPr>
            <a:r>
              <a:rPr lang="en-US" sz="950" b="1" dirty="0">
                <a:solidFill>
                  <a:srgbClr val="065F46"/>
                </a:solidFill>
                <a:latin typeface="Malgun Gothic" pitchFamily="34" charset="0"/>
                <a:ea typeface="Malgun Gothic" pitchFamily="34" charset="-122"/>
                <a:cs typeface="Malgun Gothic" pitchFamily="34" charset="-120"/>
              </a:rPr>
              <a:t>3DGS  </a:t>
            </a:r>
            <a:r>
              <a:rPr lang="en-US" sz="950" dirty="0">
                <a:solidFill>
                  <a:srgbClr val="1A202C"/>
                </a:solidFill>
                <a:latin typeface="Malgun Gothic" pitchFamily="34" charset="0"/>
                <a:ea typeface="Malgun Gothic" pitchFamily="34" charset="-122"/>
                <a:cs typeface="Malgun Gothic" pitchFamily="34" charset="-120"/>
              </a:rPr>
              <a:t>Rasterization — Gaussian을 바로 2D로 투영</a:t>
            </a:r>
            <a:endParaRPr lang="en-US" sz="950" dirty="0"/>
          </a:p>
        </p:txBody>
      </p:sp>
      <p:sp>
        <p:nvSpPr>
          <p:cNvPr id="36" name="Text 34"/>
          <p:cNvSpPr/>
          <p:nvPr/>
        </p:nvSpPr>
        <p:spPr>
          <a:xfrm>
            <a:off x="8122920" y="5687568"/>
            <a:ext cx="3444240" cy="256032"/>
          </a:xfrm>
          <a:prstGeom prst="rect">
            <a:avLst/>
          </a:prstGeom>
          <a:noFill/>
          <a:ln/>
        </p:spPr>
        <p:txBody>
          <a:bodyPr wrap="square" lIns="0" tIns="0" rIns="0" bIns="0" rtlCol="0" anchor="ctr"/>
          <a:lstStyle/>
          <a:p>
            <a:pPr marL="0" indent="0">
              <a:buNone/>
            </a:pPr>
            <a:r>
              <a:rPr lang="en-US" sz="1000" b="1" dirty="0">
                <a:solidFill>
                  <a:srgbClr val="4B5563"/>
                </a:solidFill>
                <a:latin typeface="Malgun Gothic" pitchFamily="34" charset="0"/>
                <a:ea typeface="Malgun Gothic" pitchFamily="34" charset="-122"/>
                <a:cs typeface="Malgun Gothic" pitchFamily="34" charset="-120"/>
              </a:rPr>
              <a:t>속도</a:t>
            </a:r>
            <a:endParaRPr lang="en-US" sz="1000" dirty="0"/>
          </a:p>
        </p:txBody>
      </p:sp>
      <p:sp>
        <p:nvSpPr>
          <p:cNvPr id="37" name="Text 35"/>
          <p:cNvSpPr/>
          <p:nvPr/>
        </p:nvSpPr>
        <p:spPr>
          <a:xfrm>
            <a:off x="8122920" y="5943600"/>
            <a:ext cx="3444240" cy="292608"/>
          </a:xfrm>
          <a:prstGeom prst="rect">
            <a:avLst/>
          </a:prstGeom>
          <a:noFill/>
          <a:ln/>
        </p:spPr>
        <p:txBody>
          <a:bodyPr wrap="square" lIns="0" tIns="0" rIns="0" bIns="0" rtlCol="0" anchor="t"/>
          <a:lstStyle/>
          <a:p>
            <a:pPr marL="0" indent="0">
              <a:buNone/>
            </a:pPr>
            <a:r>
              <a:rPr lang="en-US" sz="950" b="1" dirty="0">
                <a:solidFill>
                  <a:srgbClr val="B91C1C"/>
                </a:solidFill>
                <a:latin typeface="Malgun Gothic" pitchFamily="34" charset="0"/>
                <a:ea typeface="Malgun Gothic" pitchFamily="34" charset="-122"/>
                <a:cs typeface="Malgun Gothic" pitchFamily="34" charset="-120"/>
              </a:rPr>
              <a:t>NeRF  </a:t>
            </a:r>
            <a:r>
              <a:rPr lang="en-US" sz="950" dirty="0">
                <a:solidFill>
                  <a:srgbClr val="1A202C"/>
                </a:solidFill>
                <a:latin typeface="Malgun Gothic" pitchFamily="34" charset="0"/>
                <a:ea typeface="Malgun Gothic" pitchFamily="34" charset="-122"/>
                <a:cs typeface="Malgun Gothic" pitchFamily="34" charset="-120"/>
              </a:rPr>
              <a:t>학습 수 시간 ~ 일, 렌더링 수 초/프레임</a:t>
            </a:r>
            <a:endParaRPr lang="en-US" sz="950" dirty="0"/>
          </a:p>
        </p:txBody>
      </p:sp>
      <p:sp>
        <p:nvSpPr>
          <p:cNvPr id="38" name="Text 36"/>
          <p:cNvSpPr/>
          <p:nvPr/>
        </p:nvSpPr>
        <p:spPr>
          <a:xfrm>
            <a:off x="8122920" y="6263640"/>
            <a:ext cx="3444240" cy="292608"/>
          </a:xfrm>
          <a:prstGeom prst="rect">
            <a:avLst/>
          </a:prstGeom>
          <a:noFill/>
          <a:ln/>
        </p:spPr>
        <p:txBody>
          <a:bodyPr wrap="square" lIns="0" tIns="0" rIns="0" bIns="0" rtlCol="0" anchor="t"/>
          <a:lstStyle/>
          <a:p>
            <a:pPr marL="0" indent="0">
              <a:buNone/>
            </a:pPr>
            <a:r>
              <a:rPr lang="en-US" sz="950" b="1" dirty="0">
                <a:solidFill>
                  <a:srgbClr val="065F46"/>
                </a:solidFill>
                <a:latin typeface="Malgun Gothic" pitchFamily="34" charset="0"/>
                <a:ea typeface="Malgun Gothic" pitchFamily="34" charset="-122"/>
                <a:cs typeface="Malgun Gothic" pitchFamily="34" charset="-120"/>
              </a:rPr>
              <a:t>3DGS  </a:t>
            </a:r>
            <a:r>
              <a:rPr lang="en-US" sz="950" dirty="0">
                <a:solidFill>
                  <a:srgbClr val="1A202C"/>
                </a:solidFill>
                <a:latin typeface="Malgun Gothic" pitchFamily="34" charset="0"/>
                <a:ea typeface="Malgun Gothic" pitchFamily="34" charset="-122"/>
                <a:cs typeface="Malgun Gothic" pitchFamily="34" charset="-120"/>
              </a:rPr>
              <a:t>학습 30~45분, 렌더링 실시간 (100+ FPS)</a:t>
            </a:r>
            <a:endParaRPr lang="en-US" sz="950" dirty="0"/>
          </a:p>
        </p:txBody>
      </p:sp>
      <p:sp>
        <p:nvSpPr>
          <p:cNvPr id="39" name="Text 37"/>
          <p:cNvSpPr/>
          <p:nvPr/>
        </p:nvSpPr>
        <p:spPr>
          <a:xfrm>
            <a:off x="11064240" y="649224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Malgun Gothic" pitchFamily="34" charset="0"/>
                <a:ea typeface="Malgun Gothic" pitchFamily="34" charset="-122"/>
                <a:cs typeface="Malgun Gothic" pitchFamily="34" charset="-120"/>
              </a:rPr>
              <a:t>3 / 13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74320"/>
          </a:xfrm>
          <a:prstGeom prst="rect">
            <a:avLst/>
          </a:prstGeom>
          <a:noFill/>
          <a:ln/>
        </p:spPr>
        <p:txBody>
          <a:bodyPr wrap="square" lIns="0" tIns="0" rIns="0" bIns="0" rtlCol="0" anchor="ctr"/>
          <a:lstStyle/>
          <a:p>
            <a:pPr marL="0" indent="0">
              <a:buNone/>
            </a:pPr>
            <a:r>
              <a:rPr lang="en-US" sz="1100" b="1" kern="0" spc="200" dirty="0">
                <a:solidFill>
                  <a:srgbClr val="1E40AF"/>
                </a:solidFill>
                <a:latin typeface="Malgun Gothic" pitchFamily="34" charset="0"/>
                <a:ea typeface="Malgun Gothic" pitchFamily="34" charset="-122"/>
                <a:cs typeface="Malgun Gothic" pitchFamily="34" charset="-120"/>
              </a:rPr>
              <a:t>03. 전체 파이프라인</a:t>
            </a:r>
            <a:endParaRPr lang="en-US" sz="1100" dirty="0"/>
          </a:p>
        </p:txBody>
      </p:sp>
      <p:sp>
        <p:nvSpPr>
          <p:cNvPr id="3" name="Text 1"/>
          <p:cNvSpPr/>
          <p:nvPr/>
        </p:nvSpPr>
        <p:spPr>
          <a:xfrm>
            <a:off x="640080" y="640080"/>
            <a:ext cx="10972800" cy="548640"/>
          </a:xfrm>
          <a:prstGeom prst="rect">
            <a:avLst/>
          </a:prstGeom>
          <a:noFill/>
          <a:ln/>
        </p:spPr>
        <p:txBody>
          <a:bodyPr wrap="square" lIns="0" tIns="0" rIns="0" bIns="0" rtlCol="0" anchor="ctr"/>
          <a:lstStyle/>
          <a:p>
            <a:pPr marL="0" indent="0">
              <a:buNone/>
            </a:pPr>
            <a:r>
              <a:rPr lang="en-US" sz="2400" b="1" dirty="0">
                <a:solidFill>
                  <a:srgbClr val="111827"/>
                </a:solidFill>
                <a:latin typeface="Malgun Gothic" pitchFamily="34" charset="0"/>
                <a:ea typeface="Malgun Gothic" pitchFamily="34" charset="-122"/>
                <a:cs typeface="Malgun Gothic" pitchFamily="34" charset="-120"/>
              </a:rPr>
              <a:t>입력 이미지는 COLMAP과 3DGS 두 단계 모두에서 사용된다</a:t>
            </a:r>
            <a:endParaRPr lang="en-US" sz="2400" dirty="0"/>
          </a:p>
        </p:txBody>
      </p:sp>
      <p:sp>
        <p:nvSpPr>
          <p:cNvPr id="4" name="Shape 2"/>
          <p:cNvSpPr/>
          <p:nvPr/>
        </p:nvSpPr>
        <p:spPr>
          <a:xfrm>
            <a:off x="640080" y="1280160"/>
            <a:ext cx="10881360" cy="0"/>
          </a:xfrm>
          <a:prstGeom prst="line">
            <a:avLst/>
          </a:prstGeom>
          <a:noFill/>
          <a:ln w="9525">
            <a:solidFill>
              <a:srgbClr val="D1D5DB"/>
            </a:solidFill>
            <a:prstDash val="solid"/>
          </a:ln>
        </p:spPr>
        <p:txBody>
          <a:bodyPr/>
          <a:lstStyle/>
          <a:p>
            <a:endParaRPr lang="ko-KR" altLang="en-US"/>
          </a:p>
        </p:txBody>
      </p:sp>
      <p:pic>
        <p:nvPicPr>
          <p:cNvPr id="5" name="Image 0" descr="/home/claude/output2/fig2_pipeline.png"/>
          <p:cNvPicPr>
            <a:picLocks noChangeAspect="1"/>
          </p:cNvPicPr>
          <p:nvPr/>
        </p:nvPicPr>
        <p:blipFill>
          <a:blip r:embed="rId3"/>
          <a:stretch>
            <a:fillRect/>
          </a:stretch>
        </p:blipFill>
        <p:spPr>
          <a:xfrm>
            <a:off x="640080" y="1554480"/>
            <a:ext cx="10881360" cy="2350008"/>
          </a:xfrm>
          <a:prstGeom prst="rect">
            <a:avLst/>
          </a:prstGeom>
        </p:spPr>
      </p:pic>
      <p:sp>
        <p:nvSpPr>
          <p:cNvPr id="6" name="Text 3"/>
          <p:cNvSpPr/>
          <p:nvPr/>
        </p:nvSpPr>
        <p:spPr>
          <a:xfrm>
            <a:off x="640080" y="3931920"/>
            <a:ext cx="10881360" cy="274320"/>
          </a:xfrm>
          <a:prstGeom prst="rect">
            <a:avLst/>
          </a:prstGeom>
          <a:noFill/>
          <a:ln/>
        </p:spPr>
        <p:txBody>
          <a:bodyPr wrap="square" lIns="0" tIns="0" rIns="0" bIns="0" rtlCol="0" anchor="ctr"/>
          <a:lstStyle/>
          <a:p>
            <a:pPr marL="0" indent="0" algn="ctr">
              <a:buNone/>
            </a:pPr>
            <a:r>
              <a:rPr lang="en-US" sz="1000" i="1" dirty="0">
                <a:solidFill>
                  <a:srgbClr val="6B7280"/>
                </a:solidFill>
                <a:latin typeface="Malgun Gothic" pitchFamily="34" charset="0"/>
                <a:ea typeface="Malgun Gothic" pitchFamily="34" charset="-122"/>
                <a:cs typeface="Malgun Gothic" pitchFamily="34" charset="-120"/>
              </a:rPr>
              <a:t>Kerbl et al. 2023, Fig. 2  —  3DGS 논문 원본 파이프라인 다이어그램</a:t>
            </a:r>
            <a:endParaRPr lang="en-US" sz="1000" dirty="0"/>
          </a:p>
        </p:txBody>
      </p:sp>
      <p:sp>
        <p:nvSpPr>
          <p:cNvPr id="7" name="Shape 4"/>
          <p:cNvSpPr/>
          <p:nvPr/>
        </p:nvSpPr>
        <p:spPr>
          <a:xfrm>
            <a:off x="640080" y="4343400"/>
            <a:ext cx="10881360" cy="2057400"/>
          </a:xfrm>
          <a:prstGeom prst="rect">
            <a:avLst/>
          </a:prstGeom>
          <a:solidFill>
            <a:srgbClr val="FEF2F2"/>
          </a:solidFill>
          <a:ln w="12700">
            <a:solidFill>
              <a:srgbClr val="B91C1C"/>
            </a:solidFill>
            <a:prstDash val="solid"/>
          </a:ln>
        </p:spPr>
        <p:txBody>
          <a:bodyPr/>
          <a:lstStyle/>
          <a:p>
            <a:endParaRPr lang="ko-KR" altLang="en-US"/>
          </a:p>
        </p:txBody>
      </p:sp>
      <p:sp>
        <p:nvSpPr>
          <p:cNvPr id="8" name="Text 5"/>
          <p:cNvSpPr/>
          <p:nvPr/>
        </p:nvSpPr>
        <p:spPr>
          <a:xfrm>
            <a:off x="822960" y="4434840"/>
            <a:ext cx="10515600" cy="320040"/>
          </a:xfrm>
          <a:prstGeom prst="rect">
            <a:avLst/>
          </a:prstGeom>
          <a:noFill/>
          <a:ln/>
        </p:spPr>
        <p:txBody>
          <a:bodyPr wrap="square" lIns="0" tIns="0" rIns="0" bIns="0" rtlCol="0" anchor="ctr"/>
          <a:lstStyle/>
          <a:p>
            <a:pPr marL="0" indent="0">
              <a:buNone/>
            </a:pPr>
            <a:r>
              <a:rPr lang="en-US" sz="1300" b="1" kern="0" spc="200" dirty="0">
                <a:solidFill>
                  <a:srgbClr val="B91C1C"/>
                </a:solidFill>
                <a:latin typeface="Malgun Gothic" pitchFamily="34" charset="0"/>
                <a:ea typeface="Malgun Gothic" pitchFamily="34" charset="-122"/>
                <a:cs typeface="Malgun Gothic" pitchFamily="34" charset="-120"/>
              </a:rPr>
              <a:t>같은 이미지가 두 단계에서 사용된다</a:t>
            </a:r>
            <a:endParaRPr lang="en-US" sz="1300" dirty="0"/>
          </a:p>
        </p:txBody>
      </p:sp>
      <p:sp>
        <p:nvSpPr>
          <p:cNvPr id="9" name="Text 6"/>
          <p:cNvSpPr/>
          <p:nvPr/>
        </p:nvSpPr>
        <p:spPr>
          <a:xfrm>
            <a:off x="822960" y="4800600"/>
            <a:ext cx="10515600" cy="1554480"/>
          </a:xfrm>
          <a:prstGeom prst="rect">
            <a:avLst/>
          </a:prstGeom>
          <a:noFill/>
          <a:ln/>
        </p:spPr>
        <p:txBody>
          <a:bodyPr wrap="square" lIns="0" tIns="0" rIns="0" bIns="0" rtlCol="0" anchor="t"/>
          <a:lstStyle/>
          <a:p>
            <a:pPr marL="0" indent="0">
              <a:spcAft>
                <a:spcPts val="400"/>
              </a:spcAft>
              <a:buNone/>
            </a:pPr>
            <a:r>
              <a:rPr lang="en-US" sz="1300" b="1" dirty="0">
                <a:solidFill>
                  <a:srgbClr val="B91C1C"/>
                </a:solidFill>
                <a:latin typeface="Malgun Gothic" pitchFamily="34" charset="0"/>
                <a:ea typeface="Malgun Gothic" pitchFamily="34" charset="-122"/>
                <a:cs typeface="Malgun Gothic" pitchFamily="34" charset="-120"/>
              </a:rPr>
              <a:t>1) </a:t>
            </a:r>
            <a:r>
              <a:rPr lang="en-US" sz="1300" dirty="0">
                <a:solidFill>
                  <a:srgbClr val="1A202C"/>
                </a:solidFill>
                <a:latin typeface="Malgun Gothic" pitchFamily="34" charset="0"/>
                <a:ea typeface="Malgun Gothic" pitchFamily="34" charset="-122"/>
                <a:cs typeface="Malgun Gothic" pitchFamily="34" charset="-120"/>
              </a:rPr>
              <a:t>COLMAP 단계에서 geometry (camera pose, sparse point) 계산</a:t>
            </a:r>
            <a:endParaRPr lang="en-US" sz="1300" dirty="0"/>
          </a:p>
          <a:p>
            <a:pPr marL="0" indent="0">
              <a:spcAft>
                <a:spcPts val="400"/>
              </a:spcAft>
              <a:buNone/>
            </a:pPr>
            <a:r>
              <a:rPr lang="en-US" sz="1300" b="1" dirty="0">
                <a:solidFill>
                  <a:srgbClr val="B91C1C"/>
                </a:solidFill>
                <a:latin typeface="Malgun Gothic" pitchFamily="34" charset="0"/>
                <a:ea typeface="Malgun Gothic" pitchFamily="34" charset="-122"/>
                <a:cs typeface="Malgun Gothic" pitchFamily="34" charset="-120"/>
              </a:rPr>
              <a:t>2) </a:t>
            </a:r>
            <a:r>
              <a:rPr lang="en-US" sz="1300" dirty="0">
                <a:solidFill>
                  <a:srgbClr val="1A202C"/>
                </a:solidFill>
                <a:latin typeface="Malgun Gothic" pitchFamily="34" charset="0"/>
                <a:ea typeface="Malgun Gothic" pitchFamily="34" charset="-122"/>
                <a:cs typeface="Malgun Gothic" pitchFamily="34" charset="-120"/>
              </a:rPr>
              <a:t>3DGS 학습 단계에서 supervision (ground truth)으로 rendered image와 비교</a:t>
            </a:r>
            <a:endParaRPr lang="en-US" sz="1300" dirty="0"/>
          </a:p>
          <a:p>
            <a:pPr marL="0" indent="0">
              <a:spcAft>
                <a:spcPts val="400"/>
              </a:spcAft>
              <a:buNone/>
            </a:pPr>
            <a:r>
              <a:rPr lang="en-US" sz="1300" dirty="0">
                <a:solidFill>
                  <a:srgbClr val="000000"/>
                </a:solidFill>
                <a:latin typeface="Malgun Gothic" pitchFamily="34" charset="0"/>
                <a:ea typeface="Malgun Gothic" pitchFamily="34" charset="-122"/>
                <a:cs typeface="Malgun Gothic" pitchFamily="34" charset="-120"/>
              </a:rPr>
              <a:t> </a:t>
            </a:r>
            <a:endParaRPr lang="en-US" sz="1300" dirty="0"/>
          </a:p>
          <a:p>
            <a:pPr marL="0" indent="0">
              <a:spcAft>
                <a:spcPts val="400"/>
              </a:spcAft>
              <a:buNone/>
            </a:pPr>
            <a:r>
              <a:rPr lang="en-US" sz="1300" dirty="0">
                <a:solidFill>
                  <a:srgbClr val="1A202C"/>
                </a:solidFill>
                <a:latin typeface="Malgun Gothic" pitchFamily="34" charset="0"/>
                <a:ea typeface="Malgun Gothic" pitchFamily="34" charset="-122"/>
                <a:cs typeface="Malgun Gothic" pitchFamily="34" charset="-120"/>
              </a:rPr>
              <a:t>→ 입력 뷰가 적으면 </a:t>
            </a:r>
            <a:r>
              <a:rPr lang="en-US" sz="1300" b="1" dirty="0">
                <a:solidFill>
                  <a:srgbClr val="B91C1C"/>
                </a:solidFill>
                <a:latin typeface="Malgun Gothic" pitchFamily="34" charset="0"/>
                <a:ea typeface="Malgun Gothic" pitchFamily="34" charset="-122"/>
                <a:cs typeface="Malgun Gothic" pitchFamily="34" charset="-120"/>
              </a:rPr>
              <a:t>두 단계 모두에 영향이 누적</a:t>
            </a:r>
            <a:r>
              <a:rPr lang="en-US" sz="1300" dirty="0">
                <a:solidFill>
                  <a:srgbClr val="1A202C"/>
                </a:solidFill>
                <a:latin typeface="Malgun Gothic" pitchFamily="34" charset="0"/>
                <a:ea typeface="Malgun Gothic" pitchFamily="34" charset="-122"/>
                <a:cs typeface="Malgun Gothic" pitchFamily="34" charset="-120"/>
              </a:rPr>
              <a:t>되어 품질이 크게 저하된다.</a:t>
            </a:r>
            <a:endParaRPr lang="en-US" sz="1300" dirty="0"/>
          </a:p>
        </p:txBody>
      </p:sp>
      <p:sp>
        <p:nvSpPr>
          <p:cNvPr id="10" name="Text 7"/>
          <p:cNvSpPr/>
          <p:nvPr/>
        </p:nvSpPr>
        <p:spPr>
          <a:xfrm>
            <a:off x="11064240" y="649224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Malgun Gothic" pitchFamily="34" charset="0"/>
                <a:ea typeface="Malgun Gothic" pitchFamily="34" charset="-122"/>
                <a:cs typeface="Malgun Gothic" pitchFamily="34" charset="-120"/>
              </a:rPr>
              <a:t>4 / 13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74320"/>
          </a:xfrm>
          <a:prstGeom prst="rect">
            <a:avLst/>
          </a:prstGeom>
          <a:noFill/>
          <a:ln/>
        </p:spPr>
        <p:txBody>
          <a:bodyPr wrap="square" lIns="0" tIns="0" rIns="0" bIns="0" rtlCol="0" anchor="ctr"/>
          <a:lstStyle/>
          <a:p>
            <a:pPr marL="0" indent="0">
              <a:buNone/>
            </a:pPr>
            <a:r>
              <a:rPr lang="en-US" sz="1100" b="1" kern="0" spc="200" dirty="0">
                <a:solidFill>
                  <a:srgbClr val="1E40AF"/>
                </a:solidFill>
                <a:latin typeface="Malgun Gothic" pitchFamily="34" charset="0"/>
                <a:ea typeface="Malgun Gothic" pitchFamily="34" charset="-122"/>
                <a:cs typeface="Malgun Gothic" pitchFamily="34" charset="-120"/>
              </a:rPr>
              <a:t>04. 원본 논문의 한계점</a:t>
            </a:r>
            <a:endParaRPr lang="en-US" sz="1100" dirty="0"/>
          </a:p>
        </p:txBody>
      </p:sp>
      <p:sp>
        <p:nvSpPr>
          <p:cNvPr id="3" name="Text 1"/>
          <p:cNvSpPr/>
          <p:nvPr/>
        </p:nvSpPr>
        <p:spPr>
          <a:xfrm>
            <a:off x="640080" y="640080"/>
            <a:ext cx="10972800" cy="548640"/>
          </a:xfrm>
          <a:prstGeom prst="rect">
            <a:avLst/>
          </a:prstGeom>
          <a:noFill/>
          <a:ln/>
        </p:spPr>
        <p:txBody>
          <a:bodyPr wrap="square" lIns="0" tIns="0" rIns="0" bIns="0" rtlCol="0" anchor="ctr"/>
          <a:lstStyle/>
          <a:p>
            <a:pPr marL="0" indent="0">
              <a:buNone/>
            </a:pPr>
            <a:r>
              <a:rPr lang="en-US" sz="2400" b="1" dirty="0">
                <a:solidFill>
                  <a:srgbClr val="111827"/>
                </a:solidFill>
                <a:latin typeface="Malgun Gothic" pitchFamily="34" charset="0"/>
                <a:ea typeface="Malgun Gothic" pitchFamily="34" charset="-122"/>
                <a:cs typeface="Malgun Gothic" pitchFamily="34" charset="-120"/>
              </a:rPr>
              <a:t>3DGS는 dense한 입력 뷰를 전제로 설계되었다</a:t>
            </a:r>
            <a:endParaRPr lang="en-US" sz="2400" dirty="0"/>
          </a:p>
        </p:txBody>
      </p:sp>
      <p:sp>
        <p:nvSpPr>
          <p:cNvPr id="4" name="Shape 2"/>
          <p:cNvSpPr/>
          <p:nvPr/>
        </p:nvSpPr>
        <p:spPr>
          <a:xfrm>
            <a:off x="640080" y="1280160"/>
            <a:ext cx="10881360" cy="0"/>
          </a:xfrm>
          <a:prstGeom prst="line">
            <a:avLst/>
          </a:prstGeom>
          <a:noFill/>
          <a:ln w="9525">
            <a:solidFill>
              <a:srgbClr val="D1D5DB"/>
            </a:solidFill>
            <a:prstDash val="solid"/>
          </a:ln>
        </p:spPr>
        <p:txBody>
          <a:bodyPr/>
          <a:lstStyle/>
          <a:p>
            <a:endParaRPr lang="ko-KR" altLang="en-US"/>
          </a:p>
        </p:txBody>
      </p:sp>
      <p:sp>
        <p:nvSpPr>
          <p:cNvPr id="5" name="Text 3"/>
          <p:cNvSpPr/>
          <p:nvPr/>
        </p:nvSpPr>
        <p:spPr>
          <a:xfrm>
            <a:off x="640080" y="1508760"/>
            <a:ext cx="10972800" cy="320040"/>
          </a:xfrm>
          <a:prstGeom prst="rect">
            <a:avLst/>
          </a:prstGeom>
          <a:noFill/>
          <a:ln/>
        </p:spPr>
        <p:txBody>
          <a:bodyPr wrap="square" lIns="0" tIns="0" rIns="0" bIns="0" rtlCol="0" anchor="ctr"/>
          <a:lstStyle/>
          <a:p>
            <a:pPr marL="0" indent="0">
              <a:buNone/>
            </a:pPr>
            <a:r>
              <a:rPr lang="en-US" sz="1100" i="1" dirty="0">
                <a:solidFill>
                  <a:srgbClr val="6B7280"/>
                </a:solidFill>
                <a:latin typeface="Calibri" pitchFamily="34" charset="0"/>
                <a:ea typeface="Calibri" pitchFamily="34" charset="-122"/>
                <a:cs typeface="Calibri" pitchFamily="34" charset="-120"/>
              </a:rPr>
              <a:t>Kerbl et al., "3D Gaussian Splatting for Real-Time Radiance Field Rendering" (SIGGRAPH 2023)</a:t>
            </a:r>
            <a:endParaRPr lang="en-US" sz="1100" dirty="0"/>
          </a:p>
        </p:txBody>
      </p:sp>
      <p:sp>
        <p:nvSpPr>
          <p:cNvPr id="6" name="Text 4"/>
          <p:cNvSpPr/>
          <p:nvPr/>
        </p:nvSpPr>
        <p:spPr>
          <a:xfrm>
            <a:off x="640080" y="1965960"/>
            <a:ext cx="10972800" cy="365760"/>
          </a:xfrm>
          <a:prstGeom prst="rect">
            <a:avLst/>
          </a:prstGeom>
          <a:noFill/>
          <a:ln/>
        </p:spPr>
        <p:txBody>
          <a:bodyPr wrap="square" lIns="0" tIns="0" rIns="0" bIns="0" rtlCol="0" anchor="ctr"/>
          <a:lstStyle/>
          <a:p>
            <a:pPr marL="0" indent="0">
              <a:buNone/>
            </a:pPr>
            <a:r>
              <a:rPr lang="en-US" sz="1400" b="1" dirty="0">
                <a:solidFill>
                  <a:srgbClr val="1E40AF"/>
                </a:solidFill>
                <a:latin typeface="Malgun Gothic" pitchFamily="34" charset="0"/>
                <a:ea typeface="Malgun Gothic" pitchFamily="34" charset="-122"/>
                <a:cs typeface="Malgun Gothic" pitchFamily="34" charset="-120"/>
              </a:rPr>
              <a:t>원본 논문에서 언급한 한계</a:t>
            </a:r>
            <a:endParaRPr lang="en-US" sz="1400" dirty="0"/>
          </a:p>
        </p:txBody>
      </p:sp>
      <p:sp>
        <p:nvSpPr>
          <p:cNvPr id="7" name="Shape 5"/>
          <p:cNvSpPr/>
          <p:nvPr/>
        </p:nvSpPr>
        <p:spPr>
          <a:xfrm>
            <a:off x="640080" y="2468880"/>
            <a:ext cx="73152" cy="822960"/>
          </a:xfrm>
          <a:prstGeom prst="rect">
            <a:avLst/>
          </a:prstGeom>
          <a:solidFill>
            <a:srgbClr val="B91C1C"/>
          </a:solidFill>
          <a:ln/>
        </p:spPr>
        <p:txBody>
          <a:bodyPr/>
          <a:lstStyle/>
          <a:p>
            <a:endParaRPr lang="ko-KR" altLang="en-US"/>
          </a:p>
        </p:txBody>
      </p:sp>
      <p:sp>
        <p:nvSpPr>
          <p:cNvPr id="8" name="Text 6"/>
          <p:cNvSpPr/>
          <p:nvPr/>
        </p:nvSpPr>
        <p:spPr>
          <a:xfrm>
            <a:off x="868680" y="2468880"/>
            <a:ext cx="10607040" cy="365760"/>
          </a:xfrm>
          <a:prstGeom prst="rect">
            <a:avLst/>
          </a:prstGeom>
          <a:noFill/>
          <a:ln/>
        </p:spPr>
        <p:txBody>
          <a:bodyPr wrap="square" lIns="0" tIns="0" rIns="0" bIns="0" rtlCol="0" anchor="ctr"/>
          <a:lstStyle/>
          <a:p>
            <a:pPr marL="0" indent="0">
              <a:buNone/>
            </a:pPr>
            <a:r>
              <a:rPr lang="en-US" sz="1500" b="1" dirty="0">
                <a:solidFill>
                  <a:srgbClr val="111827"/>
                </a:solidFill>
                <a:latin typeface="Malgun Gothic" pitchFamily="34" charset="0"/>
                <a:ea typeface="Malgun Gothic" pitchFamily="34" charset="-122"/>
                <a:cs typeface="Malgun Gothic" pitchFamily="34" charset="-120"/>
              </a:rPr>
              <a:t>관측되지 않은 영역에 대한 artifact</a:t>
            </a:r>
            <a:endParaRPr lang="en-US" sz="1500" dirty="0"/>
          </a:p>
        </p:txBody>
      </p:sp>
      <p:sp>
        <p:nvSpPr>
          <p:cNvPr id="9" name="Text 7"/>
          <p:cNvSpPr/>
          <p:nvPr/>
        </p:nvSpPr>
        <p:spPr>
          <a:xfrm>
            <a:off x="868680" y="2834640"/>
            <a:ext cx="10607040" cy="502920"/>
          </a:xfrm>
          <a:prstGeom prst="rect">
            <a:avLst/>
          </a:prstGeom>
          <a:noFill/>
          <a:ln/>
        </p:spPr>
        <p:txBody>
          <a:bodyPr wrap="square" lIns="0" tIns="0" rIns="0" bIns="0" rtlCol="0" anchor="t"/>
          <a:lstStyle/>
          <a:p>
            <a:pPr marL="0" indent="0">
              <a:buNone/>
            </a:pPr>
            <a:r>
              <a:rPr lang="en-US" sz="1200" dirty="0">
                <a:solidFill>
                  <a:srgbClr val="6B7280"/>
                </a:solidFill>
                <a:latin typeface="Malgun Gothic" pitchFamily="34" charset="0"/>
                <a:ea typeface="Malgun Gothic" pitchFamily="34" charset="-122"/>
                <a:cs typeface="Malgun Gothic" pitchFamily="34" charset="-120"/>
              </a:rPr>
              <a:t>학습 시 본 적 없는 각도에서는 floater와 elongated Gaussian이 발생한다.</a:t>
            </a:r>
            <a:endParaRPr lang="en-US" sz="1200" dirty="0"/>
          </a:p>
        </p:txBody>
      </p:sp>
      <p:sp>
        <p:nvSpPr>
          <p:cNvPr id="10" name="Shape 8"/>
          <p:cNvSpPr/>
          <p:nvPr/>
        </p:nvSpPr>
        <p:spPr>
          <a:xfrm>
            <a:off x="640080" y="3383280"/>
            <a:ext cx="73152" cy="822960"/>
          </a:xfrm>
          <a:prstGeom prst="rect">
            <a:avLst/>
          </a:prstGeom>
          <a:solidFill>
            <a:srgbClr val="B91C1C"/>
          </a:solidFill>
          <a:ln/>
        </p:spPr>
        <p:txBody>
          <a:bodyPr/>
          <a:lstStyle/>
          <a:p>
            <a:endParaRPr lang="ko-KR" altLang="en-US"/>
          </a:p>
        </p:txBody>
      </p:sp>
      <p:sp>
        <p:nvSpPr>
          <p:cNvPr id="11" name="Text 9"/>
          <p:cNvSpPr/>
          <p:nvPr/>
        </p:nvSpPr>
        <p:spPr>
          <a:xfrm>
            <a:off x="868680" y="3383280"/>
            <a:ext cx="10607040" cy="365760"/>
          </a:xfrm>
          <a:prstGeom prst="rect">
            <a:avLst/>
          </a:prstGeom>
          <a:noFill/>
          <a:ln/>
        </p:spPr>
        <p:txBody>
          <a:bodyPr wrap="square" lIns="0" tIns="0" rIns="0" bIns="0" rtlCol="0" anchor="ctr"/>
          <a:lstStyle/>
          <a:p>
            <a:pPr marL="0" indent="0">
              <a:buNone/>
            </a:pPr>
            <a:r>
              <a:rPr lang="en-US" sz="1500" b="1" dirty="0">
                <a:solidFill>
                  <a:srgbClr val="111827"/>
                </a:solidFill>
                <a:latin typeface="Malgun Gothic" pitchFamily="34" charset="0"/>
                <a:ea typeface="Malgun Gothic" pitchFamily="34" charset="-122"/>
                <a:cs typeface="Malgun Gothic" pitchFamily="34" charset="-120"/>
              </a:rPr>
              <a:t>Anisotropic Gaussian의 과적합</a:t>
            </a:r>
            <a:endParaRPr lang="en-US" sz="1500" dirty="0"/>
          </a:p>
        </p:txBody>
      </p:sp>
      <p:sp>
        <p:nvSpPr>
          <p:cNvPr id="12" name="Text 10"/>
          <p:cNvSpPr/>
          <p:nvPr/>
        </p:nvSpPr>
        <p:spPr>
          <a:xfrm>
            <a:off x="868680" y="3749040"/>
            <a:ext cx="10607040" cy="502920"/>
          </a:xfrm>
          <a:prstGeom prst="rect">
            <a:avLst/>
          </a:prstGeom>
          <a:noFill/>
          <a:ln/>
        </p:spPr>
        <p:txBody>
          <a:bodyPr wrap="square" lIns="0" tIns="0" rIns="0" bIns="0" rtlCol="0" anchor="t"/>
          <a:lstStyle/>
          <a:p>
            <a:pPr marL="0" indent="0">
              <a:buNone/>
            </a:pPr>
            <a:r>
              <a:rPr lang="en-US" sz="1200" dirty="0">
                <a:solidFill>
                  <a:srgbClr val="6B7280"/>
                </a:solidFill>
                <a:latin typeface="Malgun Gothic" pitchFamily="34" charset="0"/>
                <a:ea typeface="Malgun Gothic" pitchFamily="34" charset="-122"/>
                <a:cs typeface="Malgun Gothic" pitchFamily="34" charset="-120"/>
              </a:rPr>
              <a:t>몇 안 되는 training view에만 맞춰 길쭉한 Gaussian이 만들어지고, 다른 뷰에서는 시각적 오류로 나타난다.</a:t>
            </a:r>
            <a:endParaRPr lang="en-US" sz="1200" dirty="0"/>
          </a:p>
        </p:txBody>
      </p:sp>
      <p:sp>
        <p:nvSpPr>
          <p:cNvPr id="13" name="Shape 11"/>
          <p:cNvSpPr/>
          <p:nvPr/>
        </p:nvSpPr>
        <p:spPr>
          <a:xfrm>
            <a:off x="640080" y="4297680"/>
            <a:ext cx="73152" cy="822960"/>
          </a:xfrm>
          <a:prstGeom prst="rect">
            <a:avLst/>
          </a:prstGeom>
          <a:solidFill>
            <a:srgbClr val="B91C1C"/>
          </a:solidFill>
          <a:ln/>
        </p:spPr>
        <p:txBody>
          <a:bodyPr/>
          <a:lstStyle/>
          <a:p>
            <a:endParaRPr lang="ko-KR" altLang="en-US"/>
          </a:p>
        </p:txBody>
      </p:sp>
      <p:sp>
        <p:nvSpPr>
          <p:cNvPr id="14" name="Text 12"/>
          <p:cNvSpPr/>
          <p:nvPr/>
        </p:nvSpPr>
        <p:spPr>
          <a:xfrm>
            <a:off x="868680" y="4297680"/>
            <a:ext cx="10607040" cy="365760"/>
          </a:xfrm>
          <a:prstGeom prst="rect">
            <a:avLst/>
          </a:prstGeom>
          <a:noFill/>
          <a:ln/>
        </p:spPr>
        <p:txBody>
          <a:bodyPr wrap="square" lIns="0" tIns="0" rIns="0" bIns="0" rtlCol="0" anchor="ctr"/>
          <a:lstStyle/>
          <a:p>
            <a:pPr marL="0" indent="0">
              <a:buNone/>
            </a:pPr>
            <a:r>
              <a:rPr lang="en-US" sz="1500" b="1" dirty="0">
                <a:solidFill>
                  <a:srgbClr val="111827"/>
                </a:solidFill>
                <a:latin typeface="Malgun Gothic" pitchFamily="34" charset="0"/>
                <a:ea typeface="Malgun Gothic" pitchFamily="34" charset="-122"/>
                <a:cs typeface="Malgun Gothic" pitchFamily="34" charset="-120"/>
              </a:rPr>
              <a:t>초기 point cloud 품질에 크게 의존</a:t>
            </a:r>
            <a:endParaRPr lang="en-US" sz="1500" dirty="0"/>
          </a:p>
        </p:txBody>
      </p:sp>
      <p:sp>
        <p:nvSpPr>
          <p:cNvPr id="15" name="Text 13"/>
          <p:cNvSpPr/>
          <p:nvPr/>
        </p:nvSpPr>
        <p:spPr>
          <a:xfrm>
            <a:off x="868680" y="4663440"/>
            <a:ext cx="10607040" cy="502920"/>
          </a:xfrm>
          <a:prstGeom prst="rect">
            <a:avLst/>
          </a:prstGeom>
          <a:noFill/>
          <a:ln/>
        </p:spPr>
        <p:txBody>
          <a:bodyPr wrap="square" lIns="0" tIns="0" rIns="0" bIns="0" rtlCol="0" anchor="t"/>
          <a:lstStyle/>
          <a:p>
            <a:pPr marL="0" indent="0">
              <a:buNone/>
            </a:pPr>
            <a:r>
              <a:rPr lang="en-US" sz="1200" dirty="0">
                <a:solidFill>
                  <a:srgbClr val="6B7280"/>
                </a:solidFill>
                <a:latin typeface="Malgun Gothic" pitchFamily="34" charset="0"/>
                <a:ea typeface="Malgun Gothic" pitchFamily="34" charset="-122"/>
                <a:cs typeface="Malgun Gothic" pitchFamily="34" charset="-120"/>
              </a:rPr>
              <a:t>COLMAP의 sparse point가 부족하면 초기화가 부실해지고 최적화가 잘 수렴하지 않는다.</a:t>
            </a:r>
            <a:endParaRPr lang="en-US" sz="1200" dirty="0"/>
          </a:p>
        </p:txBody>
      </p:sp>
      <p:sp>
        <p:nvSpPr>
          <p:cNvPr id="16" name="Shape 14"/>
          <p:cNvSpPr/>
          <p:nvPr/>
        </p:nvSpPr>
        <p:spPr>
          <a:xfrm>
            <a:off x="640080" y="5623560"/>
            <a:ext cx="10881360" cy="822960"/>
          </a:xfrm>
          <a:prstGeom prst="rect">
            <a:avLst/>
          </a:prstGeom>
          <a:solidFill>
            <a:srgbClr val="EFF6FF"/>
          </a:solidFill>
          <a:ln w="12700">
            <a:solidFill>
              <a:srgbClr val="1E40AF"/>
            </a:solidFill>
            <a:prstDash val="solid"/>
          </a:ln>
        </p:spPr>
        <p:txBody>
          <a:bodyPr/>
          <a:lstStyle/>
          <a:p>
            <a:endParaRPr lang="ko-KR" altLang="en-US"/>
          </a:p>
        </p:txBody>
      </p:sp>
      <p:sp>
        <p:nvSpPr>
          <p:cNvPr id="17" name="Text 15"/>
          <p:cNvSpPr/>
          <p:nvPr/>
        </p:nvSpPr>
        <p:spPr>
          <a:xfrm>
            <a:off x="822960" y="5623560"/>
            <a:ext cx="10515600" cy="822960"/>
          </a:xfrm>
          <a:prstGeom prst="rect">
            <a:avLst/>
          </a:prstGeom>
          <a:noFill/>
          <a:ln/>
        </p:spPr>
        <p:txBody>
          <a:bodyPr wrap="square" lIns="0" tIns="0" rIns="0" bIns="0" rtlCol="0" anchor="ctr"/>
          <a:lstStyle/>
          <a:p>
            <a:pPr marL="0" indent="0">
              <a:buNone/>
            </a:pPr>
            <a:r>
              <a:rPr lang="en-US" sz="1200" dirty="0">
                <a:solidFill>
                  <a:srgbClr val="1A202C"/>
                </a:solidFill>
                <a:latin typeface="Malgun Gothic" pitchFamily="34" charset="0"/>
                <a:ea typeface="Malgun Gothic" pitchFamily="34" charset="-122"/>
                <a:cs typeface="Malgun Gothic" pitchFamily="34" charset="-120"/>
              </a:rPr>
              <a:t>→  다음 슬라이드부터는 </a:t>
            </a:r>
            <a:r>
              <a:rPr lang="en-US" sz="1200" b="1" dirty="0">
                <a:solidFill>
                  <a:srgbClr val="1E40AF"/>
                </a:solidFill>
                <a:latin typeface="Malgun Gothic" pitchFamily="34" charset="0"/>
                <a:ea typeface="Malgun Gothic" pitchFamily="34" charset="-122"/>
                <a:cs typeface="Malgun Gothic" pitchFamily="34" charset="-120"/>
              </a:rPr>
              <a:t>원본 논문의 핵심 수식·알고리듬이 실제 공식 구현 코드의 어느 부분에 대응되는지</a:t>
            </a:r>
            <a:r>
              <a:rPr lang="en-US" sz="1200" dirty="0">
                <a:solidFill>
                  <a:srgbClr val="1A202C"/>
                </a:solidFill>
                <a:latin typeface="Malgun Gothic" pitchFamily="34" charset="0"/>
                <a:ea typeface="Malgun Gothic" pitchFamily="34" charset="-122"/>
                <a:cs typeface="Malgun Gothic" pitchFamily="34" charset="-120"/>
              </a:rPr>
              <a:t> 살펴본다. </a:t>
            </a:r>
            <a:endParaRPr lang="en-US" sz="1200" dirty="0"/>
          </a:p>
          <a:p>
            <a:pPr marL="0" indent="0">
              <a:buNone/>
            </a:pPr>
            <a:r>
              <a:rPr lang="en-US" sz="1100" dirty="0">
                <a:solidFill>
                  <a:srgbClr val="6B7280"/>
                </a:solidFill>
                <a:latin typeface="Malgun Gothic" pitchFamily="34" charset="0"/>
                <a:ea typeface="Malgun Gothic" pitchFamily="34" charset="-122"/>
                <a:cs typeface="Malgun Gothic" pitchFamily="34" charset="-120"/>
              </a:rPr>
              <a:t>마지막 매핑(슬라이드 10)에서는 sparse multi-view 문제가 생기는 지점도 함께 짚는다.</a:t>
            </a:r>
            <a:endParaRPr lang="en-US" sz="1200" dirty="0"/>
          </a:p>
        </p:txBody>
      </p:sp>
      <p:sp>
        <p:nvSpPr>
          <p:cNvPr id="18" name="Text 16"/>
          <p:cNvSpPr/>
          <p:nvPr/>
        </p:nvSpPr>
        <p:spPr>
          <a:xfrm>
            <a:off x="11064240" y="649224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Malgun Gothic" pitchFamily="34" charset="0"/>
                <a:ea typeface="Malgun Gothic" pitchFamily="34" charset="-122"/>
                <a:cs typeface="Malgun Gothic" pitchFamily="34" charset="-120"/>
              </a:rPr>
              <a:t>5 / 13</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74320"/>
          </a:xfrm>
          <a:prstGeom prst="rect">
            <a:avLst/>
          </a:prstGeom>
          <a:noFill/>
          <a:ln/>
        </p:spPr>
        <p:txBody>
          <a:bodyPr wrap="square" lIns="0" tIns="0" rIns="0" bIns="0" rtlCol="0" anchor="ctr"/>
          <a:lstStyle/>
          <a:p>
            <a:pPr marL="0" indent="0">
              <a:buNone/>
            </a:pPr>
            <a:r>
              <a:rPr lang="en-US" sz="1100" b="1" kern="0" spc="200" dirty="0">
                <a:solidFill>
                  <a:srgbClr val="1E40AF"/>
                </a:solidFill>
                <a:latin typeface="Malgun Gothic" pitchFamily="34" charset="0"/>
                <a:ea typeface="Malgun Gothic" pitchFamily="34" charset="-122"/>
                <a:cs typeface="Malgun Gothic" pitchFamily="34" charset="-120"/>
              </a:rPr>
              <a:t>05. 논문 ↔ 코드 리뷰 ①</a:t>
            </a:r>
            <a:endParaRPr lang="en-US" sz="1100" dirty="0"/>
          </a:p>
        </p:txBody>
      </p:sp>
      <p:sp>
        <p:nvSpPr>
          <p:cNvPr id="3" name="Text 1"/>
          <p:cNvSpPr/>
          <p:nvPr/>
        </p:nvSpPr>
        <p:spPr>
          <a:xfrm>
            <a:off x="640080" y="640080"/>
            <a:ext cx="10972800" cy="548640"/>
          </a:xfrm>
          <a:prstGeom prst="rect">
            <a:avLst/>
          </a:prstGeom>
          <a:noFill/>
          <a:ln/>
        </p:spPr>
        <p:txBody>
          <a:bodyPr wrap="square" lIns="0" tIns="0" rIns="0" bIns="0" rtlCol="0" anchor="ctr"/>
          <a:lstStyle/>
          <a:p>
            <a:pPr marL="0" indent="0">
              <a:buNone/>
            </a:pPr>
            <a:r>
              <a:rPr lang="en-US" sz="2400" b="1" dirty="0">
                <a:solidFill>
                  <a:srgbClr val="111827"/>
                </a:solidFill>
                <a:latin typeface="Malgun Gothic" pitchFamily="34" charset="0"/>
                <a:ea typeface="Malgun Gothic" pitchFamily="34" charset="-122"/>
                <a:cs typeface="Malgun Gothic" pitchFamily="34" charset="-120"/>
              </a:rPr>
              <a:t>3D Gaussian Representation &amp; Covariance Decomposition</a:t>
            </a:r>
            <a:endParaRPr lang="en-US" sz="2400" dirty="0"/>
          </a:p>
        </p:txBody>
      </p:sp>
      <p:sp>
        <p:nvSpPr>
          <p:cNvPr id="4" name="Shape 2"/>
          <p:cNvSpPr/>
          <p:nvPr/>
        </p:nvSpPr>
        <p:spPr>
          <a:xfrm>
            <a:off x="640080" y="1280160"/>
            <a:ext cx="10881360" cy="0"/>
          </a:xfrm>
          <a:prstGeom prst="line">
            <a:avLst/>
          </a:prstGeom>
          <a:noFill/>
          <a:ln w="9525">
            <a:solidFill>
              <a:srgbClr val="D1D5DB"/>
            </a:solidFill>
            <a:prstDash val="solid"/>
          </a:ln>
        </p:spPr>
        <p:txBody>
          <a:bodyPr/>
          <a:lstStyle/>
          <a:p>
            <a:endParaRPr lang="ko-KR" altLang="en-US"/>
          </a:p>
        </p:txBody>
      </p:sp>
      <p:sp>
        <p:nvSpPr>
          <p:cNvPr id="5" name="Shape 3"/>
          <p:cNvSpPr/>
          <p:nvPr/>
        </p:nvSpPr>
        <p:spPr>
          <a:xfrm>
            <a:off x="640080" y="1417320"/>
            <a:ext cx="6126480" cy="1828800"/>
          </a:xfrm>
          <a:prstGeom prst="rect">
            <a:avLst/>
          </a:prstGeom>
          <a:solidFill>
            <a:srgbClr val="F0FDF4"/>
          </a:solidFill>
          <a:ln w="9525">
            <a:solidFill>
              <a:srgbClr val="BBF7D0"/>
            </a:solidFill>
            <a:prstDash val="solid"/>
          </a:ln>
        </p:spPr>
        <p:txBody>
          <a:bodyPr/>
          <a:lstStyle/>
          <a:p>
            <a:endParaRPr lang="ko-KR" altLang="en-US"/>
          </a:p>
        </p:txBody>
      </p:sp>
      <p:sp>
        <p:nvSpPr>
          <p:cNvPr id="6" name="Shape 4"/>
          <p:cNvSpPr/>
          <p:nvPr/>
        </p:nvSpPr>
        <p:spPr>
          <a:xfrm>
            <a:off x="640080" y="1417320"/>
            <a:ext cx="73152" cy="1828800"/>
          </a:xfrm>
          <a:prstGeom prst="rect">
            <a:avLst/>
          </a:prstGeom>
          <a:solidFill>
            <a:srgbClr val="065F46"/>
          </a:solidFill>
          <a:ln/>
        </p:spPr>
        <p:txBody>
          <a:bodyPr/>
          <a:lstStyle/>
          <a:p>
            <a:endParaRPr lang="ko-KR" altLang="en-US"/>
          </a:p>
        </p:txBody>
      </p:sp>
      <p:sp>
        <p:nvSpPr>
          <p:cNvPr id="7" name="Text 5"/>
          <p:cNvSpPr/>
          <p:nvPr/>
        </p:nvSpPr>
        <p:spPr>
          <a:xfrm>
            <a:off x="841248" y="1527048"/>
            <a:ext cx="914400" cy="274320"/>
          </a:xfrm>
          <a:prstGeom prst="rect">
            <a:avLst/>
          </a:prstGeom>
          <a:noFill/>
          <a:ln/>
        </p:spPr>
        <p:txBody>
          <a:bodyPr wrap="square" lIns="0" tIns="0" rIns="0" bIns="0" rtlCol="0" anchor="ctr"/>
          <a:lstStyle/>
          <a:p>
            <a:pPr marL="0" indent="0">
              <a:buNone/>
            </a:pPr>
            <a:r>
              <a:rPr lang="en-US" sz="1000" b="1" kern="0" spc="300" dirty="0">
                <a:solidFill>
                  <a:srgbClr val="065F46"/>
                </a:solidFill>
                <a:latin typeface="Calibri" pitchFamily="34" charset="0"/>
                <a:ea typeface="Calibri" pitchFamily="34" charset="-122"/>
                <a:cs typeface="Calibri" pitchFamily="34" charset="-120"/>
              </a:rPr>
              <a:t>PAPER</a:t>
            </a:r>
            <a:endParaRPr lang="en-US" sz="1000" dirty="0"/>
          </a:p>
        </p:txBody>
      </p:sp>
      <p:sp>
        <p:nvSpPr>
          <p:cNvPr id="8" name="Text 6"/>
          <p:cNvSpPr/>
          <p:nvPr/>
        </p:nvSpPr>
        <p:spPr>
          <a:xfrm>
            <a:off x="1783080" y="1527048"/>
            <a:ext cx="4846320" cy="27432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Kerbl et al. 2023, Section 3 &amp; 4.1</a:t>
            </a:r>
            <a:endParaRPr lang="en-US" sz="1000" dirty="0"/>
          </a:p>
        </p:txBody>
      </p:sp>
      <p:sp>
        <p:nvSpPr>
          <p:cNvPr id="9" name="Shape 7"/>
          <p:cNvSpPr/>
          <p:nvPr/>
        </p:nvSpPr>
        <p:spPr>
          <a:xfrm>
            <a:off x="868680" y="1856232"/>
            <a:ext cx="5760720" cy="438912"/>
          </a:xfrm>
          <a:prstGeom prst="rect">
            <a:avLst/>
          </a:prstGeom>
          <a:solidFill>
            <a:srgbClr val="FFFFFF"/>
          </a:solidFill>
          <a:ln w="6350">
            <a:solidFill>
              <a:srgbClr val="D1D5DB"/>
            </a:solidFill>
            <a:prstDash val="solid"/>
          </a:ln>
        </p:spPr>
        <p:txBody>
          <a:bodyPr/>
          <a:lstStyle/>
          <a:p>
            <a:endParaRPr lang="ko-KR" altLang="en-US"/>
          </a:p>
        </p:txBody>
      </p:sp>
      <p:sp>
        <p:nvSpPr>
          <p:cNvPr id="10" name="Text 8"/>
          <p:cNvSpPr/>
          <p:nvPr/>
        </p:nvSpPr>
        <p:spPr>
          <a:xfrm>
            <a:off x="960120" y="1856232"/>
            <a:ext cx="5577840" cy="438912"/>
          </a:xfrm>
          <a:prstGeom prst="rect">
            <a:avLst/>
          </a:prstGeom>
          <a:noFill/>
          <a:ln/>
        </p:spPr>
        <p:txBody>
          <a:bodyPr wrap="square" lIns="0" tIns="0" rIns="0" bIns="0" rtlCol="0" anchor="ctr"/>
          <a:lstStyle/>
          <a:p>
            <a:pPr marL="0" indent="0">
              <a:buNone/>
            </a:pPr>
            <a:r>
              <a:rPr lang="en-US" sz="1150" b="1" dirty="0">
                <a:solidFill>
                  <a:srgbClr val="065F46"/>
                </a:solidFill>
                <a:latin typeface="Consolas" pitchFamily="34" charset="0"/>
                <a:ea typeface="Consolas" pitchFamily="34" charset="-122"/>
                <a:cs typeface="Consolas" pitchFamily="34" charset="-120"/>
              </a:rPr>
              <a:t>G(x) = exp( −½ (x − μ)ᵀ Σ⁻¹ (x − μ) )</a:t>
            </a:r>
            <a:endParaRPr lang="en-US" sz="1150" dirty="0"/>
          </a:p>
        </p:txBody>
      </p:sp>
      <p:sp>
        <p:nvSpPr>
          <p:cNvPr id="11" name="Text 9"/>
          <p:cNvSpPr/>
          <p:nvPr/>
        </p:nvSpPr>
        <p:spPr>
          <a:xfrm>
            <a:off x="868680" y="2359152"/>
            <a:ext cx="5760720" cy="365760"/>
          </a:xfrm>
          <a:prstGeom prst="rect">
            <a:avLst/>
          </a:prstGeom>
          <a:noFill/>
          <a:ln/>
        </p:spPr>
        <p:txBody>
          <a:bodyPr wrap="square" lIns="0" tIns="0" rIns="0" bIns="0" rtlCol="0" anchor="t"/>
          <a:lstStyle/>
          <a:p>
            <a:pPr marL="0" indent="0">
              <a:buNone/>
            </a:pPr>
            <a:r>
              <a:rPr lang="en-US" sz="1100" dirty="0">
                <a:solidFill>
                  <a:srgbClr val="1A202C"/>
                </a:solidFill>
                <a:latin typeface="Malgun Gothic" pitchFamily="34" charset="0"/>
                <a:ea typeface="Malgun Gothic" pitchFamily="34" charset="-122"/>
                <a:cs typeface="Malgun Gothic" pitchFamily="34" charset="-120"/>
              </a:rPr>
              <a:t>Σ를 직접 학습하면 PSD 제약 보장 어려움 → scale s + rotation q로 분해:</a:t>
            </a:r>
            <a:endParaRPr lang="en-US" sz="1100" dirty="0"/>
          </a:p>
        </p:txBody>
      </p:sp>
      <p:sp>
        <p:nvSpPr>
          <p:cNvPr id="12" name="Shape 10"/>
          <p:cNvSpPr/>
          <p:nvPr/>
        </p:nvSpPr>
        <p:spPr>
          <a:xfrm>
            <a:off x="868680" y="2724912"/>
            <a:ext cx="5760720" cy="457200"/>
          </a:xfrm>
          <a:prstGeom prst="rect">
            <a:avLst/>
          </a:prstGeom>
          <a:solidFill>
            <a:srgbClr val="FFFFFF"/>
          </a:solidFill>
          <a:ln w="6350">
            <a:solidFill>
              <a:srgbClr val="D1D5DB"/>
            </a:solidFill>
            <a:prstDash val="solid"/>
          </a:ln>
        </p:spPr>
        <p:txBody>
          <a:bodyPr/>
          <a:lstStyle/>
          <a:p>
            <a:endParaRPr lang="ko-KR" altLang="en-US"/>
          </a:p>
        </p:txBody>
      </p:sp>
      <p:sp>
        <p:nvSpPr>
          <p:cNvPr id="13" name="Text 11"/>
          <p:cNvSpPr/>
          <p:nvPr/>
        </p:nvSpPr>
        <p:spPr>
          <a:xfrm>
            <a:off x="960120" y="2724912"/>
            <a:ext cx="5577840" cy="457200"/>
          </a:xfrm>
          <a:prstGeom prst="rect">
            <a:avLst/>
          </a:prstGeom>
          <a:noFill/>
          <a:ln/>
        </p:spPr>
        <p:txBody>
          <a:bodyPr wrap="square" lIns="0" tIns="0" rIns="0" bIns="0" rtlCol="0" anchor="ctr"/>
          <a:lstStyle/>
          <a:p>
            <a:pPr marL="0" indent="0">
              <a:buNone/>
            </a:pPr>
            <a:r>
              <a:rPr lang="en-US" sz="1300" b="1" dirty="0">
                <a:solidFill>
                  <a:srgbClr val="065F46"/>
                </a:solidFill>
                <a:latin typeface="Consolas" pitchFamily="34" charset="0"/>
                <a:ea typeface="Consolas" pitchFamily="34" charset="-122"/>
                <a:cs typeface="Consolas" pitchFamily="34" charset="-120"/>
              </a:rPr>
              <a:t>Σ = R · S · Sᵀ · Rᵀ</a:t>
            </a:r>
            <a:endParaRPr lang="en-US" sz="1300" dirty="0"/>
          </a:p>
        </p:txBody>
      </p:sp>
      <p:pic>
        <p:nvPicPr>
          <p:cNvPr id="14" name="Image 0" descr="/home/claude/output2/viz_covariance.png"/>
          <p:cNvPicPr>
            <a:picLocks noChangeAspect="1"/>
          </p:cNvPicPr>
          <p:nvPr/>
        </p:nvPicPr>
        <p:blipFill>
          <a:blip r:embed="rId3"/>
          <a:stretch>
            <a:fillRect/>
          </a:stretch>
        </p:blipFill>
        <p:spPr>
          <a:xfrm>
            <a:off x="6903720" y="1417320"/>
            <a:ext cx="4709160" cy="4251960"/>
          </a:xfrm>
          <a:prstGeom prst="rect">
            <a:avLst/>
          </a:prstGeom>
        </p:spPr>
      </p:pic>
      <p:sp>
        <p:nvSpPr>
          <p:cNvPr id="15" name="Shape 12"/>
          <p:cNvSpPr/>
          <p:nvPr/>
        </p:nvSpPr>
        <p:spPr>
          <a:xfrm>
            <a:off x="640080" y="3291840"/>
            <a:ext cx="6126480" cy="2514600"/>
          </a:xfrm>
          <a:prstGeom prst="rect">
            <a:avLst/>
          </a:prstGeom>
          <a:solidFill>
            <a:srgbClr val="EFF6FF"/>
          </a:solidFill>
          <a:ln w="9525">
            <a:solidFill>
              <a:srgbClr val="BFDBFE"/>
            </a:solidFill>
            <a:prstDash val="solid"/>
          </a:ln>
        </p:spPr>
        <p:txBody>
          <a:bodyPr/>
          <a:lstStyle/>
          <a:p>
            <a:endParaRPr lang="ko-KR" altLang="en-US"/>
          </a:p>
        </p:txBody>
      </p:sp>
      <p:sp>
        <p:nvSpPr>
          <p:cNvPr id="16" name="Shape 13"/>
          <p:cNvSpPr/>
          <p:nvPr/>
        </p:nvSpPr>
        <p:spPr>
          <a:xfrm>
            <a:off x="640080" y="3291840"/>
            <a:ext cx="73152" cy="2514600"/>
          </a:xfrm>
          <a:prstGeom prst="rect">
            <a:avLst/>
          </a:prstGeom>
          <a:solidFill>
            <a:srgbClr val="1E40AF"/>
          </a:solidFill>
          <a:ln/>
        </p:spPr>
        <p:txBody>
          <a:bodyPr/>
          <a:lstStyle/>
          <a:p>
            <a:endParaRPr lang="ko-KR" altLang="en-US"/>
          </a:p>
        </p:txBody>
      </p:sp>
      <p:sp>
        <p:nvSpPr>
          <p:cNvPr id="17" name="Text 14"/>
          <p:cNvSpPr/>
          <p:nvPr/>
        </p:nvSpPr>
        <p:spPr>
          <a:xfrm>
            <a:off x="841248" y="3401568"/>
            <a:ext cx="914400" cy="274320"/>
          </a:xfrm>
          <a:prstGeom prst="rect">
            <a:avLst/>
          </a:prstGeom>
          <a:noFill/>
          <a:ln/>
        </p:spPr>
        <p:txBody>
          <a:bodyPr wrap="square" lIns="0" tIns="0" rIns="0" bIns="0" rtlCol="0" anchor="ctr"/>
          <a:lstStyle/>
          <a:p>
            <a:pPr marL="0" indent="0">
              <a:buNone/>
            </a:pPr>
            <a:r>
              <a:rPr lang="en-US" sz="1000" b="1" kern="0" spc="300" dirty="0">
                <a:solidFill>
                  <a:srgbClr val="1E40AF"/>
                </a:solidFill>
                <a:latin typeface="Calibri" pitchFamily="34" charset="0"/>
                <a:ea typeface="Calibri" pitchFamily="34" charset="-122"/>
                <a:cs typeface="Calibri" pitchFamily="34" charset="-120"/>
              </a:rPr>
              <a:t>CODE</a:t>
            </a:r>
            <a:endParaRPr lang="en-US" sz="1000" dirty="0"/>
          </a:p>
        </p:txBody>
      </p:sp>
      <p:sp>
        <p:nvSpPr>
          <p:cNvPr id="18" name="Text 15"/>
          <p:cNvSpPr/>
          <p:nvPr/>
        </p:nvSpPr>
        <p:spPr>
          <a:xfrm>
            <a:off x="1463040" y="3401568"/>
            <a:ext cx="5212080" cy="274320"/>
          </a:xfrm>
          <a:prstGeom prst="rect">
            <a:avLst/>
          </a:prstGeom>
          <a:noFill/>
          <a:ln/>
        </p:spPr>
        <p:txBody>
          <a:bodyPr wrap="square" lIns="0" tIns="0" rIns="0" bIns="0" rtlCol="0" anchor="ctr"/>
          <a:lstStyle/>
          <a:p>
            <a:pPr marL="0" indent="0">
              <a:buNone/>
            </a:pPr>
            <a:r>
              <a:rPr lang="en-US" sz="1000" i="1" dirty="0">
                <a:solidFill>
                  <a:srgbClr val="6B7280"/>
                </a:solidFill>
                <a:latin typeface="Consolas" pitchFamily="34" charset="0"/>
                <a:ea typeface="Consolas" pitchFamily="34" charset="-122"/>
                <a:cs typeface="Consolas" pitchFamily="34" charset="-120"/>
              </a:rPr>
              <a:t>scene/gaussian_model.py  +  utils/general_utils.py</a:t>
            </a:r>
            <a:endParaRPr lang="en-US" sz="1000" dirty="0"/>
          </a:p>
        </p:txBody>
      </p:sp>
      <p:sp>
        <p:nvSpPr>
          <p:cNvPr id="19" name="Shape 16"/>
          <p:cNvSpPr/>
          <p:nvPr/>
        </p:nvSpPr>
        <p:spPr>
          <a:xfrm>
            <a:off x="868680" y="3730752"/>
            <a:ext cx="5760720" cy="1965960"/>
          </a:xfrm>
          <a:prstGeom prst="rect">
            <a:avLst/>
          </a:prstGeom>
          <a:solidFill>
            <a:srgbClr val="F3F4F6"/>
          </a:solidFill>
          <a:ln/>
        </p:spPr>
        <p:txBody>
          <a:bodyPr/>
          <a:lstStyle/>
          <a:p>
            <a:endParaRPr lang="ko-KR" altLang="en-US"/>
          </a:p>
        </p:txBody>
      </p:sp>
      <p:sp>
        <p:nvSpPr>
          <p:cNvPr id="20" name="Text 17"/>
          <p:cNvSpPr/>
          <p:nvPr/>
        </p:nvSpPr>
        <p:spPr>
          <a:xfrm>
            <a:off x="960120" y="3803904"/>
            <a:ext cx="5577840" cy="1819656"/>
          </a:xfrm>
          <a:prstGeom prst="rect">
            <a:avLst/>
          </a:prstGeom>
          <a:noFill/>
          <a:ln/>
        </p:spPr>
        <p:txBody>
          <a:bodyPr wrap="square" lIns="0" tIns="0" rIns="0" bIns="0" rtlCol="0" anchor="t"/>
          <a:lstStyle/>
          <a:p>
            <a:pPr marL="0" indent="0">
              <a:buNone/>
            </a:pPr>
            <a:r>
              <a:rPr lang="en-US" sz="900" dirty="0">
                <a:solidFill>
                  <a:srgbClr val="111827"/>
                </a:solidFill>
                <a:latin typeface="Consolas" pitchFamily="34" charset="0"/>
                <a:ea typeface="Consolas" pitchFamily="34" charset="-122"/>
                <a:cs typeface="Consolas" pitchFamily="34" charset="-120"/>
              </a:rPr>
              <a:t>def build_covariance_from_scaling_rotation(</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self, scaling, scaling_modifier, rotation):</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L = build_scaling_rotation(</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scaling_modifier * scaling, rotation)</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actual_covariance = L @ L.transpose(1, 2)</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symm = strip_symmetric(actual_covariance)</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return symm</a:t>
            </a:r>
            <a:endParaRPr lang="en-US" sz="900" dirty="0"/>
          </a:p>
          <a:p>
            <a:pPr marL="0" indent="0">
              <a:buNone/>
            </a:pP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def build_scaling_rotation(s, r):</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L = torch.zeros((s.shape[0], 3, 3),</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device="cuda")</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R = build_rotation(r)  # quaternion → R</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L[:,0,0]=s[:,0]; L[:,1,1]=s[:,1]; L[:,2,2]=s[:,2]</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return R @ L           # L = R · S, Σ = LLᵀ</a:t>
            </a:r>
            <a:endParaRPr lang="en-US" sz="900" dirty="0"/>
          </a:p>
        </p:txBody>
      </p:sp>
      <p:sp>
        <p:nvSpPr>
          <p:cNvPr id="21" name="Text 18"/>
          <p:cNvSpPr/>
          <p:nvPr/>
        </p:nvSpPr>
        <p:spPr>
          <a:xfrm>
            <a:off x="4464657" y="5550408"/>
            <a:ext cx="2468880" cy="219456"/>
          </a:xfrm>
          <a:prstGeom prst="rect">
            <a:avLst/>
          </a:prstGeom>
          <a:noFill/>
          <a:ln/>
        </p:spPr>
        <p:txBody>
          <a:bodyPr wrap="square" lIns="0" tIns="0" rIns="0" bIns="0" rtlCol="0" anchor="ctr"/>
          <a:lstStyle/>
          <a:p>
            <a:pPr marL="0" indent="0">
              <a:buNone/>
            </a:pPr>
            <a:r>
              <a:rPr lang="ko-KR" altLang="en-US" sz="900" b="1" dirty="0">
                <a:solidFill>
                  <a:srgbClr val="DC2626"/>
                </a:solidFill>
                <a:latin typeface="Consolas" pitchFamily="34" charset="0"/>
                <a:ea typeface="Consolas" pitchFamily="34" charset="-122"/>
                <a:cs typeface="Consolas" pitchFamily="34" charset="-120"/>
              </a:rPr>
              <a:t> </a:t>
            </a:r>
            <a:r>
              <a:rPr lang="en-US" altLang="ko-KR" sz="900" b="1" dirty="0">
                <a:solidFill>
                  <a:srgbClr val="B91C1C"/>
                </a:solidFill>
                <a:latin typeface="Malgun Gothic" pitchFamily="34" charset="0"/>
                <a:ea typeface="Malgun Gothic" pitchFamily="34" charset="-122"/>
                <a:cs typeface="Malgun Gothic" pitchFamily="34" charset="-120"/>
              </a:rPr>
              <a:t>R·S</a:t>
            </a:r>
            <a:r>
              <a:rPr lang="ko-KR" altLang="en-US" sz="900" b="1" dirty="0">
                <a:solidFill>
                  <a:srgbClr val="B91C1C"/>
                </a:solidFill>
                <a:latin typeface="Malgun Gothic" pitchFamily="34" charset="0"/>
                <a:ea typeface="Malgun Gothic" pitchFamily="34" charset="-122"/>
                <a:cs typeface="Malgun Gothic" pitchFamily="34" charset="-120"/>
              </a:rPr>
              <a:t> 행렬 결합</a:t>
            </a:r>
            <a:r>
              <a:rPr lang="en-US" altLang="ko-KR" sz="900" b="1" dirty="0">
                <a:solidFill>
                  <a:srgbClr val="B91C1C"/>
                </a:solidFill>
                <a:latin typeface="Malgun Gothic" pitchFamily="34" charset="0"/>
                <a:ea typeface="Malgun Gothic" pitchFamily="34" charset="-122"/>
                <a:cs typeface="Malgun Gothic" pitchFamily="34" charset="-120"/>
              </a:rPr>
              <a:t>  — scale × rotation</a:t>
            </a:r>
            <a:endParaRPr lang="en-US" sz="900" dirty="0"/>
          </a:p>
        </p:txBody>
      </p:sp>
      <p:sp>
        <p:nvSpPr>
          <p:cNvPr id="22" name="Text 19"/>
          <p:cNvSpPr/>
          <p:nvPr/>
        </p:nvSpPr>
        <p:spPr>
          <a:xfrm>
            <a:off x="4160520" y="4336542"/>
            <a:ext cx="2468880" cy="219456"/>
          </a:xfrm>
          <a:prstGeom prst="rect">
            <a:avLst/>
          </a:prstGeom>
          <a:noFill/>
          <a:ln/>
        </p:spPr>
        <p:txBody>
          <a:bodyPr wrap="square" lIns="0" tIns="0" rIns="0" bIns="0" rtlCol="0" anchor="ctr"/>
          <a:lstStyle/>
          <a:p>
            <a:pPr marL="0" indent="0">
              <a:buNone/>
            </a:pPr>
            <a:r>
              <a:rPr lang="en-US" sz="900" b="1" dirty="0">
                <a:solidFill>
                  <a:srgbClr val="DC2626"/>
                </a:solidFill>
                <a:latin typeface="Consolas" pitchFamily="34" charset="0"/>
                <a:ea typeface="Consolas" pitchFamily="34" charset="-122"/>
                <a:cs typeface="Consolas" pitchFamily="34" charset="-120"/>
              </a:rPr>
              <a:t> </a:t>
            </a:r>
            <a:r>
              <a:rPr lang="ko-KR" altLang="en-US" sz="900" b="1" dirty="0">
                <a:solidFill>
                  <a:srgbClr val="DC2626"/>
                </a:solidFill>
                <a:latin typeface="Consolas" pitchFamily="34" charset="0"/>
                <a:ea typeface="Consolas" pitchFamily="34" charset="-122"/>
                <a:cs typeface="Consolas" pitchFamily="34" charset="-120"/>
              </a:rPr>
              <a:t>   </a:t>
            </a:r>
            <a:r>
              <a:rPr lang="en-US" sz="900" b="1" dirty="0">
                <a:solidFill>
                  <a:srgbClr val="DC2626"/>
                </a:solidFill>
                <a:latin typeface="Malgun Gothic" pitchFamily="34" charset="0"/>
                <a:ea typeface="Malgun Gothic" pitchFamily="34" charset="-122"/>
                <a:cs typeface="Malgun Gothic" pitchFamily="34" charset="-120"/>
              </a:rPr>
              <a:t> </a:t>
            </a:r>
            <a:r>
              <a:rPr lang="en-US" sz="900" b="1" dirty="0">
                <a:solidFill>
                  <a:srgbClr val="B91C1C"/>
                </a:solidFill>
                <a:latin typeface="Malgun Gothic" pitchFamily="34" charset="0"/>
                <a:ea typeface="Malgun Gothic" pitchFamily="34" charset="-122"/>
                <a:cs typeface="Malgun Gothic" pitchFamily="34" charset="-120"/>
              </a:rPr>
              <a:t>Σ = L·Lᵀ  (PSD 자동 보장)</a:t>
            </a:r>
            <a:endParaRPr lang="en-US" sz="900" dirty="0"/>
          </a:p>
        </p:txBody>
      </p:sp>
      <p:sp>
        <p:nvSpPr>
          <p:cNvPr id="23" name="Shape 20"/>
          <p:cNvSpPr/>
          <p:nvPr/>
        </p:nvSpPr>
        <p:spPr>
          <a:xfrm>
            <a:off x="640080" y="5852160"/>
            <a:ext cx="10881360" cy="1005840"/>
          </a:xfrm>
          <a:prstGeom prst="rect">
            <a:avLst/>
          </a:prstGeom>
          <a:solidFill>
            <a:srgbClr val="F9FAFB"/>
          </a:solidFill>
          <a:ln w="6350">
            <a:solidFill>
              <a:srgbClr val="D1D5DB"/>
            </a:solidFill>
            <a:prstDash val="solid"/>
          </a:ln>
        </p:spPr>
        <p:txBody>
          <a:bodyPr/>
          <a:lstStyle/>
          <a:p>
            <a:endParaRPr lang="ko-KR" altLang="en-US"/>
          </a:p>
        </p:txBody>
      </p:sp>
      <p:sp>
        <p:nvSpPr>
          <p:cNvPr id="24" name="Shape 21"/>
          <p:cNvSpPr/>
          <p:nvPr/>
        </p:nvSpPr>
        <p:spPr>
          <a:xfrm>
            <a:off x="640080" y="5852160"/>
            <a:ext cx="73152" cy="1005840"/>
          </a:xfrm>
          <a:prstGeom prst="rect">
            <a:avLst/>
          </a:prstGeom>
          <a:solidFill>
            <a:srgbClr val="1E40AF"/>
          </a:solidFill>
          <a:ln w="12700">
            <a:solidFill>
              <a:srgbClr val="1E40AF"/>
            </a:solidFill>
            <a:prstDash val="solid"/>
          </a:ln>
        </p:spPr>
        <p:txBody>
          <a:bodyPr/>
          <a:lstStyle/>
          <a:p>
            <a:endParaRPr lang="ko-KR" altLang="en-US"/>
          </a:p>
        </p:txBody>
      </p:sp>
      <p:sp>
        <p:nvSpPr>
          <p:cNvPr id="25" name="Text 22"/>
          <p:cNvSpPr/>
          <p:nvPr/>
        </p:nvSpPr>
        <p:spPr>
          <a:xfrm>
            <a:off x="868680" y="5897880"/>
            <a:ext cx="10561320" cy="292608"/>
          </a:xfrm>
          <a:prstGeom prst="rect">
            <a:avLst/>
          </a:prstGeom>
          <a:noFill/>
          <a:ln/>
        </p:spPr>
        <p:txBody>
          <a:bodyPr wrap="square" lIns="0" tIns="0" rIns="0" bIns="0" rtlCol="0" anchor="ctr"/>
          <a:lstStyle/>
          <a:p>
            <a:pPr marL="0" indent="0">
              <a:buNone/>
            </a:pPr>
            <a:r>
              <a:rPr lang="en-US" sz="1100" b="1" kern="0" spc="100" dirty="0">
                <a:solidFill>
                  <a:srgbClr val="1E40AF"/>
                </a:solidFill>
                <a:latin typeface="Malgun Gothic" pitchFamily="34" charset="0"/>
                <a:ea typeface="Malgun Gothic" pitchFamily="34" charset="-122"/>
                <a:cs typeface="Malgun Gothic" pitchFamily="34" charset="-120"/>
              </a:rPr>
              <a:t>핵심 개념  </a:t>
            </a:r>
            <a:r>
              <a:rPr lang="en-US" sz="1100" dirty="0">
                <a:solidFill>
                  <a:srgbClr val="6B7280"/>
                </a:solidFill>
                <a:latin typeface="Malgun Gothic" pitchFamily="34" charset="0"/>
                <a:ea typeface="Malgun Gothic" pitchFamily="34" charset="-122"/>
                <a:cs typeface="Malgun Gothic" pitchFamily="34" charset="-120"/>
              </a:rPr>
              <a:t>·  </a:t>
            </a:r>
            <a:r>
              <a:rPr lang="en-US" sz="1100" b="1" dirty="0">
                <a:solidFill>
                  <a:srgbClr val="111827"/>
                </a:solidFill>
                <a:latin typeface="Malgun Gothic" pitchFamily="34" charset="0"/>
                <a:ea typeface="Malgun Gothic" pitchFamily="34" charset="-122"/>
                <a:cs typeface="Malgun Gothic" pitchFamily="34" charset="-120"/>
              </a:rPr>
              <a:t>왜 Σ를 직접 학습하지 않는가</a:t>
            </a:r>
            <a:endParaRPr lang="en-US" sz="1100" dirty="0"/>
          </a:p>
        </p:txBody>
      </p:sp>
      <p:sp>
        <p:nvSpPr>
          <p:cNvPr id="26" name="Text 23"/>
          <p:cNvSpPr/>
          <p:nvPr/>
        </p:nvSpPr>
        <p:spPr>
          <a:xfrm>
            <a:off x="868680" y="6181344"/>
            <a:ext cx="10561320" cy="347472"/>
          </a:xfrm>
          <a:prstGeom prst="rect">
            <a:avLst/>
          </a:prstGeom>
          <a:noFill/>
          <a:ln/>
        </p:spPr>
        <p:txBody>
          <a:bodyPr wrap="square" lIns="0" tIns="0" rIns="0" bIns="0" rtlCol="0" anchor="t"/>
          <a:lstStyle/>
          <a:p>
            <a:pPr marL="0" indent="0">
              <a:buNone/>
            </a:pPr>
            <a:r>
              <a:rPr lang="en-US" sz="1050" dirty="0">
                <a:solidFill>
                  <a:srgbClr val="1A202C"/>
                </a:solidFill>
                <a:latin typeface="Malgun Gothic" pitchFamily="34" charset="0"/>
                <a:ea typeface="Malgun Gothic" pitchFamily="34" charset="-122"/>
                <a:cs typeface="Malgun Gothic" pitchFamily="34" charset="-120"/>
              </a:rPr>
              <a:t>3D Gaussian의 모양은 covariance matrix Σ로 정해진다. 학습 중 Σ가 항상 positive semi-definite (양의 준정부호)여야 유효한 Gaussian 분포가 된다. 그런데 Σ의 6개 파라미터를 gradient descent로 직접 업데이트하면 이 조건이 쉽게 깨져서 학습이 발산한다.</a:t>
            </a:r>
            <a:endParaRPr lang="en-US" sz="1050" dirty="0"/>
          </a:p>
        </p:txBody>
      </p:sp>
      <p:sp>
        <p:nvSpPr>
          <p:cNvPr id="27" name="Text 24"/>
          <p:cNvSpPr/>
          <p:nvPr/>
        </p:nvSpPr>
        <p:spPr>
          <a:xfrm>
            <a:off x="868680" y="6537960"/>
            <a:ext cx="10561320" cy="292608"/>
          </a:xfrm>
          <a:prstGeom prst="rect">
            <a:avLst/>
          </a:prstGeom>
          <a:noFill/>
          <a:ln/>
        </p:spPr>
        <p:txBody>
          <a:bodyPr wrap="square" lIns="0" tIns="0" rIns="0" bIns="0" rtlCol="0" anchor="ctr"/>
          <a:lstStyle/>
          <a:p>
            <a:pPr marL="0" indent="0">
              <a:buNone/>
            </a:pPr>
            <a:r>
              <a:rPr lang="en-US" sz="1000" b="1" dirty="0">
                <a:solidFill>
                  <a:srgbClr val="065F46"/>
                </a:solidFill>
                <a:latin typeface="Malgun Gothic" pitchFamily="34" charset="0"/>
                <a:ea typeface="Malgun Gothic" pitchFamily="34" charset="-122"/>
                <a:cs typeface="Malgun Gothic" pitchFamily="34" charset="-120"/>
              </a:rPr>
              <a:t>구현에서는  </a:t>
            </a:r>
            <a:r>
              <a:rPr lang="en-US" sz="1000" dirty="0">
                <a:solidFill>
                  <a:srgbClr val="6B7280"/>
                </a:solidFill>
                <a:latin typeface="Malgun Gothic" pitchFamily="34" charset="0"/>
                <a:ea typeface="Malgun Gothic" pitchFamily="34" charset="-122"/>
                <a:cs typeface="Malgun Gothic" pitchFamily="34" charset="-120"/>
              </a:rPr>
              <a:t>·  </a:t>
            </a:r>
            <a:r>
              <a:rPr lang="en-US" sz="1000" dirty="0">
                <a:solidFill>
                  <a:srgbClr val="1A202C"/>
                </a:solidFill>
                <a:latin typeface="Malgun Gothic" pitchFamily="34" charset="0"/>
                <a:ea typeface="Malgun Gothic" pitchFamily="34" charset="-122"/>
                <a:cs typeface="Malgun Gothic" pitchFamily="34" charset="-120"/>
              </a:rPr>
              <a:t>scale  s ∈ ℝ³ 와 rotation quaternion  q ∈ ℝ⁴ 를 대신 학습한다. ①  scale 3개를 대각 행렬 S에 넣고  R·S  로 L 을 만든다 (R은 q로부터 변환). ②  L · Lᵀ 한 줄로 Σ = R S Sᵀ Rᵀ 를 얻는다 — PSD가 수학적으로 자동 보장.</a:t>
            </a:r>
            <a:endParaRPr lang="en-US" sz="1000" dirty="0"/>
          </a:p>
        </p:txBody>
      </p:sp>
      <p:sp>
        <p:nvSpPr>
          <p:cNvPr id="28" name="Text 25"/>
          <p:cNvSpPr/>
          <p:nvPr/>
        </p:nvSpPr>
        <p:spPr>
          <a:xfrm>
            <a:off x="11064240" y="649224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Malgun Gothic" pitchFamily="34" charset="0"/>
                <a:ea typeface="Malgun Gothic" pitchFamily="34" charset="-122"/>
                <a:cs typeface="Malgun Gothic" pitchFamily="34" charset="-120"/>
              </a:rPr>
              <a:t>6 / 13</a:t>
            </a:r>
            <a:endParaRPr lang="en-US" sz="1000" dirty="0"/>
          </a:p>
        </p:txBody>
      </p:sp>
      <p:sp>
        <p:nvSpPr>
          <p:cNvPr id="29" name="왼쪽 화살표[L] 28">
            <a:extLst>
              <a:ext uri="{FF2B5EF4-FFF2-40B4-BE49-F238E27FC236}">
                <a16:creationId xmlns:a16="http://schemas.microsoft.com/office/drawing/2014/main" id="{C0E2DD10-F6CF-F257-2329-BBC524EA7D15}"/>
              </a:ext>
            </a:extLst>
          </p:cNvPr>
          <p:cNvSpPr/>
          <p:nvPr/>
        </p:nvSpPr>
        <p:spPr>
          <a:xfrm>
            <a:off x="4039262" y="4336046"/>
            <a:ext cx="242515" cy="219456"/>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0" name="왼쪽 화살표[L] 29">
            <a:extLst>
              <a:ext uri="{FF2B5EF4-FFF2-40B4-BE49-F238E27FC236}">
                <a16:creationId xmlns:a16="http://schemas.microsoft.com/office/drawing/2014/main" id="{2F1594D9-E6B9-8FD7-7728-EDCC11BBF76F}"/>
              </a:ext>
            </a:extLst>
          </p:cNvPr>
          <p:cNvSpPr/>
          <p:nvPr/>
        </p:nvSpPr>
        <p:spPr>
          <a:xfrm>
            <a:off x="4084982" y="5552198"/>
            <a:ext cx="242515" cy="219456"/>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74320"/>
          </a:xfrm>
          <a:prstGeom prst="rect">
            <a:avLst/>
          </a:prstGeom>
          <a:noFill/>
          <a:ln/>
        </p:spPr>
        <p:txBody>
          <a:bodyPr wrap="square" lIns="0" tIns="0" rIns="0" bIns="0" rtlCol="0" anchor="ctr"/>
          <a:lstStyle/>
          <a:p>
            <a:pPr marL="0" indent="0">
              <a:buNone/>
            </a:pPr>
            <a:r>
              <a:rPr lang="en-US" sz="1100" b="1" kern="0" spc="200" dirty="0">
                <a:solidFill>
                  <a:srgbClr val="1E40AF"/>
                </a:solidFill>
                <a:latin typeface="Malgun Gothic" pitchFamily="34" charset="0"/>
                <a:ea typeface="Malgun Gothic" pitchFamily="34" charset="-122"/>
                <a:cs typeface="Malgun Gothic" pitchFamily="34" charset="-120"/>
              </a:rPr>
              <a:t>06. 논문 ↔ 코드 리뷰 ②</a:t>
            </a:r>
            <a:endParaRPr lang="en-US" sz="1100" dirty="0"/>
          </a:p>
        </p:txBody>
      </p:sp>
      <p:sp>
        <p:nvSpPr>
          <p:cNvPr id="3" name="Text 1"/>
          <p:cNvSpPr/>
          <p:nvPr/>
        </p:nvSpPr>
        <p:spPr>
          <a:xfrm>
            <a:off x="640080" y="640080"/>
            <a:ext cx="10972800" cy="548640"/>
          </a:xfrm>
          <a:prstGeom prst="rect">
            <a:avLst/>
          </a:prstGeom>
          <a:noFill/>
          <a:ln/>
        </p:spPr>
        <p:txBody>
          <a:bodyPr wrap="square" lIns="0" tIns="0" rIns="0" bIns="0" rtlCol="0" anchor="ctr"/>
          <a:lstStyle/>
          <a:p>
            <a:pPr marL="0" indent="0">
              <a:buNone/>
            </a:pPr>
            <a:r>
              <a:rPr lang="en-US" sz="2400" b="1" dirty="0">
                <a:solidFill>
                  <a:srgbClr val="111827"/>
                </a:solidFill>
                <a:latin typeface="Malgun Gothic" pitchFamily="34" charset="0"/>
                <a:ea typeface="Malgun Gothic" pitchFamily="34" charset="-122"/>
                <a:cs typeface="Malgun Gothic" pitchFamily="34" charset="-120"/>
              </a:rPr>
              <a:t>2D Projection via EWA Splatting</a:t>
            </a:r>
            <a:endParaRPr lang="en-US" sz="2400" dirty="0"/>
          </a:p>
        </p:txBody>
      </p:sp>
      <p:sp>
        <p:nvSpPr>
          <p:cNvPr id="4" name="Shape 2"/>
          <p:cNvSpPr/>
          <p:nvPr/>
        </p:nvSpPr>
        <p:spPr>
          <a:xfrm>
            <a:off x="640080" y="1280160"/>
            <a:ext cx="10881360" cy="0"/>
          </a:xfrm>
          <a:prstGeom prst="line">
            <a:avLst/>
          </a:prstGeom>
          <a:noFill/>
          <a:ln w="9525">
            <a:solidFill>
              <a:srgbClr val="D1D5DB"/>
            </a:solidFill>
            <a:prstDash val="solid"/>
          </a:ln>
        </p:spPr>
        <p:txBody>
          <a:bodyPr/>
          <a:lstStyle/>
          <a:p>
            <a:endParaRPr lang="ko-KR" altLang="en-US"/>
          </a:p>
        </p:txBody>
      </p:sp>
      <p:sp>
        <p:nvSpPr>
          <p:cNvPr id="5" name="Shape 3"/>
          <p:cNvSpPr/>
          <p:nvPr/>
        </p:nvSpPr>
        <p:spPr>
          <a:xfrm>
            <a:off x="640080" y="1417320"/>
            <a:ext cx="6309360" cy="1783080"/>
          </a:xfrm>
          <a:prstGeom prst="rect">
            <a:avLst/>
          </a:prstGeom>
          <a:solidFill>
            <a:srgbClr val="F0FDF4"/>
          </a:solidFill>
          <a:ln w="9525">
            <a:solidFill>
              <a:srgbClr val="BBF7D0"/>
            </a:solidFill>
            <a:prstDash val="solid"/>
          </a:ln>
        </p:spPr>
        <p:txBody>
          <a:bodyPr/>
          <a:lstStyle/>
          <a:p>
            <a:endParaRPr lang="ko-KR" altLang="en-US"/>
          </a:p>
        </p:txBody>
      </p:sp>
      <p:sp>
        <p:nvSpPr>
          <p:cNvPr id="6" name="Shape 4"/>
          <p:cNvSpPr/>
          <p:nvPr/>
        </p:nvSpPr>
        <p:spPr>
          <a:xfrm>
            <a:off x="640080" y="1417320"/>
            <a:ext cx="73152" cy="1783080"/>
          </a:xfrm>
          <a:prstGeom prst="rect">
            <a:avLst/>
          </a:prstGeom>
          <a:solidFill>
            <a:srgbClr val="065F46"/>
          </a:solidFill>
          <a:ln/>
        </p:spPr>
        <p:txBody>
          <a:bodyPr/>
          <a:lstStyle/>
          <a:p>
            <a:endParaRPr lang="ko-KR" altLang="en-US"/>
          </a:p>
        </p:txBody>
      </p:sp>
      <p:sp>
        <p:nvSpPr>
          <p:cNvPr id="7" name="Text 5"/>
          <p:cNvSpPr/>
          <p:nvPr/>
        </p:nvSpPr>
        <p:spPr>
          <a:xfrm>
            <a:off x="841248" y="1527048"/>
            <a:ext cx="914400" cy="274320"/>
          </a:xfrm>
          <a:prstGeom prst="rect">
            <a:avLst/>
          </a:prstGeom>
          <a:noFill/>
          <a:ln/>
        </p:spPr>
        <p:txBody>
          <a:bodyPr wrap="square" lIns="0" tIns="0" rIns="0" bIns="0" rtlCol="0" anchor="ctr"/>
          <a:lstStyle/>
          <a:p>
            <a:pPr marL="0" indent="0">
              <a:buNone/>
            </a:pPr>
            <a:r>
              <a:rPr lang="en-US" sz="1000" b="1" kern="0" spc="300" dirty="0">
                <a:solidFill>
                  <a:srgbClr val="065F46"/>
                </a:solidFill>
                <a:latin typeface="Calibri" pitchFamily="34" charset="0"/>
                <a:ea typeface="Calibri" pitchFamily="34" charset="-122"/>
                <a:cs typeface="Calibri" pitchFamily="34" charset="-120"/>
              </a:rPr>
              <a:t>PAPER</a:t>
            </a:r>
            <a:endParaRPr lang="en-US" sz="1000" dirty="0"/>
          </a:p>
        </p:txBody>
      </p:sp>
      <p:sp>
        <p:nvSpPr>
          <p:cNvPr id="8" name="Text 6"/>
          <p:cNvSpPr/>
          <p:nvPr/>
        </p:nvSpPr>
        <p:spPr>
          <a:xfrm>
            <a:off x="1783080" y="1527048"/>
            <a:ext cx="5029200" cy="27432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Kerbl et al. 2023, Section 4  (citing Zwicker et al., EWA, 2001)</a:t>
            </a:r>
            <a:endParaRPr lang="en-US" sz="1000" dirty="0"/>
          </a:p>
        </p:txBody>
      </p:sp>
      <p:sp>
        <p:nvSpPr>
          <p:cNvPr id="9" name="Text 7"/>
          <p:cNvSpPr/>
          <p:nvPr/>
        </p:nvSpPr>
        <p:spPr>
          <a:xfrm>
            <a:off x="868680" y="1856232"/>
            <a:ext cx="5943600" cy="548640"/>
          </a:xfrm>
          <a:prstGeom prst="rect">
            <a:avLst/>
          </a:prstGeom>
          <a:noFill/>
          <a:ln/>
        </p:spPr>
        <p:txBody>
          <a:bodyPr wrap="square" lIns="0" tIns="0" rIns="0" bIns="0" rtlCol="0" anchor="t"/>
          <a:lstStyle/>
          <a:p>
            <a:pPr marL="0" indent="0">
              <a:buNone/>
            </a:pPr>
            <a:r>
              <a:rPr lang="en-US" sz="1100" dirty="0">
                <a:solidFill>
                  <a:srgbClr val="1A202C"/>
                </a:solidFill>
                <a:latin typeface="Malgun Gothic" pitchFamily="34" charset="0"/>
                <a:ea typeface="Malgun Gothic" pitchFamily="34" charset="-122"/>
                <a:cs typeface="Malgun Gothic" pitchFamily="34" charset="-120"/>
              </a:rPr>
              <a:t>Perspective projection은 비선형이라 3D Gaussian이 정확한 2D로 투영되지 않는다. → Jacobian J로 1차 근사 + view matrix 회전 W:</a:t>
            </a:r>
            <a:endParaRPr lang="en-US" sz="1100" dirty="0"/>
          </a:p>
        </p:txBody>
      </p:sp>
      <p:sp>
        <p:nvSpPr>
          <p:cNvPr id="10" name="Shape 8"/>
          <p:cNvSpPr/>
          <p:nvPr/>
        </p:nvSpPr>
        <p:spPr>
          <a:xfrm>
            <a:off x="868680" y="2450592"/>
            <a:ext cx="5943600" cy="457200"/>
          </a:xfrm>
          <a:prstGeom prst="rect">
            <a:avLst/>
          </a:prstGeom>
          <a:solidFill>
            <a:srgbClr val="FFFFFF"/>
          </a:solidFill>
          <a:ln w="6350">
            <a:solidFill>
              <a:srgbClr val="D1D5DB"/>
            </a:solidFill>
            <a:prstDash val="solid"/>
          </a:ln>
        </p:spPr>
        <p:txBody>
          <a:bodyPr/>
          <a:lstStyle/>
          <a:p>
            <a:endParaRPr lang="ko-KR" altLang="en-US"/>
          </a:p>
        </p:txBody>
      </p:sp>
      <p:sp>
        <p:nvSpPr>
          <p:cNvPr id="11" name="Text 9"/>
          <p:cNvSpPr/>
          <p:nvPr/>
        </p:nvSpPr>
        <p:spPr>
          <a:xfrm>
            <a:off x="1005840" y="2450592"/>
            <a:ext cx="5669280" cy="457200"/>
          </a:xfrm>
          <a:prstGeom prst="rect">
            <a:avLst/>
          </a:prstGeom>
          <a:noFill/>
          <a:ln/>
        </p:spPr>
        <p:txBody>
          <a:bodyPr wrap="square" lIns="0" tIns="0" rIns="0" bIns="0" rtlCol="0" anchor="ctr"/>
          <a:lstStyle/>
          <a:p>
            <a:pPr marL="0" indent="0">
              <a:buNone/>
            </a:pPr>
            <a:r>
              <a:rPr lang="en-US" sz="1300" b="1" dirty="0">
                <a:solidFill>
                  <a:srgbClr val="065F46"/>
                </a:solidFill>
                <a:latin typeface="Consolas" pitchFamily="34" charset="0"/>
                <a:ea typeface="Consolas" pitchFamily="34" charset="-122"/>
                <a:cs typeface="Consolas" pitchFamily="34" charset="-120"/>
              </a:rPr>
              <a:t>Σ′  =  J · W · Σ · Wᵀ · Jᵀ</a:t>
            </a:r>
            <a:endParaRPr lang="en-US" sz="1300" dirty="0"/>
          </a:p>
        </p:txBody>
      </p:sp>
      <p:sp>
        <p:nvSpPr>
          <p:cNvPr id="12" name="Text 10"/>
          <p:cNvSpPr/>
          <p:nvPr/>
        </p:nvSpPr>
        <p:spPr>
          <a:xfrm>
            <a:off x="868680" y="2999232"/>
            <a:ext cx="5943600" cy="320040"/>
          </a:xfrm>
          <a:prstGeom prst="rect">
            <a:avLst/>
          </a:prstGeom>
          <a:noFill/>
          <a:ln/>
        </p:spPr>
        <p:txBody>
          <a:bodyPr wrap="square" lIns="0" tIns="0" rIns="0" bIns="0" rtlCol="0" anchor="t"/>
          <a:lstStyle/>
          <a:p>
            <a:pPr marL="0" indent="0">
              <a:buNone/>
            </a:pPr>
            <a:r>
              <a:rPr lang="en-US" sz="1000" b="1" dirty="0">
                <a:solidFill>
                  <a:srgbClr val="065F46"/>
                </a:solidFill>
                <a:latin typeface="Malgun Gothic" pitchFamily="34" charset="0"/>
                <a:ea typeface="Malgun Gothic" pitchFamily="34" charset="-122"/>
                <a:cs typeface="Malgun Gothic" pitchFamily="34" charset="-120"/>
              </a:rPr>
              <a:t>J</a:t>
            </a:r>
            <a:r>
              <a:rPr lang="en-US" sz="1000" dirty="0">
                <a:solidFill>
                  <a:srgbClr val="1A202C"/>
                </a:solidFill>
                <a:latin typeface="Malgun Gothic" pitchFamily="34" charset="0"/>
                <a:ea typeface="Malgun Gothic" pitchFamily="34" charset="-122"/>
                <a:cs typeface="Malgun Gothic" pitchFamily="34" charset="-120"/>
              </a:rPr>
              <a:t> : projection Jacobian    </a:t>
            </a:r>
            <a:r>
              <a:rPr lang="en-US" sz="1000" b="1" dirty="0">
                <a:solidFill>
                  <a:srgbClr val="065F46"/>
                </a:solidFill>
                <a:latin typeface="Malgun Gothic" pitchFamily="34" charset="0"/>
                <a:ea typeface="Malgun Gothic" pitchFamily="34" charset="-122"/>
                <a:cs typeface="Malgun Gothic" pitchFamily="34" charset="-120"/>
              </a:rPr>
              <a:t>W</a:t>
            </a:r>
            <a:r>
              <a:rPr lang="en-US" sz="1000" dirty="0">
                <a:solidFill>
                  <a:srgbClr val="1A202C"/>
                </a:solidFill>
                <a:latin typeface="Malgun Gothic" pitchFamily="34" charset="0"/>
                <a:ea typeface="Malgun Gothic" pitchFamily="34" charset="-122"/>
                <a:cs typeface="Malgun Gothic" pitchFamily="34" charset="-120"/>
              </a:rPr>
              <a:t> : world → camera 회전</a:t>
            </a:r>
            <a:endParaRPr lang="en-US" sz="1000" dirty="0"/>
          </a:p>
        </p:txBody>
      </p:sp>
      <p:pic>
        <p:nvPicPr>
          <p:cNvPr id="13" name="Image 0" descr="/home/claude/output2/viz_ewa_projection.png"/>
          <p:cNvPicPr>
            <a:picLocks noChangeAspect="1"/>
          </p:cNvPicPr>
          <p:nvPr/>
        </p:nvPicPr>
        <p:blipFill>
          <a:blip r:embed="rId3"/>
          <a:stretch>
            <a:fillRect/>
          </a:stretch>
        </p:blipFill>
        <p:spPr>
          <a:xfrm>
            <a:off x="6903720" y="1417320"/>
            <a:ext cx="4709160" cy="4251960"/>
          </a:xfrm>
          <a:prstGeom prst="rect">
            <a:avLst/>
          </a:prstGeom>
        </p:spPr>
      </p:pic>
      <p:sp>
        <p:nvSpPr>
          <p:cNvPr id="14" name="Shape 11"/>
          <p:cNvSpPr/>
          <p:nvPr/>
        </p:nvSpPr>
        <p:spPr>
          <a:xfrm>
            <a:off x="640080" y="3291840"/>
            <a:ext cx="6126480" cy="2514600"/>
          </a:xfrm>
          <a:prstGeom prst="rect">
            <a:avLst/>
          </a:prstGeom>
          <a:solidFill>
            <a:srgbClr val="EFF6FF"/>
          </a:solidFill>
          <a:ln w="9525">
            <a:solidFill>
              <a:srgbClr val="BFDBFE"/>
            </a:solidFill>
            <a:prstDash val="solid"/>
          </a:ln>
        </p:spPr>
        <p:txBody>
          <a:bodyPr/>
          <a:lstStyle/>
          <a:p>
            <a:endParaRPr lang="ko-KR" altLang="en-US"/>
          </a:p>
        </p:txBody>
      </p:sp>
      <p:sp>
        <p:nvSpPr>
          <p:cNvPr id="15" name="Shape 12"/>
          <p:cNvSpPr/>
          <p:nvPr/>
        </p:nvSpPr>
        <p:spPr>
          <a:xfrm>
            <a:off x="640080" y="3291840"/>
            <a:ext cx="73152" cy="2514600"/>
          </a:xfrm>
          <a:prstGeom prst="rect">
            <a:avLst/>
          </a:prstGeom>
          <a:solidFill>
            <a:srgbClr val="1E40AF"/>
          </a:solidFill>
          <a:ln/>
        </p:spPr>
        <p:txBody>
          <a:bodyPr/>
          <a:lstStyle/>
          <a:p>
            <a:endParaRPr lang="ko-KR" altLang="en-US"/>
          </a:p>
        </p:txBody>
      </p:sp>
      <p:sp>
        <p:nvSpPr>
          <p:cNvPr id="16" name="Text 13"/>
          <p:cNvSpPr/>
          <p:nvPr/>
        </p:nvSpPr>
        <p:spPr>
          <a:xfrm>
            <a:off x="841248" y="3401568"/>
            <a:ext cx="914400" cy="274320"/>
          </a:xfrm>
          <a:prstGeom prst="rect">
            <a:avLst/>
          </a:prstGeom>
          <a:noFill/>
          <a:ln/>
        </p:spPr>
        <p:txBody>
          <a:bodyPr wrap="square" lIns="0" tIns="0" rIns="0" bIns="0" rtlCol="0" anchor="ctr"/>
          <a:lstStyle/>
          <a:p>
            <a:pPr marL="0" indent="0">
              <a:buNone/>
            </a:pPr>
            <a:r>
              <a:rPr lang="en-US" sz="1000" b="1" kern="0" spc="300" dirty="0">
                <a:solidFill>
                  <a:srgbClr val="1E40AF"/>
                </a:solidFill>
                <a:latin typeface="Calibri" pitchFamily="34" charset="0"/>
                <a:ea typeface="Calibri" pitchFamily="34" charset="-122"/>
                <a:cs typeface="Calibri" pitchFamily="34" charset="-120"/>
              </a:rPr>
              <a:t>CODE</a:t>
            </a:r>
            <a:endParaRPr lang="en-US" sz="1000" dirty="0"/>
          </a:p>
        </p:txBody>
      </p:sp>
      <p:sp>
        <p:nvSpPr>
          <p:cNvPr id="17" name="Text 14"/>
          <p:cNvSpPr/>
          <p:nvPr/>
        </p:nvSpPr>
        <p:spPr>
          <a:xfrm>
            <a:off x="1463040" y="3401568"/>
            <a:ext cx="5212080" cy="274320"/>
          </a:xfrm>
          <a:prstGeom prst="rect">
            <a:avLst/>
          </a:prstGeom>
          <a:noFill/>
          <a:ln/>
        </p:spPr>
        <p:txBody>
          <a:bodyPr wrap="square" lIns="0" tIns="0" rIns="0" bIns="0" rtlCol="0" anchor="ctr"/>
          <a:lstStyle/>
          <a:p>
            <a:pPr marL="0" indent="0">
              <a:buNone/>
            </a:pPr>
            <a:r>
              <a:rPr lang="en-US" sz="1000" i="1" dirty="0">
                <a:solidFill>
                  <a:srgbClr val="6B7280"/>
                </a:solidFill>
                <a:latin typeface="Consolas" pitchFamily="34" charset="0"/>
                <a:ea typeface="Consolas" pitchFamily="34" charset="-122"/>
                <a:cs typeface="Consolas" pitchFamily="34" charset="-120"/>
              </a:rPr>
              <a:t>diff-gaussian-rasterization/cuda_rasterizer/forward.cu</a:t>
            </a:r>
            <a:endParaRPr lang="en-US" sz="1000" dirty="0"/>
          </a:p>
        </p:txBody>
      </p:sp>
      <p:sp>
        <p:nvSpPr>
          <p:cNvPr id="18" name="Shape 15"/>
          <p:cNvSpPr/>
          <p:nvPr/>
        </p:nvSpPr>
        <p:spPr>
          <a:xfrm>
            <a:off x="868680" y="3730752"/>
            <a:ext cx="5760720" cy="1965960"/>
          </a:xfrm>
          <a:prstGeom prst="rect">
            <a:avLst/>
          </a:prstGeom>
          <a:solidFill>
            <a:srgbClr val="F3F4F6"/>
          </a:solidFill>
          <a:ln/>
        </p:spPr>
        <p:txBody>
          <a:bodyPr/>
          <a:lstStyle/>
          <a:p>
            <a:endParaRPr lang="ko-KR" altLang="en-US"/>
          </a:p>
        </p:txBody>
      </p:sp>
      <p:sp>
        <p:nvSpPr>
          <p:cNvPr id="19" name="Text 16"/>
          <p:cNvSpPr/>
          <p:nvPr/>
        </p:nvSpPr>
        <p:spPr>
          <a:xfrm>
            <a:off x="960120" y="3803904"/>
            <a:ext cx="5577840" cy="1819656"/>
          </a:xfrm>
          <a:prstGeom prst="rect">
            <a:avLst/>
          </a:prstGeom>
          <a:noFill/>
          <a:ln/>
        </p:spPr>
        <p:txBody>
          <a:bodyPr wrap="square" lIns="0" tIns="0" rIns="0" bIns="0" rtlCol="0" anchor="t"/>
          <a:lstStyle/>
          <a:p>
            <a:pPr marL="0" indent="0">
              <a:buNone/>
            </a:pPr>
            <a:r>
              <a:rPr lang="en-US" sz="900" dirty="0">
                <a:solidFill>
                  <a:srgbClr val="111827"/>
                </a:solidFill>
                <a:latin typeface="Consolas" pitchFamily="34" charset="0"/>
                <a:ea typeface="Consolas" pitchFamily="34" charset="-122"/>
                <a:cs typeface="Consolas" pitchFamily="34" charset="-120"/>
              </a:rPr>
              <a:t>// EWA Splatting (Zwicker 2002), eq. 29 &amp; 31</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Build Jacobian matrix J (2x3)</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glm::mat3 J = glm::mat3(</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focal_x/t.z, 0.0f, -(focal_x*t.x)/(t.z*t.z),</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0.0f, focal_y/t.z, -(focal_y*t.y)/(t.z*t.z),</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0, 0, 0);</a:t>
            </a:r>
            <a:endParaRPr lang="en-US" sz="900" dirty="0"/>
          </a:p>
          <a:p>
            <a:pPr marL="0" indent="0">
              <a:buNone/>
            </a:pP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View matrix rotation W and 3D cov</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glm::mat3 W   = glm::mat3(/*vm[0..10]*/);</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glm::mat3 Vrk = glm::mat3(/*cov3D*/);</a:t>
            </a:r>
            <a:endParaRPr lang="en-US" sz="900" dirty="0"/>
          </a:p>
          <a:p>
            <a:pPr marL="0" indent="0">
              <a:buNone/>
            </a:pP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T = W · J   and   Σ′ = Tᵀ Σ T</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glm::mat3 T   = W * J;</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glm::mat3 cov = glm::transpose(T) *</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glm::transpose(Vrk) * T;</a:t>
            </a:r>
            <a:endParaRPr lang="en-US" sz="900" dirty="0"/>
          </a:p>
        </p:txBody>
      </p:sp>
      <p:sp>
        <p:nvSpPr>
          <p:cNvPr id="20" name="Text 17"/>
          <p:cNvSpPr/>
          <p:nvPr/>
        </p:nvSpPr>
        <p:spPr>
          <a:xfrm>
            <a:off x="4526280" y="4287343"/>
            <a:ext cx="2468880" cy="219456"/>
          </a:xfrm>
          <a:prstGeom prst="rect">
            <a:avLst/>
          </a:prstGeom>
          <a:noFill/>
          <a:ln/>
        </p:spPr>
        <p:txBody>
          <a:bodyPr wrap="square" lIns="0" tIns="0" rIns="0" bIns="0" rtlCol="0" anchor="ctr"/>
          <a:lstStyle/>
          <a:p>
            <a:pPr marL="0" indent="0">
              <a:buNone/>
            </a:pPr>
            <a:r>
              <a:rPr lang="ko-KR" altLang="en-US" sz="900" b="1" dirty="0">
                <a:solidFill>
                  <a:srgbClr val="DC2626"/>
                </a:solidFill>
                <a:latin typeface="Consolas" pitchFamily="34" charset="0"/>
                <a:ea typeface="Consolas" pitchFamily="34" charset="-122"/>
                <a:cs typeface="Consolas" pitchFamily="34" charset="-120"/>
              </a:rPr>
              <a:t> </a:t>
            </a:r>
            <a:r>
              <a:rPr lang="en-US" altLang="ko-KR" sz="900" b="1" dirty="0">
                <a:solidFill>
                  <a:srgbClr val="DC2626"/>
                </a:solidFill>
                <a:latin typeface="Malgun Gothic" pitchFamily="34" charset="0"/>
                <a:ea typeface="Malgun Gothic" pitchFamily="34" charset="-122"/>
                <a:cs typeface="Malgun Gothic" pitchFamily="34" charset="-120"/>
              </a:rPr>
              <a:t> </a:t>
            </a:r>
            <a:r>
              <a:rPr lang="en-US" altLang="ko-KR" sz="900" b="1" dirty="0">
                <a:solidFill>
                  <a:srgbClr val="B91C1C"/>
                </a:solidFill>
                <a:latin typeface="Malgun Gothic" pitchFamily="34" charset="0"/>
                <a:ea typeface="Malgun Gothic" pitchFamily="34" charset="-122"/>
                <a:cs typeface="Malgun Gothic" pitchFamily="34" charset="-120"/>
              </a:rPr>
              <a:t>Jacobian J — </a:t>
            </a:r>
            <a:r>
              <a:rPr lang="en-US" altLang="ko-KR" sz="900" b="1" dirty="0" err="1">
                <a:solidFill>
                  <a:srgbClr val="B91C1C"/>
                </a:solidFill>
                <a:latin typeface="Malgun Gothic" pitchFamily="34" charset="0"/>
                <a:ea typeface="Malgun Gothic" pitchFamily="34" charset="-122"/>
                <a:cs typeface="Malgun Gothic" pitchFamily="34" charset="-120"/>
              </a:rPr>
              <a:t>곡선</a:t>
            </a:r>
            <a:r>
              <a:rPr lang="en-US" altLang="ko-KR" sz="900" b="1" dirty="0">
                <a:solidFill>
                  <a:srgbClr val="B91C1C"/>
                </a:solidFill>
                <a:latin typeface="Malgun Gothic" pitchFamily="34" charset="0"/>
                <a:ea typeface="Malgun Gothic" pitchFamily="34" charset="-122"/>
                <a:cs typeface="Malgun Gothic" pitchFamily="34" charset="-120"/>
              </a:rPr>
              <a:t> </a:t>
            </a:r>
            <a:r>
              <a:rPr lang="en-US" altLang="ko-KR" sz="900" b="1" dirty="0" err="1">
                <a:solidFill>
                  <a:srgbClr val="B91C1C"/>
                </a:solidFill>
                <a:latin typeface="Malgun Gothic" pitchFamily="34" charset="0"/>
                <a:ea typeface="Malgun Gothic" pitchFamily="34" charset="-122"/>
                <a:cs typeface="Malgun Gothic" pitchFamily="34" charset="-120"/>
              </a:rPr>
              <a:t>투영을</a:t>
            </a:r>
            <a:r>
              <a:rPr lang="en-US" altLang="ko-KR" sz="900" b="1" dirty="0">
                <a:solidFill>
                  <a:srgbClr val="B91C1C"/>
                </a:solidFill>
                <a:latin typeface="Malgun Gothic" pitchFamily="34" charset="0"/>
                <a:ea typeface="Malgun Gothic" pitchFamily="34" charset="-122"/>
                <a:cs typeface="Malgun Gothic" pitchFamily="34" charset="-120"/>
              </a:rPr>
              <a:t> </a:t>
            </a:r>
            <a:r>
              <a:rPr lang="en-US" altLang="ko-KR" sz="900" b="1" dirty="0" err="1">
                <a:solidFill>
                  <a:srgbClr val="B91C1C"/>
                </a:solidFill>
                <a:latin typeface="Malgun Gothic" pitchFamily="34" charset="0"/>
                <a:ea typeface="Malgun Gothic" pitchFamily="34" charset="-122"/>
                <a:cs typeface="Malgun Gothic" pitchFamily="34" charset="-120"/>
              </a:rPr>
              <a:t>직선으로</a:t>
            </a:r>
            <a:r>
              <a:rPr lang="en-US" altLang="ko-KR" sz="900" b="1" dirty="0">
                <a:solidFill>
                  <a:srgbClr val="B91C1C"/>
                </a:solidFill>
                <a:latin typeface="Malgun Gothic" pitchFamily="34" charset="0"/>
                <a:ea typeface="Malgun Gothic" pitchFamily="34" charset="-122"/>
                <a:cs typeface="Malgun Gothic" pitchFamily="34" charset="-120"/>
              </a:rPr>
              <a:t> </a:t>
            </a:r>
            <a:r>
              <a:rPr lang="en-US" altLang="ko-KR" sz="900" b="1" dirty="0" err="1">
                <a:solidFill>
                  <a:srgbClr val="B91C1C"/>
                </a:solidFill>
                <a:latin typeface="Malgun Gothic" pitchFamily="34" charset="0"/>
                <a:ea typeface="Malgun Gothic" pitchFamily="34" charset="-122"/>
                <a:cs typeface="Malgun Gothic" pitchFamily="34" charset="-120"/>
              </a:rPr>
              <a:t>근사</a:t>
            </a:r>
            <a:endParaRPr lang="en-US" sz="900" dirty="0"/>
          </a:p>
        </p:txBody>
      </p:sp>
      <p:sp>
        <p:nvSpPr>
          <p:cNvPr id="21" name="Text 18"/>
          <p:cNvSpPr/>
          <p:nvPr/>
        </p:nvSpPr>
        <p:spPr>
          <a:xfrm>
            <a:off x="4160520" y="5470398"/>
            <a:ext cx="2468880" cy="219456"/>
          </a:xfrm>
          <a:prstGeom prst="rect">
            <a:avLst/>
          </a:prstGeom>
          <a:noFill/>
          <a:ln/>
        </p:spPr>
        <p:txBody>
          <a:bodyPr wrap="square" lIns="0" tIns="0" rIns="0" bIns="0" rtlCol="0" anchor="ctr"/>
          <a:lstStyle/>
          <a:p>
            <a:pPr marL="0" indent="0">
              <a:buNone/>
            </a:pPr>
            <a:r>
              <a:rPr lang="ko-KR" altLang="en-US" sz="900" b="1" dirty="0">
                <a:solidFill>
                  <a:srgbClr val="DC2626"/>
                </a:solidFill>
                <a:latin typeface="Consolas" pitchFamily="34" charset="0"/>
                <a:ea typeface="Consolas" pitchFamily="34" charset="-122"/>
                <a:cs typeface="Consolas" pitchFamily="34" charset="-120"/>
              </a:rPr>
              <a:t>   </a:t>
            </a:r>
            <a:r>
              <a:rPr lang="en-US" sz="900" b="1" dirty="0">
                <a:solidFill>
                  <a:srgbClr val="DC2626"/>
                </a:solidFill>
                <a:latin typeface="Consolas" pitchFamily="34" charset="0"/>
                <a:ea typeface="Consolas" pitchFamily="34" charset="-122"/>
                <a:cs typeface="Consolas" pitchFamily="34" charset="-120"/>
              </a:rPr>
              <a:t> </a:t>
            </a:r>
            <a:r>
              <a:rPr lang="en-US" sz="900" b="1" dirty="0">
                <a:solidFill>
                  <a:srgbClr val="DC2626"/>
                </a:solidFill>
                <a:latin typeface="Malgun Gothic" pitchFamily="34" charset="0"/>
                <a:ea typeface="Malgun Gothic" pitchFamily="34" charset="-122"/>
                <a:cs typeface="Malgun Gothic" pitchFamily="34" charset="-120"/>
              </a:rPr>
              <a:t> </a:t>
            </a:r>
            <a:r>
              <a:rPr lang="en-US" sz="900" b="1" dirty="0">
                <a:solidFill>
                  <a:srgbClr val="B91C1C"/>
                </a:solidFill>
                <a:latin typeface="Malgun Gothic" pitchFamily="34" charset="0"/>
                <a:ea typeface="Malgun Gothic" pitchFamily="34" charset="-122"/>
                <a:cs typeface="Malgun Gothic" pitchFamily="34" charset="-120"/>
              </a:rPr>
              <a:t>T = W·J  (</a:t>
            </a:r>
            <a:r>
              <a:rPr lang="en-US" sz="900" b="1" dirty="0" err="1">
                <a:solidFill>
                  <a:srgbClr val="B91C1C"/>
                </a:solidFill>
                <a:latin typeface="Malgun Gothic" pitchFamily="34" charset="0"/>
                <a:ea typeface="Malgun Gothic" pitchFamily="34" charset="-122"/>
                <a:cs typeface="Malgun Gothic" pitchFamily="34" charset="-120"/>
              </a:rPr>
              <a:t>행렬</a:t>
            </a:r>
            <a:r>
              <a:rPr lang="en-US" sz="900" b="1" dirty="0">
                <a:solidFill>
                  <a:srgbClr val="B91C1C"/>
                </a:solidFill>
                <a:latin typeface="Malgun Gothic" pitchFamily="34" charset="0"/>
                <a:ea typeface="Malgun Gothic" pitchFamily="34" charset="-122"/>
                <a:cs typeface="Malgun Gothic" pitchFamily="34" charset="-120"/>
              </a:rPr>
              <a:t> </a:t>
            </a:r>
            <a:r>
              <a:rPr lang="en-US" sz="900" b="1" dirty="0" err="1">
                <a:solidFill>
                  <a:srgbClr val="B91C1C"/>
                </a:solidFill>
                <a:latin typeface="Malgun Gothic" pitchFamily="34" charset="0"/>
                <a:ea typeface="Malgun Gothic" pitchFamily="34" charset="-122"/>
                <a:cs typeface="Malgun Gothic" pitchFamily="34" charset="-120"/>
              </a:rPr>
              <a:t>결합</a:t>
            </a:r>
            <a:r>
              <a:rPr lang="en-US" altLang="ko-KR" sz="900" b="1" dirty="0">
                <a:solidFill>
                  <a:srgbClr val="B91C1C"/>
                </a:solidFill>
                <a:latin typeface="Malgun Gothic" pitchFamily="34" charset="0"/>
                <a:ea typeface="Malgun Gothic" pitchFamily="34" charset="-122"/>
                <a:cs typeface="Malgun Gothic" pitchFamily="34" charset="-120"/>
              </a:rPr>
              <a:t>, (</a:t>
            </a:r>
            <a:r>
              <a:rPr lang="en-US" altLang="ko-KR" sz="900" b="1" dirty="0" err="1">
                <a:solidFill>
                  <a:srgbClr val="B91C1C"/>
                </a:solidFill>
                <a:latin typeface="Malgun Gothic" pitchFamily="34" charset="0"/>
                <a:ea typeface="Malgun Gothic" pitchFamily="34" charset="-122"/>
                <a:cs typeface="Malgun Gothic" pitchFamily="34" charset="-120"/>
              </a:rPr>
              <a:t>뷰</a:t>
            </a:r>
            <a:r>
              <a:rPr lang="en-US" altLang="ko-KR" sz="900" b="1" dirty="0">
                <a:solidFill>
                  <a:srgbClr val="B91C1C"/>
                </a:solidFill>
                <a:latin typeface="Malgun Gothic" pitchFamily="34" charset="0"/>
                <a:ea typeface="Malgun Gothic" pitchFamily="34" charset="-122"/>
                <a:cs typeface="Malgun Gothic" pitchFamily="34" charset="-120"/>
              </a:rPr>
              <a:t> </a:t>
            </a:r>
            <a:r>
              <a:rPr lang="en-US" altLang="ko-KR" sz="900" b="1" dirty="0" err="1">
                <a:solidFill>
                  <a:srgbClr val="B91C1C"/>
                </a:solidFill>
                <a:latin typeface="Malgun Gothic" pitchFamily="34" charset="0"/>
                <a:ea typeface="Malgun Gothic" pitchFamily="34" charset="-122"/>
                <a:cs typeface="Malgun Gothic" pitchFamily="34" charset="-120"/>
              </a:rPr>
              <a:t>회전</a:t>
            </a:r>
            <a:r>
              <a:rPr lang="en-US" altLang="ko-KR" sz="900" b="1" dirty="0">
                <a:solidFill>
                  <a:srgbClr val="B91C1C"/>
                </a:solidFill>
                <a:latin typeface="Malgun Gothic" pitchFamily="34" charset="0"/>
                <a:ea typeface="Malgun Gothic" pitchFamily="34" charset="-122"/>
                <a:cs typeface="Malgun Gothic" pitchFamily="34" charset="-120"/>
              </a:rPr>
              <a:t> × </a:t>
            </a:r>
            <a:r>
              <a:rPr lang="en-US" altLang="ko-KR" sz="900" b="1" dirty="0" err="1">
                <a:solidFill>
                  <a:srgbClr val="B91C1C"/>
                </a:solidFill>
                <a:latin typeface="Malgun Gothic" pitchFamily="34" charset="0"/>
                <a:ea typeface="Malgun Gothic" pitchFamily="34" charset="-122"/>
                <a:cs typeface="Malgun Gothic" pitchFamily="34" charset="-120"/>
              </a:rPr>
              <a:t>투영</a:t>
            </a:r>
            <a:r>
              <a:rPr lang="en-US" altLang="ko-KR" sz="900" b="1" dirty="0">
                <a:solidFill>
                  <a:srgbClr val="B91C1C"/>
                </a:solidFill>
                <a:latin typeface="Malgun Gothic" pitchFamily="34" charset="0"/>
                <a:ea typeface="Malgun Gothic" pitchFamily="34" charset="-122"/>
                <a:cs typeface="Malgun Gothic" pitchFamily="34" charset="-120"/>
              </a:rPr>
              <a:t>)</a:t>
            </a:r>
            <a:r>
              <a:rPr lang="en-US" sz="900" b="1" dirty="0">
                <a:solidFill>
                  <a:srgbClr val="B91C1C"/>
                </a:solidFill>
                <a:latin typeface="Malgun Gothic" pitchFamily="34" charset="0"/>
                <a:ea typeface="Malgun Gothic" pitchFamily="34" charset="-122"/>
                <a:cs typeface="Malgun Gothic" pitchFamily="34" charset="-120"/>
              </a:rPr>
              <a:t>)</a:t>
            </a:r>
            <a:endParaRPr lang="en-US" sz="900" dirty="0"/>
          </a:p>
        </p:txBody>
      </p:sp>
      <p:sp>
        <p:nvSpPr>
          <p:cNvPr id="22" name="Text 19"/>
          <p:cNvSpPr/>
          <p:nvPr/>
        </p:nvSpPr>
        <p:spPr>
          <a:xfrm>
            <a:off x="4160520" y="5682996"/>
            <a:ext cx="2468880" cy="219456"/>
          </a:xfrm>
          <a:prstGeom prst="rect">
            <a:avLst/>
          </a:prstGeom>
          <a:noFill/>
          <a:ln/>
        </p:spPr>
        <p:txBody>
          <a:bodyPr wrap="square" lIns="0" tIns="0" rIns="0" bIns="0" rtlCol="0" anchor="ctr"/>
          <a:lstStyle/>
          <a:p>
            <a:pPr marL="0" indent="0">
              <a:buNone/>
            </a:pPr>
            <a:r>
              <a:rPr lang="ko-KR" altLang="en-US" sz="900" b="1" dirty="0">
                <a:solidFill>
                  <a:srgbClr val="DC2626"/>
                </a:solidFill>
                <a:latin typeface="Consolas" pitchFamily="34" charset="0"/>
                <a:ea typeface="Consolas" pitchFamily="34" charset="-122"/>
                <a:cs typeface="Consolas" pitchFamily="34" charset="-120"/>
              </a:rPr>
              <a:t>   </a:t>
            </a:r>
            <a:r>
              <a:rPr lang="en-US" sz="900" b="1" dirty="0">
                <a:solidFill>
                  <a:srgbClr val="DC2626"/>
                </a:solidFill>
                <a:latin typeface="Consolas" pitchFamily="34" charset="0"/>
                <a:ea typeface="Consolas" pitchFamily="34" charset="-122"/>
                <a:cs typeface="Consolas" pitchFamily="34" charset="-120"/>
              </a:rPr>
              <a:t> </a:t>
            </a:r>
            <a:r>
              <a:rPr lang="en-US" sz="900" b="1" dirty="0">
                <a:solidFill>
                  <a:srgbClr val="DC2626"/>
                </a:solidFill>
                <a:latin typeface="Malgun Gothic" pitchFamily="34" charset="0"/>
                <a:ea typeface="Malgun Gothic" pitchFamily="34" charset="-122"/>
                <a:cs typeface="Malgun Gothic" pitchFamily="34" charset="-120"/>
              </a:rPr>
              <a:t> </a:t>
            </a:r>
            <a:r>
              <a:rPr lang="en-US" sz="900" b="1" dirty="0">
                <a:solidFill>
                  <a:srgbClr val="B91C1C"/>
                </a:solidFill>
                <a:latin typeface="Malgun Gothic" pitchFamily="34" charset="0"/>
                <a:ea typeface="Malgun Gothic" pitchFamily="34" charset="-122"/>
                <a:cs typeface="Malgun Gothic" pitchFamily="34" charset="-120"/>
              </a:rPr>
              <a:t>Σ′ = TᵀΣT  (2D 공분산)</a:t>
            </a:r>
            <a:endParaRPr lang="en-US" sz="900" dirty="0"/>
          </a:p>
        </p:txBody>
      </p:sp>
      <p:sp>
        <p:nvSpPr>
          <p:cNvPr id="23" name="Shape 20"/>
          <p:cNvSpPr/>
          <p:nvPr/>
        </p:nvSpPr>
        <p:spPr>
          <a:xfrm>
            <a:off x="640080" y="5852160"/>
            <a:ext cx="10881360" cy="1005840"/>
          </a:xfrm>
          <a:prstGeom prst="rect">
            <a:avLst/>
          </a:prstGeom>
          <a:solidFill>
            <a:srgbClr val="F9FAFB"/>
          </a:solidFill>
          <a:ln w="6350">
            <a:solidFill>
              <a:srgbClr val="D1D5DB"/>
            </a:solidFill>
            <a:prstDash val="solid"/>
          </a:ln>
        </p:spPr>
        <p:txBody>
          <a:bodyPr/>
          <a:lstStyle/>
          <a:p>
            <a:endParaRPr lang="ko-KR" altLang="en-US"/>
          </a:p>
        </p:txBody>
      </p:sp>
      <p:sp>
        <p:nvSpPr>
          <p:cNvPr id="24" name="Shape 21"/>
          <p:cNvSpPr/>
          <p:nvPr/>
        </p:nvSpPr>
        <p:spPr>
          <a:xfrm>
            <a:off x="640080" y="5852160"/>
            <a:ext cx="73152" cy="1005840"/>
          </a:xfrm>
          <a:prstGeom prst="rect">
            <a:avLst/>
          </a:prstGeom>
          <a:solidFill>
            <a:srgbClr val="1E40AF"/>
          </a:solidFill>
          <a:ln w="12700">
            <a:solidFill>
              <a:srgbClr val="1E40AF"/>
            </a:solidFill>
            <a:prstDash val="solid"/>
          </a:ln>
        </p:spPr>
        <p:txBody>
          <a:bodyPr/>
          <a:lstStyle/>
          <a:p>
            <a:endParaRPr lang="ko-KR" altLang="en-US"/>
          </a:p>
        </p:txBody>
      </p:sp>
      <p:sp>
        <p:nvSpPr>
          <p:cNvPr id="25" name="Text 22"/>
          <p:cNvSpPr/>
          <p:nvPr/>
        </p:nvSpPr>
        <p:spPr>
          <a:xfrm>
            <a:off x="868680" y="5897880"/>
            <a:ext cx="10561320" cy="292608"/>
          </a:xfrm>
          <a:prstGeom prst="rect">
            <a:avLst/>
          </a:prstGeom>
          <a:noFill/>
          <a:ln/>
        </p:spPr>
        <p:txBody>
          <a:bodyPr wrap="square" lIns="0" tIns="0" rIns="0" bIns="0" rtlCol="0" anchor="ctr"/>
          <a:lstStyle/>
          <a:p>
            <a:pPr marL="0" indent="0">
              <a:buNone/>
            </a:pPr>
            <a:r>
              <a:rPr lang="en-US" sz="1100" b="1" kern="0" spc="100" dirty="0">
                <a:solidFill>
                  <a:srgbClr val="1E40AF"/>
                </a:solidFill>
                <a:latin typeface="Malgun Gothic" pitchFamily="34" charset="0"/>
                <a:ea typeface="Malgun Gothic" pitchFamily="34" charset="-122"/>
                <a:cs typeface="Malgun Gothic" pitchFamily="34" charset="-120"/>
              </a:rPr>
              <a:t>핵심 개념  </a:t>
            </a:r>
            <a:r>
              <a:rPr lang="en-US" sz="1100" dirty="0">
                <a:solidFill>
                  <a:srgbClr val="6B7280"/>
                </a:solidFill>
                <a:latin typeface="Malgun Gothic" pitchFamily="34" charset="0"/>
                <a:ea typeface="Malgun Gothic" pitchFamily="34" charset="-122"/>
                <a:cs typeface="Malgun Gothic" pitchFamily="34" charset="-120"/>
              </a:rPr>
              <a:t>·  </a:t>
            </a:r>
            <a:r>
              <a:rPr lang="en-US" sz="1100" b="1" dirty="0">
                <a:solidFill>
                  <a:srgbClr val="111827"/>
                </a:solidFill>
                <a:latin typeface="Malgun Gothic" pitchFamily="34" charset="0"/>
                <a:ea typeface="Malgun Gothic" pitchFamily="34" charset="-122"/>
                <a:cs typeface="Malgun Gothic" pitchFamily="34" charset="-120"/>
              </a:rPr>
              <a:t>3D Gaussian을 어떻게 2D 이미지에 그리는가 — EWA Splatting</a:t>
            </a:r>
            <a:endParaRPr lang="en-US" sz="1100" dirty="0"/>
          </a:p>
        </p:txBody>
      </p:sp>
      <p:sp>
        <p:nvSpPr>
          <p:cNvPr id="26" name="Text 23"/>
          <p:cNvSpPr/>
          <p:nvPr/>
        </p:nvSpPr>
        <p:spPr>
          <a:xfrm>
            <a:off x="868680" y="6181344"/>
            <a:ext cx="10561320" cy="347472"/>
          </a:xfrm>
          <a:prstGeom prst="rect">
            <a:avLst/>
          </a:prstGeom>
          <a:noFill/>
          <a:ln/>
        </p:spPr>
        <p:txBody>
          <a:bodyPr wrap="square" lIns="0" tIns="0" rIns="0" bIns="0" rtlCol="0" anchor="t"/>
          <a:lstStyle/>
          <a:p>
            <a:pPr marL="0" indent="0">
              <a:buNone/>
            </a:pPr>
            <a:r>
              <a:rPr lang="en-US" sz="1050" dirty="0">
                <a:solidFill>
                  <a:srgbClr val="1A202C"/>
                </a:solidFill>
                <a:latin typeface="Malgun Gothic" pitchFamily="34" charset="0"/>
                <a:ea typeface="Malgun Gothic" pitchFamily="34" charset="-122"/>
                <a:cs typeface="Malgun Gothic" pitchFamily="34" charset="-120"/>
              </a:rPr>
              <a:t>Perspective projection은 비선형이라 3D Gaussian을 그대로 투영하면 더 이상 Gaussian이 아니다. Zwicker의 EWA Splatting (2001)은 투영 함수를 Jacobian J로 선형화해서, 투영된 결과도 여전히 2D Gaussian이라고 본다. 이 덕분에 픽셀 단위로 α-blending이 가능해진다.</a:t>
            </a:r>
            <a:endParaRPr lang="en-US" sz="1050" dirty="0"/>
          </a:p>
        </p:txBody>
      </p:sp>
      <p:sp>
        <p:nvSpPr>
          <p:cNvPr id="27" name="Text 24"/>
          <p:cNvSpPr/>
          <p:nvPr/>
        </p:nvSpPr>
        <p:spPr>
          <a:xfrm>
            <a:off x="868680" y="6537960"/>
            <a:ext cx="10561320" cy="292608"/>
          </a:xfrm>
          <a:prstGeom prst="rect">
            <a:avLst/>
          </a:prstGeom>
          <a:noFill/>
          <a:ln/>
        </p:spPr>
        <p:txBody>
          <a:bodyPr wrap="square" lIns="0" tIns="0" rIns="0" bIns="0" rtlCol="0" anchor="ctr"/>
          <a:lstStyle/>
          <a:p>
            <a:pPr marL="0" indent="0">
              <a:buNone/>
            </a:pPr>
            <a:r>
              <a:rPr lang="en-US" sz="1000" b="1" dirty="0">
                <a:solidFill>
                  <a:srgbClr val="065F46"/>
                </a:solidFill>
                <a:latin typeface="Malgun Gothic" pitchFamily="34" charset="0"/>
                <a:ea typeface="Malgun Gothic" pitchFamily="34" charset="-122"/>
                <a:cs typeface="Malgun Gothic" pitchFamily="34" charset="-120"/>
              </a:rPr>
              <a:t>구현에서는  </a:t>
            </a:r>
            <a:r>
              <a:rPr lang="en-US" sz="1000" dirty="0">
                <a:solidFill>
                  <a:srgbClr val="6B7280"/>
                </a:solidFill>
                <a:latin typeface="Malgun Gothic" pitchFamily="34" charset="0"/>
                <a:ea typeface="Malgun Gothic" pitchFamily="34" charset="-122"/>
                <a:cs typeface="Malgun Gothic" pitchFamily="34" charset="-120"/>
              </a:rPr>
              <a:t>·  </a:t>
            </a:r>
            <a:r>
              <a:rPr lang="en-US" sz="1000" dirty="0">
                <a:solidFill>
                  <a:srgbClr val="1A202C"/>
                </a:solidFill>
                <a:latin typeface="Malgun Gothic" pitchFamily="34" charset="0"/>
                <a:ea typeface="Malgun Gothic" pitchFamily="34" charset="-122"/>
                <a:cs typeface="Malgun Gothic" pitchFamily="34" charset="-120"/>
              </a:rPr>
              <a:t>①  초점거리와 카메라 좌표로 Jacobian  J  를 조립한다 (투영 함수의 선형 근사). ②  view rotation  W  와 합쳐  T = W·J  를 미리 계산. ③  논문 수식  Σ′ = J W Σ Wᵀ Jᵀ  를 결합법칙으로 재배열해  Tᵀ Σ T  한 번의 행렬곱으로 처리.</a:t>
            </a:r>
            <a:endParaRPr lang="en-US" sz="1000" dirty="0"/>
          </a:p>
        </p:txBody>
      </p:sp>
      <p:sp>
        <p:nvSpPr>
          <p:cNvPr id="28" name="Text 25"/>
          <p:cNvSpPr/>
          <p:nvPr/>
        </p:nvSpPr>
        <p:spPr>
          <a:xfrm>
            <a:off x="11064240" y="649224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Malgun Gothic" pitchFamily="34" charset="0"/>
                <a:ea typeface="Malgun Gothic" pitchFamily="34" charset="-122"/>
                <a:cs typeface="Malgun Gothic" pitchFamily="34" charset="-120"/>
              </a:rPr>
              <a:t>7 / 13</a:t>
            </a:r>
            <a:endParaRPr lang="en-US" sz="1000" dirty="0"/>
          </a:p>
        </p:txBody>
      </p:sp>
      <p:sp>
        <p:nvSpPr>
          <p:cNvPr id="29" name="왼쪽 화살표[L] 28">
            <a:extLst>
              <a:ext uri="{FF2B5EF4-FFF2-40B4-BE49-F238E27FC236}">
                <a16:creationId xmlns:a16="http://schemas.microsoft.com/office/drawing/2014/main" id="{3E05BCDD-F660-C231-5CDE-641BF2B415D4}"/>
              </a:ext>
            </a:extLst>
          </p:cNvPr>
          <p:cNvSpPr/>
          <p:nvPr/>
        </p:nvSpPr>
        <p:spPr>
          <a:xfrm>
            <a:off x="4114800" y="4274820"/>
            <a:ext cx="242515" cy="219456"/>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0" name="왼쪽 화살표[L] 29">
            <a:extLst>
              <a:ext uri="{FF2B5EF4-FFF2-40B4-BE49-F238E27FC236}">
                <a16:creationId xmlns:a16="http://schemas.microsoft.com/office/drawing/2014/main" id="{A3EC1D75-E220-620F-4F55-DCCACBDF89FF}"/>
              </a:ext>
            </a:extLst>
          </p:cNvPr>
          <p:cNvSpPr/>
          <p:nvPr/>
        </p:nvSpPr>
        <p:spPr>
          <a:xfrm>
            <a:off x="4055165" y="5458968"/>
            <a:ext cx="242515" cy="219456"/>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1" name="왼쪽 화살표[L] 30">
            <a:extLst>
              <a:ext uri="{FF2B5EF4-FFF2-40B4-BE49-F238E27FC236}">
                <a16:creationId xmlns:a16="http://schemas.microsoft.com/office/drawing/2014/main" id="{94E28292-D0A4-6AFF-8BAD-5153AB542ADC}"/>
              </a:ext>
            </a:extLst>
          </p:cNvPr>
          <p:cNvSpPr/>
          <p:nvPr/>
        </p:nvSpPr>
        <p:spPr>
          <a:xfrm>
            <a:off x="4016999" y="5697110"/>
            <a:ext cx="242515" cy="219456"/>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74320"/>
          </a:xfrm>
          <a:prstGeom prst="rect">
            <a:avLst/>
          </a:prstGeom>
          <a:noFill/>
          <a:ln/>
        </p:spPr>
        <p:txBody>
          <a:bodyPr wrap="square" lIns="0" tIns="0" rIns="0" bIns="0" rtlCol="0" anchor="ctr"/>
          <a:lstStyle/>
          <a:p>
            <a:pPr marL="0" indent="0">
              <a:buNone/>
            </a:pPr>
            <a:r>
              <a:rPr lang="en-US" sz="1100" b="1" kern="0" spc="200" dirty="0">
                <a:solidFill>
                  <a:srgbClr val="1E40AF"/>
                </a:solidFill>
                <a:latin typeface="Malgun Gothic" pitchFamily="34" charset="0"/>
                <a:ea typeface="Malgun Gothic" pitchFamily="34" charset="-122"/>
                <a:cs typeface="Malgun Gothic" pitchFamily="34" charset="-120"/>
              </a:rPr>
              <a:t>07. 논문 ↔ 코드 리뷰 ③</a:t>
            </a:r>
            <a:endParaRPr lang="en-US" sz="1100" dirty="0"/>
          </a:p>
        </p:txBody>
      </p:sp>
      <p:sp>
        <p:nvSpPr>
          <p:cNvPr id="3" name="Text 1"/>
          <p:cNvSpPr/>
          <p:nvPr/>
        </p:nvSpPr>
        <p:spPr>
          <a:xfrm>
            <a:off x="640080" y="640080"/>
            <a:ext cx="10972800" cy="548640"/>
          </a:xfrm>
          <a:prstGeom prst="rect">
            <a:avLst/>
          </a:prstGeom>
          <a:noFill/>
          <a:ln/>
        </p:spPr>
        <p:txBody>
          <a:bodyPr wrap="square" lIns="0" tIns="0" rIns="0" bIns="0" rtlCol="0" anchor="ctr"/>
          <a:lstStyle/>
          <a:p>
            <a:pPr marL="0" indent="0">
              <a:buNone/>
            </a:pPr>
            <a:r>
              <a:rPr lang="en-US" sz="2400" b="1" dirty="0">
                <a:solidFill>
                  <a:srgbClr val="111827"/>
                </a:solidFill>
                <a:latin typeface="Malgun Gothic" pitchFamily="34" charset="0"/>
                <a:ea typeface="Malgun Gothic" pitchFamily="34" charset="-122"/>
                <a:cs typeface="Malgun Gothic" pitchFamily="34" charset="-120"/>
              </a:rPr>
              <a:t>α-blending Volume Rendering</a:t>
            </a:r>
            <a:endParaRPr lang="en-US" sz="2400" dirty="0"/>
          </a:p>
        </p:txBody>
      </p:sp>
      <p:sp>
        <p:nvSpPr>
          <p:cNvPr id="4" name="Shape 2"/>
          <p:cNvSpPr/>
          <p:nvPr/>
        </p:nvSpPr>
        <p:spPr>
          <a:xfrm>
            <a:off x="640080" y="1280160"/>
            <a:ext cx="10881360" cy="0"/>
          </a:xfrm>
          <a:prstGeom prst="line">
            <a:avLst/>
          </a:prstGeom>
          <a:noFill/>
          <a:ln w="9525">
            <a:solidFill>
              <a:srgbClr val="D1D5DB"/>
            </a:solidFill>
            <a:prstDash val="solid"/>
          </a:ln>
        </p:spPr>
        <p:txBody>
          <a:bodyPr/>
          <a:lstStyle/>
          <a:p>
            <a:endParaRPr lang="ko-KR" altLang="en-US"/>
          </a:p>
        </p:txBody>
      </p:sp>
      <p:sp>
        <p:nvSpPr>
          <p:cNvPr id="5" name="Shape 3"/>
          <p:cNvSpPr/>
          <p:nvPr/>
        </p:nvSpPr>
        <p:spPr>
          <a:xfrm>
            <a:off x="640080" y="1417320"/>
            <a:ext cx="6126480" cy="1828800"/>
          </a:xfrm>
          <a:prstGeom prst="rect">
            <a:avLst/>
          </a:prstGeom>
          <a:solidFill>
            <a:srgbClr val="F0FDF4"/>
          </a:solidFill>
          <a:ln w="9525">
            <a:solidFill>
              <a:srgbClr val="BBF7D0"/>
            </a:solidFill>
            <a:prstDash val="solid"/>
          </a:ln>
        </p:spPr>
        <p:txBody>
          <a:bodyPr/>
          <a:lstStyle/>
          <a:p>
            <a:endParaRPr lang="ko-KR" altLang="en-US"/>
          </a:p>
        </p:txBody>
      </p:sp>
      <p:sp>
        <p:nvSpPr>
          <p:cNvPr id="6" name="Shape 4"/>
          <p:cNvSpPr/>
          <p:nvPr/>
        </p:nvSpPr>
        <p:spPr>
          <a:xfrm>
            <a:off x="640080" y="1417320"/>
            <a:ext cx="73152" cy="1828800"/>
          </a:xfrm>
          <a:prstGeom prst="rect">
            <a:avLst/>
          </a:prstGeom>
          <a:solidFill>
            <a:srgbClr val="065F46"/>
          </a:solidFill>
          <a:ln/>
        </p:spPr>
        <p:txBody>
          <a:bodyPr/>
          <a:lstStyle/>
          <a:p>
            <a:endParaRPr lang="ko-KR" altLang="en-US"/>
          </a:p>
        </p:txBody>
      </p:sp>
      <p:sp>
        <p:nvSpPr>
          <p:cNvPr id="7" name="Text 5"/>
          <p:cNvSpPr/>
          <p:nvPr/>
        </p:nvSpPr>
        <p:spPr>
          <a:xfrm>
            <a:off x="841248" y="1527048"/>
            <a:ext cx="914400" cy="274320"/>
          </a:xfrm>
          <a:prstGeom prst="rect">
            <a:avLst/>
          </a:prstGeom>
          <a:noFill/>
          <a:ln/>
        </p:spPr>
        <p:txBody>
          <a:bodyPr wrap="square" lIns="0" tIns="0" rIns="0" bIns="0" rtlCol="0" anchor="ctr"/>
          <a:lstStyle/>
          <a:p>
            <a:pPr marL="0" indent="0">
              <a:buNone/>
            </a:pPr>
            <a:r>
              <a:rPr lang="en-US" sz="1000" b="1" kern="0" spc="300" dirty="0">
                <a:solidFill>
                  <a:srgbClr val="065F46"/>
                </a:solidFill>
                <a:latin typeface="Calibri" pitchFamily="34" charset="0"/>
                <a:ea typeface="Calibri" pitchFamily="34" charset="-122"/>
                <a:cs typeface="Calibri" pitchFamily="34" charset="-120"/>
              </a:rPr>
              <a:t>PAPER</a:t>
            </a:r>
            <a:endParaRPr lang="en-US" sz="1000" dirty="0"/>
          </a:p>
        </p:txBody>
      </p:sp>
      <p:sp>
        <p:nvSpPr>
          <p:cNvPr id="8" name="Text 6"/>
          <p:cNvSpPr/>
          <p:nvPr/>
        </p:nvSpPr>
        <p:spPr>
          <a:xfrm>
            <a:off x="1783080" y="1527048"/>
            <a:ext cx="4846320" cy="27432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Kerbl et al. 2023, Section 4.2  (standard α-blending)</a:t>
            </a:r>
            <a:endParaRPr lang="en-US" sz="1000" dirty="0"/>
          </a:p>
        </p:txBody>
      </p:sp>
      <p:sp>
        <p:nvSpPr>
          <p:cNvPr id="9" name="Text 7"/>
          <p:cNvSpPr/>
          <p:nvPr/>
        </p:nvSpPr>
        <p:spPr>
          <a:xfrm>
            <a:off x="868680" y="1856232"/>
            <a:ext cx="5760720" cy="320040"/>
          </a:xfrm>
          <a:prstGeom prst="rect">
            <a:avLst/>
          </a:prstGeom>
          <a:noFill/>
          <a:ln/>
        </p:spPr>
        <p:txBody>
          <a:bodyPr wrap="square" lIns="0" tIns="0" rIns="0" bIns="0" rtlCol="0" anchor="t"/>
          <a:lstStyle/>
          <a:p>
            <a:pPr marL="0" indent="0">
              <a:buNone/>
            </a:pPr>
            <a:r>
              <a:rPr lang="en-US" sz="1100" dirty="0">
                <a:solidFill>
                  <a:srgbClr val="1A202C"/>
                </a:solidFill>
                <a:latin typeface="Malgun Gothic" pitchFamily="34" charset="0"/>
                <a:ea typeface="Malgun Gothic" pitchFamily="34" charset="-122"/>
                <a:cs typeface="Malgun Gothic" pitchFamily="34" charset="-120"/>
              </a:rPr>
              <a:t>픽셀 색 = 깊이 순 정렬된 N개 Gaussian의 front-to-back α-blending:</a:t>
            </a:r>
            <a:endParaRPr lang="en-US" sz="1100" dirty="0"/>
          </a:p>
        </p:txBody>
      </p:sp>
      <p:sp>
        <p:nvSpPr>
          <p:cNvPr id="10" name="Shape 8"/>
          <p:cNvSpPr/>
          <p:nvPr/>
        </p:nvSpPr>
        <p:spPr>
          <a:xfrm>
            <a:off x="868680" y="2221992"/>
            <a:ext cx="5760720" cy="457200"/>
          </a:xfrm>
          <a:prstGeom prst="rect">
            <a:avLst/>
          </a:prstGeom>
          <a:solidFill>
            <a:srgbClr val="FFFFFF"/>
          </a:solidFill>
          <a:ln w="6350">
            <a:solidFill>
              <a:srgbClr val="D1D5DB"/>
            </a:solidFill>
            <a:prstDash val="solid"/>
          </a:ln>
        </p:spPr>
        <p:txBody>
          <a:bodyPr/>
          <a:lstStyle/>
          <a:p>
            <a:endParaRPr lang="ko-KR" altLang="en-US"/>
          </a:p>
        </p:txBody>
      </p:sp>
      <p:sp>
        <p:nvSpPr>
          <p:cNvPr id="11" name="Text 9"/>
          <p:cNvSpPr/>
          <p:nvPr/>
        </p:nvSpPr>
        <p:spPr>
          <a:xfrm>
            <a:off x="1005840" y="2221992"/>
            <a:ext cx="5486400" cy="457200"/>
          </a:xfrm>
          <a:prstGeom prst="rect">
            <a:avLst/>
          </a:prstGeom>
          <a:noFill/>
          <a:ln/>
        </p:spPr>
        <p:txBody>
          <a:bodyPr wrap="square" lIns="0" tIns="0" rIns="0" bIns="0" rtlCol="0" anchor="ctr"/>
          <a:lstStyle/>
          <a:p>
            <a:pPr marL="0" indent="0">
              <a:buNone/>
            </a:pPr>
            <a:r>
              <a:rPr lang="en-US" sz="1200" b="1" dirty="0">
                <a:solidFill>
                  <a:srgbClr val="065F46"/>
                </a:solidFill>
                <a:latin typeface="Consolas" pitchFamily="34" charset="0"/>
                <a:ea typeface="Consolas" pitchFamily="34" charset="-122"/>
                <a:cs typeface="Consolas" pitchFamily="34" charset="-120"/>
              </a:rPr>
              <a:t>C  =  Σᵢ  cᵢ · αᵢ · Πⱼ₌₁ⁱ⁻¹ (1 − αⱼ)</a:t>
            </a:r>
            <a:endParaRPr lang="en-US" sz="1200" dirty="0"/>
          </a:p>
        </p:txBody>
      </p:sp>
      <p:sp>
        <p:nvSpPr>
          <p:cNvPr id="12" name="Text 10"/>
          <p:cNvSpPr/>
          <p:nvPr/>
        </p:nvSpPr>
        <p:spPr>
          <a:xfrm>
            <a:off x="868680" y="2770632"/>
            <a:ext cx="5760720" cy="777240"/>
          </a:xfrm>
          <a:prstGeom prst="rect">
            <a:avLst/>
          </a:prstGeom>
          <a:noFill/>
          <a:ln/>
        </p:spPr>
        <p:txBody>
          <a:bodyPr wrap="square" lIns="0" tIns="0" rIns="0" bIns="0" rtlCol="0" anchor="t"/>
          <a:lstStyle/>
          <a:p>
            <a:pPr marL="0" indent="0">
              <a:spcAft>
                <a:spcPts val="300"/>
              </a:spcAft>
              <a:buNone/>
            </a:pPr>
            <a:r>
              <a:rPr lang="en-US" sz="1000" b="1" dirty="0">
                <a:solidFill>
                  <a:srgbClr val="065F46"/>
                </a:solidFill>
                <a:latin typeface="Malgun Gothic" pitchFamily="34" charset="0"/>
                <a:ea typeface="Malgun Gothic" pitchFamily="34" charset="-122"/>
                <a:cs typeface="Malgun Gothic" pitchFamily="34" charset="-120"/>
              </a:rPr>
              <a:t>αᵢ </a:t>
            </a:r>
            <a:r>
              <a:rPr lang="en-US" sz="1000" dirty="0">
                <a:solidFill>
                  <a:srgbClr val="1A202C"/>
                </a:solidFill>
                <a:latin typeface="Malgun Gothic" pitchFamily="34" charset="0"/>
                <a:ea typeface="Malgun Gothic" pitchFamily="34" charset="-122"/>
                <a:cs typeface="Malgun Gothic" pitchFamily="34" charset="-120"/>
              </a:rPr>
              <a:t>= oᵢ · exp( −½ dᵀ Σᵢ⁻¹ d )</a:t>
            </a:r>
            <a:endParaRPr lang="en-US" sz="1000" dirty="0"/>
          </a:p>
          <a:p>
            <a:pPr marL="0" indent="0">
              <a:spcAft>
                <a:spcPts val="300"/>
              </a:spcAft>
              <a:buNone/>
            </a:pPr>
            <a:r>
              <a:rPr lang="en-US" sz="1000" b="1" dirty="0">
                <a:solidFill>
                  <a:srgbClr val="065F46"/>
                </a:solidFill>
                <a:latin typeface="Malgun Gothic" pitchFamily="34" charset="0"/>
                <a:ea typeface="Malgun Gothic" pitchFamily="34" charset="-122"/>
                <a:cs typeface="Malgun Gothic" pitchFamily="34" charset="-120"/>
              </a:rPr>
              <a:t>Tᵢ </a:t>
            </a:r>
            <a:r>
              <a:rPr lang="en-US" sz="1000" dirty="0">
                <a:solidFill>
                  <a:srgbClr val="1A202C"/>
                </a:solidFill>
                <a:latin typeface="Malgun Gothic" pitchFamily="34" charset="0"/>
                <a:ea typeface="Malgun Gothic" pitchFamily="34" charset="-122"/>
                <a:cs typeface="Malgun Gothic" pitchFamily="34" charset="-120"/>
              </a:rPr>
              <a:t>= Πⱼ₌₁ⁱ⁻¹ (1 − αⱼ)</a:t>
            </a:r>
            <a:r>
              <a:rPr lang="en-US" sz="1000" i="1" dirty="0">
                <a:solidFill>
                  <a:srgbClr val="6B7280"/>
                </a:solidFill>
                <a:latin typeface="Malgun Gothic" pitchFamily="34" charset="0"/>
                <a:ea typeface="Malgun Gothic" pitchFamily="34" charset="-122"/>
                <a:cs typeface="Malgun Gothic" pitchFamily="34" charset="-120"/>
              </a:rPr>
              <a:t>  (누적 투과도)</a:t>
            </a:r>
            <a:endParaRPr lang="en-US" sz="1000" dirty="0"/>
          </a:p>
        </p:txBody>
      </p:sp>
      <p:pic>
        <p:nvPicPr>
          <p:cNvPr id="13" name="Image 0" descr="/home/claude/output2/viz_alpha_blending.png"/>
          <p:cNvPicPr>
            <a:picLocks noChangeAspect="1"/>
          </p:cNvPicPr>
          <p:nvPr/>
        </p:nvPicPr>
        <p:blipFill>
          <a:blip r:embed="rId3"/>
          <a:stretch>
            <a:fillRect/>
          </a:stretch>
        </p:blipFill>
        <p:spPr>
          <a:xfrm>
            <a:off x="6903720" y="1417320"/>
            <a:ext cx="4709160" cy="4251960"/>
          </a:xfrm>
          <a:prstGeom prst="rect">
            <a:avLst/>
          </a:prstGeom>
        </p:spPr>
      </p:pic>
      <p:sp>
        <p:nvSpPr>
          <p:cNvPr id="14" name="Shape 11"/>
          <p:cNvSpPr/>
          <p:nvPr/>
        </p:nvSpPr>
        <p:spPr>
          <a:xfrm>
            <a:off x="640080" y="3291840"/>
            <a:ext cx="6126480" cy="2514600"/>
          </a:xfrm>
          <a:prstGeom prst="rect">
            <a:avLst/>
          </a:prstGeom>
          <a:solidFill>
            <a:srgbClr val="EFF6FF"/>
          </a:solidFill>
          <a:ln w="9525">
            <a:solidFill>
              <a:srgbClr val="BFDBFE"/>
            </a:solidFill>
            <a:prstDash val="solid"/>
          </a:ln>
        </p:spPr>
        <p:txBody>
          <a:bodyPr/>
          <a:lstStyle/>
          <a:p>
            <a:endParaRPr lang="ko-KR" altLang="en-US"/>
          </a:p>
        </p:txBody>
      </p:sp>
      <p:sp>
        <p:nvSpPr>
          <p:cNvPr id="15" name="Shape 12"/>
          <p:cNvSpPr/>
          <p:nvPr/>
        </p:nvSpPr>
        <p:spPr>
          <a:xfrm>
            <a:off x="640080" y="3291840"/>
            <a:ext cx="73152" cy="2514600"/>
          </a:xfrm>
          <a:prstGeom prst="rect">
            <a:avLst/>
          </a:prstGeom>
          <a:solidFill>
            <a:srgbClr val="1E40AF"/>
          </a:solidFill>
          <a:ln/>
        </p:spPr>
        <p:txBody>
          <a:bodyPr/>
          <a:lstStyle/>
          <a:p>
            <a:endParaRPr lang="ko-KR" altLang="en-US"/>
          </a:p>
        </p:txBody>
      </p:sp>
      <p:sp>
        <p:nvSpPr>
          <p:cNvPr id="16" name="Text 13"/>
          <p:cNvSpPr/>
          <p:nvPr/>
        </p:nvSpPr>
        <p:spPr>
          <a:xfrm>
            <a:off x="841248" y="3401568"/>
            <a:ext cx="914400" cy="274320"/>
          </a:xfrm>
          <a:prstGeom prst="rect">
            <a:avLst/>
          </a:prstGeom>
          <a:noFill/>
          <a:ln/>
        </p:spPr>
        <p:txBody>
          <a:bodyPr wrap="square" lIns="0" tIns="0" rIns="0" bIns="0" rtlCol="0" anchor="ctr"/>
          <a:lstStyle/>
          <a:p>
            <a:pPr marL="0" indent="0">
              <a:buNone/>
            </a:pPr>
            <a:r>
              <a:rPr lang="en-US" sz="1000" b="1" kern="0" spc="300" dirty="0">
                <a:solidFill>
                  <a:srgbClr val="1E40AF"/>
                </a:solidFill>
                <a:latin typeface="Calibri" pitchFamily="34" charset="0"/>
                <a:ea typeface="Calibri" pitchFamily="34" charset="-122"/>
                <a:cs typeface="Calibri" pitchFamily="34" charset="-120"/>
              </a:rPr>
              <a:t>CODE</a:t>
            </a:r>
            <a:endParaRPr lang="en-US" sz="1000" dirty="0"/>
          </a:p>
        </p:txBody>
      </p:sp>
      <p:sp>
        <p:nvSpPr>
          <p:cNvPr id="17" name="Text 14"/>
          <p:cNvSpPr/>
          <p:nvPr/>
        </p:nvSpPr>
        <p:spPr>
          <a:xfrm>
            <a:off x="1463040" y="3401568"/>
            <a:ext cx="5212080" cy="274320"/>
          </a:xfrm>
          <a:prstGeom prst="rect">
            <a:avLst/>
          </a:prstGeom>
          <a:noFill/>
          <a:ln/>
        </p:spPr>
        <p:txBody>
          <a:bodyPr wrap="square" lIns="0" tIns="0" rIns="0" bIns="0" rtlCol="0" anchor="ctr"/>
          <a:lstStyle/>
          <a:p>
            <a:pPr marL="0" indent="0">
              <a:buNone/>
            </a:pPr>
            <a:r>
              <a:rPr lang="en-US" sz="1000" i="1" dirty="0">
                <a:solidFill>
                  <a:srgbClr val="6B7280"/>
                </a:solidFill>
                <a:latin typeface="Consolas" pitchFamily="34" charset="0"/>
                <a:ea typeface="Consolas" pitchFamily="34" charset="-122"/>
                <a:cs typeface="Consolas" pitchFamily="34" charset="-120"/>
              </a:rPr>
              <a:t>diff-gaussian-rasterization/cuda_rasterizer/forward.cu</a:t>
            </a:r>
            <a:endParaRPr lang="en-US" sz="1000" dirty="0"/>
          </a:p>
        </p:txBody>
      </p:sp>
      <p:sp>
        <p:nvSpPr>
          <p:cNvPr id="18" name="Shape 15"/>
          <p:cNvSpPr/>
          <p:nvPr/>
        </p:nvSpPr>
        <p:spPr>
          <a:xfrm>
            <a:off x="914400" y="3703320"/>
            <a:ext cx="5760720" cy="1965960"/>
          </a:xfrm>
          <a:prstGeom prst="rect">
            <a:avLst/>
          </a:prstGeom>
          <a:solidFill>
            <a:srgbClr val="F3F4F6"/>
          </a:solidFill>
          <a:ln/>
        </p:spPr>
        <p:txBody>
          <a:bodyPr/>
          <a:lstStyle/>
          <a:p>
            <a:endParaRPr lang="ko-KR" altLang="en-US"/>
          </a:p>
        </p:txBody>
      </p:sp>
      <p:sp>
        <p:nvSpPr>
          <p:cNvPr id="19" name="Text 16"/>
          <p:cNvSpPr/>
          <p:nvPr/>
        </p:nvSpPr>
        <p:spPr>
          <a:xfrm>
            <a:off x="960120" y="3803904"/>
            <a:ext cx="5577840" cy="1819656"/>
          </a:xfrm>
          <a:prstGeom prst="rect">
            <a:avLst/>
          </a:prstGeom>
          <a:noFill/>
          <a:ln/>
        </p:spPr>
        <p:txBody>
          <a:bodyPr wrap="square" lIns="0" tIns="0" rIns="0" bIns="0" rtlCol="0" anchor="t"/>
          <a:lstStyle/>
          <a:p>
            <a:pPr marL="0" indent="0">
              <a:buNone/>
            </a:pPr>
            <a:r>
              <a:rPr lang="en-US" sz="900" dirty="0">
                <a:solidFill>
                  <a:srgbClr val="111827"/>
                </a:solidFill>
                <a:latin typeface="Consolas" pitchFamily="34" charset="0"/>
                <a:ea typeface="Consolas" pitchFamily="34" charset="-122"/>
                <a:cs typeface="Consolas" pitchFamily="34" charset="-120"/>
              </a:rPr>
              <a:t>for (int j = 0; !done &amp;&amp; j &lt; min(BLOCK_SIZE, toDo); j++)</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float2 d = { xy.x - pixf.x, xy.y - pixf.y };</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float power = -0.5f *</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(con_o.x*d.x*d.x + con_o.z*d.y*d.y)</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 con_o.y * d.x * d.y;</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if (power &gt; 0.0f) continue;</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float alpha = min(0.99f, con_o.w * exp(power));</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if (alpha &lt; 1.0f/255.0f) continue;</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float test_T = T * (1 - alpha);</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if (test_T &lt; 0.0001f) { done=true; continue; }</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for (int ch = 0; ch &lt; CHANNELS; ch++)</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C[ch] += features[...] * alpha * T;</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T = test_T;</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a:t>
            </a:r>
            <a:endParaRPr lang="en-US" sz="900" dirty="0"/>
          </a:p>
        </p:txBody>
      </p:sp>
      <p:sp>
        <p:nvSpPr>
          <p:cNvPr id="20" name="Text 17"/>
          <p:cNvSpPr/>
          <p:nvPr/>
        </p:nvSpPr>
        <p:spPr>
          <a:xfrm>
            <a:off x="4160719" y="4732915"/>
            <a:ext cx="2468880" cy="219456"/>
          </a:xfrm>
          <a:prstGeom prst="rect">
            <a:avLst/>
          </a:prstGeom>
          <a:noFill/>
          <a:ln/>
        </p:spPr>
        <p:txBody>
          <a:bodyPr wrap="square" lIns="0" tIns="0" rIns="0" bIns="0" rtlCol="0" anchor="ctr"/>
          <a:lstStyle/>
          <a:p>
            <a:pPr marL="0" indent="0">
              <a:buNone/>
            </a:pPr>
            <a:r>
              <a:rPr lang="ko-KR" altLang="en-US" sz="900" b="1" dirty="0">
                <a:solidFill>
                  <a:srgbClr val="DC2626"/>
                </a:solidFill>
                <a:latin typeface="Consolas" pitchFamily="34" charset="0"/>
                <a:ea typeface="Malgun Gothic" pitchFamily="34" charset="-122"/>
                <a:cs typeface="Consolas" pitchFamily="34" charset="-120"/>
              </a:rPr>
              <a:t>      </a:t>
            </a:r>
            <a:r>
              <a:rPr lang="en-US" sz="900" b="1" dirty="0">
                <a:solidFill>
                  <a:srgbClr val="DC2626"/>
                </a:solidFill>
                <a:latin typeface="Malgun Gothic" pitchFamily="34" charset="0"/>
                <a:ea typeface="Malgun Gothic" pitchFamily="34" charset="-122"/>
                <a:cs typeface="Malgun Gothic" pitchFamily="34" charset="-120"/>
              </a:rPr>
              <a:t>①  </a:t>
            </a:r>
            <a:r>
              <a:rPr lang="en-US" sz="900" b="1" dirty="0">
                <a:solidFill>
                  <a:srgbClr val="B91C1C"/>
                </a:solidFill>
                <a:latin typeface="Malgun Gothic" pitchFamily="34" charset="0"/>
                <a:ea typeface="Malgun Gothic" pitchFamily="34" charset="-122"/>
                <a:cs typeface="Malgun Gothic" pitchFamily="34" charset="-120"/>
              </a:rPr>
              <a:t>α = opacity × Gaussian falloff</a:t>
            </a:r>
            <a:endParaRPr lang="en-US" sz="900" dirty="0"/>
          </a:p>
        </p:txBody>
      </p:sp>
      <p:sp>
        <p:nvSpPr>
          <p:cNvPr id="21" name="Text 18"/>
          <p:cNvSpPr/>
          <p:nvPr/>
        </p:nvSpPr>
        <p:spPr>
          <a:xfrm>
            <a:off x="4160520" y="5149066"/>
            <a:ext cx="2468880" cy="219456"/>
          </a:xfrm>
          <a:prstGeom prst="rect">
            <a:avLst/>
          </a:prstGeom>
          <a:noFill/>
          <a:ln/>
        </p:spPr>
        <p:txBody>
          <a:bodyPr wrap="square" lIns="0" tIns="0" rIns="0" bIns="0" rtlCol="0" anchor="ctr"/>
          <a:lstStyle/>
          <a:p>
            <a:pPr marL="0" indent="0">
              <a:buNone/>
            </a:pPr>
            <a:r>
              <a:rPr lang="ko-KR" altLang="en-US" sz="900" b="1" dirty="0">
                <a:solidFill>
                  <a:srgbClr val="DC2626"/>
                </a:solidFill>
                <a:latin typeface="Consolas" pitchFamily="34" charset="0"/>
                <a:ea typeface="Consolas" pitchFamily="34" charset="-122"/>
                <a:cs typeface="Consolas" pitchFamily="34" charset="-120"/>
              </a:rPr>
              <a:t>     </a:t>
            </a:r>
            <a:r>
              <a:rPr lang="en-US" sz="900" b="1" dirty="0">
                <a:solidFill>
                  <a:srgbClr val="DC2626"/>
                </a:solidFill>
                <a:latin typeface="Consolas" pitchFamily="34" charset="0"/>
                <a:ea typeface="Consolas" pitchFamily="34" charset="-122"/>
                <a:cs typeface="Consolas" pitchFamily="34" charset="-120"/>
              </a:rPr>
              <a:t> </a:t>
            </a:r>
            <a:r>
              <a:rPr lang="en-US" sz="900" b="1" dirty="0">
                <a:solidFill>
                  <a:srgbClr val="DC2626"/>
                </a:solidFill>
                <a:latin typeface="Malgun Gothic" pitchFamily="34" charset="0"/>
                <a:ea typeface="Malgun Gothic" pitchFamily="34" charset="-122"/>
                <a:cs typeface="Malgun Gothic" pitchFamily="34" charset="-120"/>
              </a:rPr>
              <a:t>②  </a:t>
            </a:r>
            <a:r>
              <a:rPr lang="en-US" sz="900" b="1" dirty="0">
                <a:solidFill>
                  <a:srgbClr val="B91C1C"/>
                </a:solidFill>
                <a:latin typeface="Malgun Gothic" pitchFamily="34" charset="0"/>
                <a:ea typeface="Malgun Gothic" pitchFamily="34" charset="-122"/>
                <a:cs typeface="Malgun Gothic" pitchFamily="34" charset="-120"/>
              </a:rPr>
              <a:t>Early termination (성능 최적화)</a:t>
            </a:r>
            <a:endParaRPr lang="en-US" sz="900" dirty="0"/>
          </a:p>
        </p:txBody>
      </p:sp>
      <p:sp>
        <p:nvSpPr>
          <p:cNvPr id="22" name="Text 19"/>
          <p:cNvSpPr/>
          <p:nvPr/>
        </p:nvSpPr>
        <p:spPr>
          <a:xfrm>
            <a:off x="4160520" y="5409173"/>
            <a:ext cx="2468880" cy="219456"/>
          </a:xfrm>
          <a:prstGeom prst="rect">
            <a:avLst/>
          </a:prstGeom>
          <a:noFill/>
          <a:ln/>
        </p:spPr>
        <p:txBody>
          <a:bodyPr wrap="square" lIns="0" tIns="0" rIns="0" bIns="0" rtlCol="0" anchor="ctr"/>
          <a:lstStyle/>
          <a:p>
            <a:pPr marL="0" indent="0">
              <a:buNone/>
            </a:pPr>
            <a:r>
              <a:rPr lang="ko-KR" altLang="en-US" sz="900" b="1" dirty="0">
                <a:solidFill>
                  <a:srgbClr val="DC2626"/>
                </a:solidFill>
                <a:latin typeface="Consolas" pitchFamily="34" charset="0"/>
                <a:ea typeface="Consolas" pitchFamily="34" charset="-122"/>
                <a:cs typeface="Consolas" pitchFamily="34" charset="-120"/>
              </a:rPr>
              <a:t>     </a:t>
            </a:r>
            <a:r>
              <a:rPr lang="en-US" sz="900" b="1" dirty="0">
                <a:solidFill>
                  <a:srgbClr val="DC2626"/>
                </a:solidFill>
                <a:latin typeface="Consolas" pitchFamily="34" charset="0"/>
                <a:ea typeface="Consolas" pitchFamily="34" charset="-122"/>
                <a:cs typeface="Consolas" pitchFamily="34" charset="-120"/>
              </a:rPr>
              <a:t> </a:t>
            </a:r>
            <a:r>
              <a:rPr lang="en-US" sz="900" b="1" dirty="0">
                <a:solidFill>
                  <a:srgbClr val="DC2626"/>
                </a:solidFill>
                <a:latin typeface="Malgun Gothic" pitchFamily="34" charset="0"/>
                <a:ea typeface="Malgun Gothic" pitchFamily="34" charset="-122"/>
                <a:cs typeface="Malgun Gothic" pitchFamily="34" charset="-120"/>
              </a:rPr>
              <a:t>③  </a:t>
            </a:r>
            <a:r>
              <a:rPr lang="en-US" sz="900" b="1" dirty="0">
                <a:solidFill>
                  <a:srgbClr val="B91C1C"/>
                </a:solidFill>
                <a:latin typeface="Malgun Gothic" pitchFamily="34" charset="0"/>
                <a:ea typeface="Malgun Gothic" pitchFamily="34" charset="-122"/>
                <a:cs typeface="Malgun Gothic" pitchFamily="34" charset="-120"/>
              </a:rPr>
              <a:t>C += c · α · T  (</a:t>
            </a:r>
            <a:r>
              <a:rPr lang="en-US" sz="900" b="1" dirty="0" err="1">
                <a:solidFill>
                  <a:srgbClr val="B91C1C"/>
                </a:solidFill>
                <a:latin typeface="Malgun Gothic" pitchFamily="34" charset="0"/>
                <a:ea typeface="Malgun Gothic" pitchFamily="34" charset="-122"/>
                <a:cs typeface="Malgun Gothic" pitchFamily="34" charset="-120"/>
              </a:rPr>
              <a:t>색</a:t>
            </a:r>
            <a:r>
              <a:rPr lang="en-US" sz="900" b="1" dirty="0">
                <a:solidFill>
                  <a:srgbClr val="B91C1C"/>
                </a:solidFill>
                <a:latin typeface="Malgun Gothic" pitchFamily="34" charset="0"/>
                <a:ea typeface="Malgun Gothic" pitchFamily="34" charset="-122"/>
                <a:cs typeface="Malgun Gothic" pitchFamily="34" charset="-120"/>
              </a:rPr>
              <a:t> </a:t>
            </a:r>
            <a:r>
              <a:rPr lang="en-US" sz="900" b="1" dirty="0" err="1">
                <a:solidFill>
                  <a:srgbClr val="B91C1C"/>
                </a:solidFill>
                <a:latin typeface="Malgun Gothic" pitchFamily="34" charset="0"/>
                <a:ea typeface="Malgun Gothic" pitchFamily="34" charset="-122"/>
                <a:cs typeface="Malgun Gothic" pitchFamily="34" charset="-120"/>
              </a:rPr>
              <a:t>누적</a:t>
            </a:r>
            <a:r>
              <a:rPr lang="en-US" sz="900" b="1" dirty="0">
                <a:solidFill>
                  <a:srgbClr val="B91C1C"/>
                </a:solidFill>
                <a:latin typeface="Malgun Gothic" pitchFamily="34" charset="0"/>
                <a:ea typeface="Malgun Gothic" pitchFamily="34" charset="-122"/>
                <a:cs typeface="Malgun Gothic" pitchFamily="34" charset="-120"/>
              </a:rPr>
              <a:t>)</a:t>
            </a:r>
            <a:endParaRPr lang="en-US" sz="900" dirty="0"/>
          </a:p>
        </p:txBody>
      </p:sp>
      <p:sp>
        <p:nvSpPr>
          <p:cNvPr id="23" name="Shape 20"/>
          <p:cNvSpPr/>
          <p:nvPr/>
        </p:nvSpPr>
        <p:spPr>
          <a:xfrm>
            <a:off x="640080" y="5852160"/>
            <a:ext cx="10881360" cy="1005840"/>
          </a:xfrm>
          <a:prstGeom prst="rect">
            <a:avLst/>
          </a:prstGeom>
          <a:solidFill>
            <a:srgbClr val="F9FAFB"/>
          </a:solidFill>
          <a:ln w="6350">
            <a:solidFill>
              <a:srgbClr val="D1D5DB"/>
            </a:solidFill>
            <a:prstDash val="solid"/>
          </a:ln>
        </p:spPr>
        <p:txBody>
          <a:bodyPr/>
          <a:lstStyle/>
          <a:p>
            <a:endParaRPr lang="ko-KR" altLang="en-US"/>
          </a:p>
        </p:txBody>
      </p:sp>
      <p:sp>
        <p:nvSpPr>
          <p:cNvPr id="24" name="Shape 21"/>
          <p:cNvSpPr/>
          <p:nvPr/>
        </p:nvSpPr>
        <p:spPr>
          <a:xfrm>
            <a:off x="640080" y="5852160"/>
            <a:ext cx="73152" cy="1005840"/>
          </a:xfrm>
          <a:prstGeom prst="rect">
            <a:avLst/>
          </a:prstGeom>
          <a:solidFill>
            <a:srgbClr val="1E40AF"/>
          </a:solidFill>
          <a:ln w="12700">
            <a:solidFill>
              <a:srgbClr val="1E40AF"/>
            </a:solidFill>
            <a:prstDash val="solid"/>
          </a:ln>
        </p:spPr>
        <p:txBody>
          <a:bodyPr/>
          <a:lstStyle/>
          <a:p>
            <a:endParaRPr lang="ko-KR" altLang="en-US"/>
          </a:p>
        </p:txBody>
      </p:sp>
      <p:sp>
        <p:nvSpPr>
          <p:cNvPr id="25" name="Text 22"/>
          <p:cNvSpPr/>
          <p:nvPr/>
        </p:nvSpPr>
        <p:spPr>
          <a:xfrm>
            <a:off x="868680" y="5897880"/>
            <a:ext cx="10561320" cy="292608"/>
          </a:xfrm>
          <a:prstGeom prst="rect">
            <a:avLst/>
          </a:prstGeom>
          <a:noFill/>
          <a:ln/>
        </p:spPr>
        <p:txBody>
          <a:bodyPr wrap="square" lIns="0" tIns="0" rIns="0" bIns="0" rtlCol="0" anchor="ctr"/>
          <a:lstStyle/>
          <a:p>
            <a:pPr marL="0" indent="0">
              <a:buNone/>
            </a:pPr>
            <a:r>
              <a:rPr lang="en-US" sz="1100" b="1" kern="0" spc="100" dirty="0">
                <a:solidFill>
                  <a:srgbClr val="1E40AF"/>
                </a:solidFill>
                <a:latin typeface="Malgun Gothic" pitchFamily="34" charset="0"/>
                <a:ea typeface="Malgun Gothic" pitchFamily="34" charset="-122"/>
                <a:cs typeface="Malgun Gothic" pitchFamily="34" charset="-120"/>
              </a:rPr>
              <a:t>핵심 개념  </a:t>
            </a:r>
            <a:r>
              <a:rPr lang="en-US" sz="1100" dirty="0">
                <a:solidFill>
                  <a:srgbClr val="6B7280"/>
                </a:solidFill>
                <a:latin typeface="Malgun Gothic" pitchFamily="34" charset="0"/>
                <a:ea typeface="Malgun Gothic" pitchFamily="34" charset="-122"/>
                <a:cs typeface="Malgun Gothic" pitchFamily="34" charset="-120"/>
              </a:rPr>
              <a:t>·  </a:t>
            </a:r>
            <a:r>
              <a:rPr lang="en-US" sz="1100" b="1" dirty="0">
                <a:solidFill>
                  <a:srgbClr val="111827"/>
                </a:solidFill>
                <a:latin typeface="Malgun Gothic" pitchFamily="34" charset="0"/>
                <a:ea typeface="Malgun Gothic" pitchFamily="34" charset="-122"/>
                <a:cs typeface="Malgun Gothic" pitchFamily="34" charset="-120"/>
              </a:rPr>
              <a:t>Volumetric Rendering — NeRF와 동일한 이미지 생성 방식</a:t>
            </a:r>
            <a:endParaRPr lang="en-US" sz="1100" dirty="0"/>
          </a:p>
        </p:txBody>
      </p:sp>
      <p:sp>
        <p:nvSpPr>
          <p:cNvPr id="26" name="Text 23"/>
          <p:cNvSpPr/>
          <p:nvPr/>
        </p:nvSpPr>
        <p:spPr>
          <a:xfrm>
            <a:off x="868680" y="6181344"/>
            <a:ext cx="10561320" cy="347472"/>
          </a:xfrm>
          <a:prstGeom prst="rect">
            <a:avLst/>
          </a:prstGeom>
          <a:noFill/>
          <a:ln/>
        </p:spPr>
        <p:txBody>
          <a:bodyPr wrap="square" lIns="0" tIns="0" rIns="0" bIns="0" rtlCol="0" anchor="t"/>
          <a:lstStyle/>
          <a:p>
            <a:pPr marL="0" indent="0">
              <a:buNone/>
            </a:pPr>
            <a:r>
              <a:rPr lang="en-US" sz="1050" dirty="0">
                <a:solidFill>
                  <a:srgbClr val="1A202C"/>
                </a:solidFill>
                <a:latin typeface="Malgun Gothic" pitchFamily="34" charset="0"/>
                <a:ea typeface="Malgun Gothic" pitchFamily="34" charset="-122"/>
                <a:cs typeface="Malgun Gothic" pitchFamily="34" charset="-120"/>
              </a:rPr>
              <a:t>픽셀 하나의 색은  depth 순으로 정렬된 N개 Gaussian을  front-to-back  으로 α-blending해서 합성한다. NeRF의  volume rendering equation  과 수학적으로 완전히 똑같지만, NeRF는 ray마다 100개 이상을 샘플링하는 반면 3DGS는 화면에 투영된 Gaussian 몇 개만 처리해서 훨씬 빠르다.</a:t>
            </a:r>
            <a:endParaRPr lang="en-US" sz="1050" dirty="0"/>
          </a:p>
        </p:txBody>
      </p:sp>
      <p:sp>
        <p:nvSpPr>
          <p:cNvPr id="27" name="Text 24"/>
          <p:cNvSpPr/>
          <p:nvPr/>
        </p:nvSpPr>
        <p:spPr>
          <a:xfrm>
            <a:off x="868680" y="6537960"/>
            <a:ext cx="10561320" cy="292608"/>
          </a:xfrm>
          <a:prstGeom prst="rect">
            <a:avLst/>
          </a:prstGeom>
          <a:noFill/>
          <a:ln/>
        </p:spPr>
        <p:txBody>
          <a:bodyPr wrap="square" lIns="0" tIns="0" rIns="0" bIns="0" rtlCol="0" anchor="ctr"/>
          <a:lstStyle/>
          <a:p>
            <a:pPr marL="0" indent="0">
              <a:buNone/>
            </a:pPr>
            <a:r>
              <a:rPr lang="en-US" sz="1000" b="1" dirty="0">
                <a:solidFill>
                  <a:srgbClr val="065F46"/>
                </a:solidFill>
                <a:latin typeface="Malgun Gothic" pitchFamily="34" charset="0"/>
                <a:ea typeface="Malgun Gothic" pitchFamily="34" charset="-122"/>
                <a:cs typeface="Malgun Gothic" pitchFamily="34" charset="-120"/>
              </a:rPr>
              <a:t>구현에서는  </a:t>
            </a:r>
            <a:r>
              <a:rPr lang="en-US" sz="1000" dirty="0">
                <a:solidFill>
                  <a:srgbClr val="6B7280"/>
                </a:solidFill>
                <a:latin typeface="Malgun Gothic" pitchFamily="34" charset="0"/>
                <a:ea typeface="Malgun Gothic" pitchFamily="34" charset="-122"/>
                <a:cs typeface="Malgun Gothic" pitchFamily="34" charset="-120"/>
              </a:rPr>
              <a:t>·  </a:t>
            </a:r>
            <a:r>
              <a:rPr lang="en-US" sz="1000" dirty="0">
                <a:solidFill>
                  <a:srgbClr val="1A202C"/>
                </a:solidFill>
                <a:latin typeface="Malgun Gothic" pitchFamily="34" charset="0"/>
                <a:ea typeface="Malgun Gothic" pitchFamily="34" charset="-122"/>
                <a:cs typeface="Malgun Gothic" pitchFamily="34" charset="-120"/>
              </a:rPr>
              <a:t>①  α = (학습된 opacity) × exp(power)  —  학습 불투명도와 Gaussian falloff를 결합. ②  T &lt; 0.0001 이면 pixel 스레드 조기 종료  (이론엔 없는 성능 최적화). ③  C[ch] += features · α · T  로 색을 front-to-back 누적하면서 매 iter  T *= (1−α).</a:t>
            </a:r>
            <a:endParaRPr lang="en-US" sz="1000" dirty="0"/>
          </a:p>
        </p:txBody>
      </p:sp>
      <p:sp>
        <p:nvSpPr>
          <p:cNvPr id="28" name="Text 25"/>
          <p:cNvSpPr/>
          <p:nvPr/>
        </p:nvSpPr>
        <p:spPr>
          <a:xfrm>
            <a:off x="11064240" y="649224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Malgun Gothic" pitchFamily="34" charset="0"/>
                <a:ea typeface="Malgun Gothic" pitchFamily="34" charset="-122"/>
                <a:cs typeface="Malgun Gothic" pitchFamily="34" charset="-120"/>
              </a:rPr>
              <a:t>8 / 13</a:t>
            </a:r>
            <a:endParaRPr lang="en-US" sz="1000" dirty="0"/>
          </a:p>
        </p:txBody>
      </p:sp>
      <p:sp>
        <p:nvSpPr>
          <p:cNvPr id="29" name="왼쪽 화살표[L] 28">
            <a:extLst>
              <a:ext uri="{FF2B5EF4-FFF2-40B4-BE49-F238E27FC236}">
                <a16:creationId xmlns:a16="http://schemas.microsoft.com/office/drawing/2014/main" id="{29E7A880-3953-0A91-8B7E-A013352597EE}"/>
              </a:ext>
            </a:extLst>
          </p:cNvPr>
          <p:cNvSpPr/>
          <p:nvPr/>
        </p:nvSpPr>
        <p:spPr>
          <a:xfrm>
            <a:off x="4232082" y="4734306"/>
            <a:ext cx="242515" cy="219456"/>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0" name="왼쪽 화살표[L] 29">
            <a:extLst>
              <a:ext uri="{FF2B5EF4-FFF2-40B4-BE49-F238E27FC236}">
                <a16:creationId xmlns:a16="http://schemas.microsoft.com/office/drawing/2014/main" id="{05FA6D4D-C23C-2473-192E-44F12BB6B41C}"/>
              </a:ext>
            </a:extLst>
          </p:cNvPr>
          <p:cNvSpPr/>
          <p:nvPr/>
        </p:nvSpPr>
        <p:spPr>
          <a:xfrm>
            <a:off x="4232082" y="5152048"/>
            <a:ext cx="242515" cy="219456"/>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1" name="왼쪽 화살표[L] 30">
            <a:extLst>
              <a:ext uri="{FF2B5EF4-FFF2-40B4-BE49-F238E27FC236}">
                <a16:creationId xmlns:a16="http://schemas.microsoft.com/office/drawing/2014/main" id="{A4C5C42F-78F3-3F6C-67B9-1EF3D9D79F96}"/>
              </a:ext>
            </a:extLst>
          </p:cNvPr>
          <p:cNvSpPr/>
          <p:nvPr/>
        </p:nvSpPr>
        <p:spPr>
          <a:xfrm>
            <a:off x="4206240" y="5421895"/>
            <a:ext cx="242515" cy="219456"/>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74320"/>
          </a:xfrm>
          <a:prstGeom prst="rect">
            <a:avLst/>
          </a:prstGeom>
          <a:noFill/>
          <a:ln/>
        </p:spPr>
        <p:txBody>
          <a:bodyPr wrap="square" lIns="0" tIns="0" rIns="0" bIns="0" rtlCol="0" anchor="ctr"/>
          <a:lstStyle/>
          <a:p>
            <a:pPr marL="0" indent="0">
              <a:buNone/>
            </a:pPr>
            <a:r>
              <a:rPr lang="en-US" sz="1100" b="1" kern="0" spc="200" dirty="0">
                <a:solidFill>
                  <a:srgbClr val="1E40AF"/>
                </a:solidFill>
                <a:latin typeface="Malgun Gothic" pitchFamily="34" charset="0"/>
                <a:ea typeface="Malgun Gothic" pitchFamily="34" charset="-122"/>
                <a:cs typeface="Malgun Gothic" pitchFamily="34" charset="-120"/>
              </a:rPr>
              <a:t>08. 논문 ↔ 코드 리뷰 ④</a:t>
            </a:r>
            <a:endParaRPr lang="en-US" sz="1100" dirty="0"/>
          </a:p>
        </p:txBody>
      </p:sp>
      <p:sp>
        <p:nvSpPr>
          <p:cNvPr id="3" name="Text 1"/>
          <p:cNvSpPr/>
          <p:nvPr/>
        </p:nvSpPr>
        <p:spPr>
          <a:xfrm>
            <a:off x="640080" y="640080"/>
            <a:ext cx="10972800" cy="548640"/>
          </a:xfrm>
          <a:prstGeom prst="rect">
            <a:avLst/>
          </a:prstGeom>
          <a:noFill/>
          <a:ln/>
        </p:spPr>
        <p:txBody>
          <a:bodyPr wrap="square" lIns="0" tIns="0" rIns="0" bIns="0" rtlCol="0" anchor="ctr"/>
          <a:lstStyle/>
          <a:p>
            <a:pPr marL="0" indent="0">
              <a:buNone/>
            </a:pPr>
            <a:r>
              <a:rPr lang="en-US" sz="2400" b="1" dirty="0">
                <a:solidFill>
                  <a:srgbClr val="111827"/>
                </a:solidFill>
                <a:latin typeface="Malgun Gothic" pitchFamily="34" charset="0"/>
                <a:ea typeface="Malgun Gothic" pitchFamily="34" charset="-122"/>
                <a:cs typeface="Malgun Gothic" pitchFamily="34" charset="-120"/>
              </a:rPr>
              <a:t>Tile-based Rasterization — 논문의 핵심 엔지니어링 기여</a:t>
            </a:r>
            <a:endParaRPr lang="en-US" sz="2400" dirty="0"/>
          </a:p>
        </p:txBody>
      </p:sp>
      <p:sp>
        <p:nvSpPr>
          <p:cNvPr id="4" name="Shape 2"/>
          <p:cNvSpPr/>
          <p:nvPr/>
        </p:nvSpPr>
        <p:spPr>
          <a:xfrm>
            <a:off x="640080" y="1280160"/>
            <a:ext cx="10881360" cy="0"/>
          </a:xfrm>
          <a:prstGeom prst="line">
            <a:avLst/>
          </a:prstGeom>
          <a:noFill/>
          <a:ln w="9525">
            <a:solidFill>
              <a:srgbClr val="D1D5DB"/>
            </a:solidFill>
            <a:prstDash val="solid"/>
          </a:ln>
        </p:spPr>
        <p:txBody>
          <a:bodyPr/>
          <a:lstStyle/>
          <a:p>
            <a:endParaRPr lang="ko-KR" altLang="en-US"/>
          </a:p>
        </p:txBody>
      </p:sp>
      <p:sp>
        <p:nvSpPr>
          <p:cNvPr id="5" name="Shape 3"/>
          <p:cNvSpPr/>
          <p:nvPr/>
        </p:nvSpPr>
        <p:spPr>
          <a:xfrm>
            <a:off x="640080" y="1417320"/>
            <a:ext cx="6126480" cy="1828800"/>
          </a:xfrm>
          <a:prstGeom prst="rect">
            <a:avLst/>
          </a:prstGeom>
          <a:solidFill>
            <a:srgbClr val="F0FDF4"/>
          </a:solidFill>
          <a:ln w="9525">
            <a:solidFill>
              <a:srgbClr val="BBF7D0"/>
            </a:solidFill>
            <a:prstDash val="solid"/>
          </a:ln>
        </p:spPr>
        <p:txBody>
          <a:bodyPr/>
          <a:lstStyle/>
          <a:p>
            <a:endParaRPr lang="ko-KR" altLang="en-US"/>
          </a:p>
        </p:txBody>
      </p:sp>
      <p:sp>
        <p:nvSpPr>
          <p:cNvPr id="6" name="Shape 4"/>
          <p:cNvSpPr/>
          <p:nvPr/>
        </p:nvSpPr>
        <p:spPr>
          <a:xfrm>
            <a:off x="640080" y="1417320"/>
            <a:ext cx="73152" cy="1828800"/>
          </a:xfrm>
          <a:prstGeom prst="rect">
            <a:avLst/>
          </a:prstGeom>
          <a:solidFill>
            <a:srgbClr val="065F46"/>
          </a:solidFill>
          <a:ln/>
        </p:spPr>
        <p:txBody>
          <a:bodyPr/>
          <a:lstStyle/>
          <a:p>
            <a:endParaRPr lang="ko-KR" altLang="en-US"/>
          </a:p>
        </p:txBody>
      </p:sp>
      <p:sp>
        <p:nvSpPr>
          <p:cNvPr id="7" name="Text 5"/>
          <p:cNvSpPr/>
          <p:nvPr/>
        </p:nvSpPr>
        <p:spPr>
          <a:xfrm>
            <a:off x="841248" y="1527048"/>
            <a:ext cx="914400" cy="274320"/>
          </a:xfrm>
          <a:prstGeom prst="rect">
            <a:avLst/>
          </a:prstGeom>
          <a:noFill/>
          <a:ln/>
        </p:spPr>
        <p:txBody>
          <a:bodyPr wrap="square" lIns="0" tIns="0" rIns="0" bIns="0" rtlCol="0" anchor="ctr"/>
          <a:lstStyle/>
          <a:p>
            <a:pPr marL="0" indent="0">
              <a:buNone/>
            </a:pPr>
            <a:r>
              <a:rPr lang="en-US" sz="1000" b="1" kern="0" spc="300" dirty="0">
                <a:solidFill>
                  <a:srgbClr val="065F46"/>
                </a:solidFill>
                <a:latin typeface="Calibri" pitchFamily="34" charset="0"/>
                <a:ea typeface="Calibri" pitchFamily="34" charset="-122"/>
                <a:cs typeface="Calibri" pitchFamily="34" charset="-120"/>
              </a:rPr>
              <a:t>PAPER</a:t>
            </a:r>
            <a:endParaRPr lang="en-US" sz="1000" dirty="0"/>
          </a:p>
        </p:txBody>
      </p:sp>
      <p:sp>
        <p:nvSpPr>
          <p:cNvPr id="8" name="Text 6"/>
          <p:cNvSpPr/>
          <p:nvPr/>
        </p:nvSpPr>
        <p:spPr>
          <a:xfrm>
            <a:off x="1783080" y="1527048"/>
            <a:ext cx="4846320" cy="27432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Kerbl et al. 2023, Section 4  — pre-sort Gaussians once per frame</a:t>
            </a:r>
            <a:endParaRPr lang="en-US" sz="1000" dirty="0"/>
          </a:p>
        </p:txBody>
      </p:sp>
      <p:sp>
        <p:nvSpPr>
          <p:cNvPr id="9" name="Text 7"/>
          <p:cNvSpPr/>
          <p:nvPr/>
        </p:nvSpPr>
        <p:spPr>
          <a:xfrm>
            <a:off x="868680" y="1856232"/>
            <a:ext cx="5760720" cy="256032"/>
          </a:xfrm>
          <a:prstGeom prst="rect">
            <a:avLst/>
          </a:prstGeom>
          <a:noFill/>
          <a:ln/>
        </p:spPr>
        <p:txBody>
          <a:bodyPr wrap="square" lIns="0" tIns="0" rIns="0" bIns="0" rtlCol="0" anchor="ctr"/>
          <a:lstStyle/>
          <a:p>
            <a:pPr marL="0" indent="0">
              <a:buNone/>
            </a:pPr>
            <a:r>
              <a:rPr lang="en-US" sz="1100" b="1" dirty="0">
                <a:solidFill>
                  <a:srgbClr val="065F46"/>
                </a:solidFill>
                <a:latin typeface="Malgun Gothic" pitchFamily="34" charset="0"/>
                <a:ea typeface="Malgun Gothic" pitchFamily="34" charset="-122"/>
                <a:cs typeface="Malgun Gothic" pitchFamily="34" charset="-120"/>
              </a:rPr>
              <a:t>핵심 아이디어</a:t>
            </a:r>
            <a:endParaRPr lang="en-US" sz="1100" dirty="0"/>
          </a:p>
        </p:txBody>
      </p:sp>
      <p:sp>
        <p:nvSpPr>
          <p:cNvPr id="10" name="Text 8"/>
          <p:cNvSpPr/>
          <p:nvPr/>
        </p:nvSpPr>
        <p:spPr>
          <a:xfrm>
            <a:off x="868680" y="2130552"/>
            <a:ext cx="5760720" cy="594360"/>
          </a:xfrm>
          <a:prstGeom prst="rect">
            <a:avLst/>
          </a:prstGeom>
          <a:noFill/>
          <a:ln/>
        </p:spPr>
        <p:txBody>
          <a:bodyPr wrap="square" lIns="0" tIns="0" rIns="0" bIns="0" rtlCol="0" anchor="t"/>
          <a:lstStyle/>
          <a:p>
            <a:pPr marL="0" indent="0">
              <a:buNone/>
            </a:pPr>
            <a:r>
              <a:rPr lang="en-US" sz="1050" dirty="0">
                <a:solidFill>
                  <a:srgbClr val="1A202C"/>
                </a:solidFill>
                <a:latin typeface="Malgun Gothic" pitchFamily="34" charset="0"/>
                <a:ea typeface="Malgun Gothic" pitchFamily="34" charset="-122"/>
                <a:cs typeface="Malgun Gothic" pitchFamily="34" charset="-120"/>
              </a:rPr>
              <a:t>화면을 </a:t>
            </a:r>
            <a:r>
              <a:rPr lang="en-US" sz="1050" b="1" dirty="0">
                <a:solidFill>
                  <a:srgbClr val="065F46"/>
                </a:solidFill>
                <a:latin typeface="Malgun Gothic" pitchFamily="34" charset="0"/>
                <a:ea typeface="Malgun Gothic" pitchFamily="34" charset="-122"/>
                <a:cs typeface="Malgun Gothic" pitchFamily="34" charset="-120"/>
              </a:rPr>
              <a:t>16×16 픽셀 tile</a:t>
            </a:r>
            <a:r>
              <a:rPr lang="en-US" sz="1050" dirty="0">
                <a:solidFill>
                  <a:srgbClr val="1A202C"/>
                </a:solidFill>
                <a:latin typeface="Malgun Gothic" pitchFamily="34" charset="0"/>
                <a:ea typeface="Malgun Gothic" pitchFamily="34" charset="-122"/>
                <a:cs typeface="Malgun Gothic" pitchFamily="34" charset="-120"/>
              </a:rPr>
              <a:t>로 나누고, </a:t>
            </a:r>
            <a:r>
              <a:rPr lang="en-US" sz="1050" b="1" dirty="0">
                <a:solidFill>
                  <a:srgbClr val="065F46"/>
                </a:solidFill>
                <a:latin typeface="Malgun Gothic" pitchFamily="34" charset="0"/>
                <a:ea typeface="Malgun Gothic" pitchFamily="34" charset="-122"/>
                <a:cs typeface="Malgun Gothic" pitchFamily="34" charset="-120"/>
              </a:rPr>
              <a:t>프레임당 단 한 번의 global radix sort</a:t>
            </a:r>
            <a:r>
              <a:rPr lang="en-US" sz="1050" dirty="0">
                <a:solidFill>
                  <a:srgbClr val="1A202C"/>
                </a:solidFill>
                <a:latin typeface="Malgun Gothic" pitchFamily="34" charset="0"/>
                <a:ea typeface="Malgun Gothic" pitchFamily="34" charset="-122"/>
                <a:cs typeface="Malgun Gothic" pitchFamily="34" charset="-120"/>
              </a:rPr>
              <a:t>로 모든 tile의 순서를 동시에 결정.</a:t>
            </a:r>
            <a:endParaRPr lang="en-US" sz="1050" dirty="0"/>
          </a:p>
        </p:txBody>
      </p:sp>
      <p:sp>
        <p:nvSpPr>
          <p:cNvPr id="11" name="Text 9"/>
          <p:cNvSpPr/>
          <p:nvPr/>
        </p:nvSpPr>
        <p:spPr>
          <a:xfrm>
            <a:off x="868680" y="2816352"/>
            <a:ext cx="5760720" cy="256032"/>
          </a:xfrm>
          <a:prstGeom prst="rect">
            <a:avLst/>
          </a:prstGeom>
          <a:noFill/>
          <a:ln/>
        </p:spPr>
        <p:txBody>
          <a:bodyPr wrap="square" lIns="0" tIns="0" rIns="0" bIns="0" rtlCol="0" anchor="ctr"/>
          <a:lstStyle/>
          <a:p>
            <a:pPr marL="0" indent="0">
              <a:buNone/>
            </a:pPr>
            <a:r>
              <a:rPr lang="en-US" sz="1100" b="1" dirty="0">
                <a:solidFill>
                  <a:srgbClr val="065F46"/>
                </a:solidFill>
                <a:latin typeface="Malgun Gothic" pitchFamily="34" charset="0"/>
                <a:ea typeface="Malgun Gothic" pitchFamily="34" charset="-122"/>
                <a:cs typeface="Malgun Gothic" pitchFamily="34" charset="-120"/>
              </a:rPr>
              <a:t>왜 이게 빠른가?</a:t>
            </a:r>
            <a:endParaRPr lang="en-US" sz="1100" dirty="0"/>
          </a:p>
        </p:txBody>
      </p:sp>
      <p:sp>
        <p:nvSpPr>
          <p:cNvPr id="12" name="Text 10"/>
          <p:cNvSpPr/>
          <p:nvPr/>
        </p:nvSpPr>
        <p:spPr>
          <a:xfrm>
            <a:off x="868680" y="3090672"/>
            <a:ext cx="5760720" cy="640080"/>
          </a:xfrm>
          <a:prstGeom prst="rect">
            <a:avLst/>
          </a:prstGeom>
          <a:noFill/>
          <a:ln/>
        </p:spPr>
        <p:txBody>
          <a:bodyPr wrap="square" lIns="0" tIns="0" rIns="0" bIns="0" rtlCol="0" anchor="t"/>
          <a:lstStyle/>
          <a:p>
            <a:pPr marL="0" indent="0">
              <a:buNone/>
            </a:pPr>
            <a:r>
              <a:rPr lang="en-US" sz="1000" dirty="0">
                <a:solidFill>
                  <a:srgbClr val="1A202C"/>
                </a:solidFill>
                <a:latin typeface="Malgun Gothic" pitchFamily="34" charset="0"/>
                <a:ea typeface="Malgun Gothic" pitchFamily="34" charset="-122"/>
                <a:cs typeface="Malgun Gothic" pitchFamily="34" charset="-120"/>
              </a:rPr>
              <a:t>1080p → 약 </a:t>
            </a:r>
            <a:r>
              <a:rPr lang="en-US" sz="1000" b="1" dirty="0">
                <a:solidFill>
                  <a:srgbClr val="1A202C"/>
                </a:solidFill>
                <a:latin typeface="Malgun Gothic" pitchFamily="34" charset="0"/>
                <a:ea typeface="Malgun Gothic" pitchFamily="34" charset="-122"/>
                <a:cs typeface="Malgun Gothic" pitchFamily="34" charset="-120"/>
              </a:rPr>
              <a:t>8100개 tile</a:t>
            </a:r>
            <a:r>
              <a:rPr lang="en-US" sz="1000" dirty="0">
                <a:solidFill>
                  <a:srgbClr val="1A202C"/>
                </a:solidFill>
                <a:latin typeface="Malgun Gothic" pitchFamily="34" charset="0"/>
                <a:ea typeface="Malgun Gothic" pitchFamily="34" charset="-122"/>
                <a:cs typeface="Malgun Gothic" pitchFamily="34" charset="-120"/>
              </a:rPr>
              <a:t>. tile마다 따로 정렬 대신 </a:t>
            </a:r>
            <a:r>
              <a:rPr lang="en-US" sz="1000" b="1" dirty="0">
                <a:solidFill>
                  <a:srgbClr val="065F46"/>
                </a:solidFill>
                <a:latin typeface="Consolas" pitchFamily="34" charset="0"/>
                <a:ea typeface="Consolas" pitchFamily="34" charset="-122"/>
                <a:cs typeface="Consolas" pitchFamily="34" charset="-120"/>
              </a:rPr>
              <a:t>64-bit key </a:t>
            </a:r>
            <a:r>
              <a:rPr lang="en-US" sz="1000" dirty="0">
                <a:solidFill>
                  <a:srgbClr val="1A202C"/>
                </a:solidFill>
                <a:latin typeface="Malgun Gothic" pitchFamily="34" charset="0"/>
                <a:ea typeface="Malgun Gothic" pitchFamily="34" charset="-122"/>
                <a:cs typeface="Malgun Gothic" pitchFamily="34" charset="-120"/>
              </a:rPr>
              <a:t>한 방에 전역 정렬 → 실시간.</a:t>
            </a:r>
            <a:endParaRPr lang="en-US" sz="1000" dirty="0"/>
          </a:p>
        </p:txBody>
      </p:sp>
      <p:pic>
        <p:nvPicPr>
          <p:cNvPr id="13" name="Image 0" descr="/home/claude/output2/viz_tile_rasterization.png"/>
          <p:cNvPicPr>
            <a:picLocks noChangeAspect="1"/>
          </p:cNvPicPr>
          <p:nvPr/>
        </p:nvPicPr>
        <p:blipFill>
          <a:blip r:embed="rId3"/>
          <a:stretch>
            <a:fillRect/>
          </a:stretch>
        </p:blipFill>
        <p:spPr>
          <a:xfrm>
            <a:off x="6903720" y="1417320"/>
            <a:ext cx="4709160" cy="4251960"/>
          </a:xfrm>
          <a:prstGeom prst="rect">
            <a:avLst/>
          </a:prstGeom>
        </p:spPr>
      </p:pic>
      <p:sp>
        <p:nvSpPr>
          <p:cNvPr id="14" name="Shape 11"/>
          <p:cNvSpPr/>
          <p:nvPr/>
        </p:nvSpPr>
        <p:spPr>
          <a:xfrm>
            <a:off x="640080" y="3291840"/>
            <a:ext cx="6126480" cy="2514600"/>
          </a:xfrm>
          <a:prstGeom prst="rect">
            <a:avLst/>
          </a:prstGeom>
          <a:solidFill>
            <a:srgbClr val="EFF6FF"/>
          </a:solidFill>
          <a:ln w="9525">
            <a:solidFill>
              <a:srgbClr val="BFDBFE"/>
            </a:solidFill>
            <a:prstDash val="solid"/>
          </a:ln>
        </p:spPr>
        <p:txBody>
          <a:bodyPr/>
          <a:lstStyle/>
          <a:p>
            <a:endParaRPr lang="ko-KR" altLang="en-US"/>
          </a:p>
        </p:txBody>
      </p:sp>
      <p:sp>
        <p:nvSpPr>
          <p:cNvPr id="15" name="Shape 12"/>
          <p:cNvSpPr/>
          <p:nvPr/>
        </p:nvSpPr>
        <p:spPr>
          <a:xfrm>
            <a:off x="640080" y="3291840"/>
            <a:ext cx="73152" cy="2514600"/>
          </a:xfrm>
          <a:prstGeom prst="rect">
            <a:avLst/>
          </a:prstGeom>
          <a:solidFill>
            <a:srgbClr val="1E40AF"/>
          </a:solidFill>
          <a:ln/>
        </p:spPr>
        <p:txBody>
          <a:bodyPr/>
          <a:lstStyle/>
          <a:p>
            <a:endParaRPr lang="ko-KR" altLang="en-US"/>
          </a:p>
        </p:txBody>
      </p:sp>
      <p:sp>
        <p:nvSpPr>
          <p:cNvPr id="16" name="Text 13"/>
          <p:cNvSpPr/>
          <p:nvPr/>
        </p:nvSpPr>
        <p:spPr>
          <a:xfrm>
            <a:off x="841248" y="3401568"/>
            <a:ext cx="914400" cy="274320"/>
          </a:xfrm>
          <a:prstGeom prst="rect">
            <a:avLst/>
          </a:prstGeom>
          <a:noFill/>
          <a:ln/>
        </p:spPr>
        <p:txBody>
          <a:bodyPr wrap="square" lIns="0" tIns="0" rIns="0" bIns="0" rtlCol="0" anchor="ctr"/>
          <a:lstStyle/>
          <a:p>
            <a:pPr marL="0" indent="0">
              <a:buNone/>
            </a:pPr>
            <a:r>
              <a:rPr lang="en-US" sz="1000" b="1" kern="0" spc="300" dirty="0">
                <a:solidFill>
                  <a:srgbClr val="1E40AF"/>
                </a:solidFill>
                <a:latin typeface="Calibri" pitchFamily="34" charset="0"/>
                <a:ea typeface="Calibri" pitchFamily="34" charset="-122"/>
                <a:cs typeface="Calibri" pitchFamily="34" charset="-120"/>
              </a:rPr>
              <a:t>CODE</a:t>
            </a:r>
            <a:endParaRPr lang="en-US" sz="1000" dirty="0"/>
          </a:p>
        </p:txBody>
      </p:sp>
      <p:sp>
        <p:nvSpPr>
          <p:cNvPr id="17" name="Text 14"/>
          <p:cNvSpPr/>
          <p:nvPr/>
        </p:nvSpPr>
        <p:spPr>
          <a:xfrm>
            <a:off x="1463040" y="3401568"/>
            <a:ext cx="5212080" cy="274320"/>
          </a:xfrm>
          <a:prstGeom prst="rect">
            <a:avLst/>
          </a:prstGeom>
          <a:noFill/>
          <a:ln/>
        </p:spPr>
        <p:txBody>
          <a:bodyPr wrap="square" lIns="0" tIns="0" rIns="0" bIns="0" rtlCol="0" anchor="ctr"/>
          <a:lstStyle/>
          <a:p>
            <a:pPr marL="0" indent="0">
              <a:buNone/>
            </a:pPr>
            <a:r>
              <a:rPr lang="en-US" sz="1000" i="1" dirty="0">
                <a:solidFill>
                  <a:srgbClr val="6B7280"/>
                </a:solidFill>
                <a:latin typeface="Consolas" pitchFamily="34" charset="0"/>
                <a:ea typeface="Consolas" pitchFamily="34" charset="-122"/>
                <a:cs typeface="Consolas" pitchFamily="34" charset="-120"/>
              </a:rPr>
              <a:t>diff-gaussian-rasterization/cuda_rasterizer/</a:t>
            </a:r>
            <a:endParaRPr lang="en-US" sz="1000" dirty="0"/>
          </a:p>
        </p:txBody>
      </p:sp>
      <p:sp>
        <p:nvSpPr>
          <p:cNvPr id="18" name="Shape 15"/>
          <p:cNvSpPr/>
          <p:nvPr/>
        </p:nvSpPr>
        <p:spPr>
          <a:xfrm>
            <a:off x="868680" y="3730752"/>
            <a:ext cx="5760720" cy="1965960"/>
          </a:xfrm>
          <a:prstGeom prst="rect">
            <a:avLst/>
          </a:prstGeom>
          <a:solidFill>
            <a:srgbClr val="F3F4F6"/>
          </a:solidFill>
          <a:ln/>
        </p:spPr>
        <p:txBody>
          <a:bodyPr/>
          <a:lstStyle/>
          <a:p>
            <a:endParaRPr lang="ko-KR" altLang="en-US"/>
          </a:p>
        </p:txBody>
      </p:sp>
      <p:sp>
        <p:nvSpPr>
          <p:cNvPr id="19" name="Text 16"/>
          <p:cNvSpPr/>
          <p:nvPr/>
        </p:nvSpPr>
        <p:spPr>
          <a:xfrm>
            <a:off x="960120" y="3803904"/>
            <a:ext cx="5577840" cy="1819656"/>
          </a:xfrm>
          <a:prstGeom prst="rect">
            <a:avLst/>
          </a:prstGeom>
          <a:noFill/>
          <a:ln/>
        </p:spPr>
        <p:txBody>
          <a:bodyPr wrap="square" lIns="0" tIns="0" rIns="0" bIns="0" rtlCol="0" anchor="t"/>
          <a:lstStyle/>
          <a:p>
            <a:pPr marL="0" indent="0">
              <a:buNone/>
            </a:pPr>
            <a:r>
              <a:rPr lang="en-US" sz="900" dirty="0">
                <a:solidFill>
                  <a:srgbClr val="111827"/>
                </a:solidFill>
                <a:latin typeface="Consolas" pitchFamily="34" charset="0"/>
                <a:ea typeface="Consolas" pitchFamily="34" charset="-122"/>
                <a:cs typeface="Consolas" pitchFamily="34" charset="-120"/>
              </a:rPr>
              <a:t>// duplicateWithKeys — inner tile loop</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for (int y = rect_min.y; y &lt; rect_max.y; y++) {</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for (int x = rect_min.x; x &lt; rect_max.x; x++) {</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uint64_t key = y*grid.x + x;   // Tile ID</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key &lt;&lt;= 32;                    // upper 32</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key |= *((uint32_t*)&amp;depths[idx]);  //|lower 32</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gaussian_keys_unsorted[off] = key;</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gaussian_values_unsorted[off] = idx;</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off++;</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Sort by keys (once per frame)</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CHECK_CUDA(cub::DeviceRadixSort::SortPairs(</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binningState.list_sorting_space, ...,</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num_rendered, 0, 32 + bit), debug);</a:t>
            </a:r>
            <a:endParaRPr lang="en-US" sz="900" dirty="0"/>
          </a:p>
        </p:txBody>
      </p:sp>
      <p:sp>
        <p:nvSpPr>
          <p:cNvPr id="20" name="Text 17"/>
          <p:cNvSpPr/>
          <p:nvPr/>
        </p:nvSpPr>
        <p:spPr>
          <a:xfrm>
            <a:off x="4315968" y="4436231"/>
            <a:ext cx="2724912" cy="163180"/>
          </a:xfrm>
          <a:prstGeom prst="rect">
            <a:avLst/>
          </a:prstGeom>
          <a:noFill/>
          <a:ln/>
        </p:spPr>
        <p:txBody>
          <a:bodyPr wrap="square" lIns="0" tIns="0" rIns="0" bIns="0" rtlCol="0" anchor="ctr"/>
          <a:lstStyle/>
          <a:p>
            <a:pPr marL="0" indent="0">
              <a:buNone/>
            </a:pPr>
            <a:r>
              <a:rPr lang="ko-KR" altLang="en-US" sz="900" b="1" dirty="0">
                <a:solidFill>
                  <a:srgbClr val="DC2626"/>
                </a:solidFill>
                <a:latin typeface="Consolas" pitchFamily="34" charset="0"/>
                <a:ea typeface="Malgun Gothic" pitchFamily="34" charset="-122"/>
                <a:cs typeface="Consolas" pitchFamily="34" charset="-120"/>
              </a:rPr>
              <a:t>     </a:t>
            </a:r>
            <a:r>
              <a:rPr lang="en-US" sz="900" b="1" dirty="0">
                <a:solidFill>
                  <a:srgbClr val="DC2626"/>
                </a:solidFill>
                <a:latin typeface="Malgun Gothic" pitchFamily="34" charset="0"/>
                <a:ea typeface="Malgun Gothic" pitchFamily="34" charset="-122"/>
                <a:cs typeface="Malgun Gothic" pitchFamily="34" charset="-120"/>
              </a:rPr>
              <a:t>①  </a:t>
            </a:r>
            <a:r>
              <a:rPr lang="en-US" sz="900" b="1" dirty="0">
                <a:solidFill>
                  <a:srgbClr val="B91C1C"/>
                </a:solidFill>
                <a:latin typeface="Malgun Gothic" pitchFamily="34" charset="0"/>
                <a:ea typeface="Malgun Gothic" pitchFamily="34" charset="-122"/>
                <a:cs typeface="Malgun Gothic" pitchFamily="34" charset="-120"/>
              </a:rPr>
              <a:t>tile_ID + depth </a:t>
            </a:r>
            <a:r>
              <a:rPr lang="en-US" sz="900" b="1" dirty="0" err="1">
                <a:solidFill>
                  <a:srgbClr val="B91C1C"/>
                </a:solidFill>
                <a:latin typeface="Malgun Gothic" pitchFamily="34" charset="0"/>
                <a:ea typeface="Malgun Gothic" pitchFamily="34" charset="-122"/>
                <a:cs typeface="Malgun Gothic" pitchFamily="34" charset="-120"/>
              </a:rPr>
              <a:t>비트</a:t>
            </a:r>
            <a:r>
              <a:rPr lang="en-US" sz="900" b="1" dirty="0">
                <a:solidFill>
                  <a:srgbClr val="B91C1C"/>
                </a:solidFill>
                <a:latin typeface="Malgun Gothic" pitchFamily="34" charset="0"/>
                <a:ea typeface="Malgun Gothic" pitchFamily="34" charset="-122"/>
                <a:cs typeface="Malgun Gothic" pitchFamily="34" charset="-120"/>
              </a:rPr>
              <a:t> </a:t>
            </a:r>
            <a:r>
              <a:rPr lang="en-US" sz="900" b="1" dirty="0" err="1">
                <a:solidFill>
                  <a:srgbClr val="B91C1C"/>
                </a:solidFill>
                <a:latin typeface="Malgun Gothic" pitchFamily="34" charset="0"/>
                <a:ea typeface="Malgun Gothic" pitchFamily="34" charset="-122"/>
                <a:cs typeface="Malgun Gothic" pitchFamily="34" charset="-120"/>
              </a:rPr>
              <a:t>패킹</a:t>
            </a:r>
            <a:r>
              <a:rPr lang="ko-KR" altLang="en-US" sz="900" b="1" dirty="0" err="1">
                <a:solidFill>
                  <a:srgbClr val="B91C1C"/>
                </a:solidFill>
                <a:latin typeface="Malgun Gothic" pitchFamily="34" charset="0"/>
                <a:ea typeface="Malgun Gothic" pitchFamily="34" charset="-122"/>
                <a:cs typeface="Malgun Gothic" pitchFamily="34" charset="-120"/>
              </a:rPr>
              <a:t>으로</a:t>
            </a:r>
            <a:r>
              <a:rPr lang="ko-KR" altLang="en-US" sz="900" b="1" dirty="0">
                <a:solidFill>
                  <a:srgbClr val="B91C1C"/>
                </a:solidFill>
                <a:latin typeface="Malgun Gothic" pitchFamily="34" charset="0"/>
                <a:ea typeface="Malgun Gothic" pitchFamily="34" charset="-122"/>
                <a:cs typeface="Malgun Gothic" pitchFamily="34" charset="-120"/>
              </a:rPr>
              <a:t> </a:t>
            </a:r>
            <a:r>
              <a:rPr lang="en-US" altLang="ko-KR" sz="900" b="1" dirty="0">
                <a:solidFill>
                  <a:srgbClr val="B91C1C"/>
                </a:solidFill>
                <a:latin typeface="Malgun Gothic" pitchFamily="34" charset="0"/>
                <a:ea typeface="Malgun Gothic" pitchFamily="34" charset="-122"/>
                <a:cs typeface="Malgun Gothic" pitchFamily="34" charset="-120"/>
              </a:rPr>
              <a:t>key</a:t>
            </a:r>
            <a:r>
              <a:rPr lang="ko-KR" altLang="en-US" sz="900" b="1" dirty="0">
                <a:solidFill>
                  <a:srgbClr val="B91C1C"/>
                </a:solidFill>
                <a:latin typeface="Malgun Gothic" pitchFamily="34" charset="0"/>
                <a:ea typeface="Malgun Gothic" pitchFamily="34" charset="-122"/>
                <a:cs typeface="Malgun Gothic" pitchFamily="34" charset="-120"/>
              </a:rPr>
              <a:t>합침</a:t>
            </a:r>
            <a:endParaRPr lang="en-US" sz="900" dirty="0"/>
          </a:p>
        </p:txBody>
      </p:sp>
      <p:sp>
        <p:nvSpPr>
          <p:cNvPr id="21" name="Text 18"/>
          <p:cNvSpPr/>
          <p:nvPr/>
        </p:nvSpPr>
        <p:spPr>
          <a:xfrm>
            <a:off x="4169664" y="5550408"/>
            <a:ext cx="2468880" cy="219456"/>
          </a:xfrm>
          <a:prstGeom prst="rect">
            <a:avLst/>
          </a:prstGeom>
          <a:noFill/>
          <a:ln/>
        </p:spPr>
        <p:txBody>
          <a:bodyPr wrap="square" lIns="0" tIns="0" rIns="0" bIns="0" rtlCol="0" anchor="ctr"/>
          <a:lstStyle/>
          <a:p>
            <a:pPr marL="0" indent="0">
              <a:buNone/>
            </a:pPr>
            <a:r>
              <a:rPr lang="ko-KR" altLang="en-US" sz="900" b="1" dirty="0">
                <a:solidFill>
                  <a:srgbClr val="DC2626"/>
                </a:solidFill>
                <a:latin typeface="Malgun Gothic" pitchFamily="34" charset="0"/>
                <a:ea typeface="Malgun Gothic" pitchFamily="34" charset="-122"/>
                <a:cs typeface="Malgun Gothic" pitchFamily="34" charset="-120"/>
              </a:rPr>
              <a:t>          </a:t>
            </a:r>
            <a:r>
              <a:rPr lang="en-US" sz="900" b="1" dirty="0">
                <a:solidFill>
                  <a:srgbClr val="DC2626"/>
                </a:solidFill>
                <a:latin typeface="Malgun Gothic" pitchFamily="34" charset="0"/>
                <a:ea typeface="Malgun Gothic" pitchFamily="34" charset="-122"/>
                <a:cs typeface="Malgun Gothic" pitchFamily="34" charset="-120"/>
              </a:rPr>
              <a:t>②  </a:t>
            </a:r>
            <a:r>
              <a:rPr lang="en-US" sz="900" b="1" dirty="0">
                <a:solidFill>
                  <a:srgbClr val="B91C1C"/>
                </a:solidFill>
                <a:latin typeface="Malgun Gothic" pitchFamily="34" charset="0"/>
                <a:ea typeface="Malgun Gothic" pitchFamily="34" charset="-122"/>
                <a:cs typeface="Malgun Gothic" pitchFamily="34" charset="-120"/>
              </a:rPr>
              <a:t>프레임당 1회 전역 정렬</a:t>
            </a:r>
            <a:endParaRPr lang="en-US" sz="900" dirty="0"/>
          </a:p>
        </p:txBody>
      </p:sp>
      <p:sp>
        <p:nvSpPr>
          <p:cNvPr id="22" name="Shape 19"/>
          <p:cNvSpPr/>
          <p:nvPr/>
        </p:nvSpPr>
        <p:spPr>
          <a:xfrm>
            <a:off x="640080" y="5852160"/>
            <a:ext cx="10881360" cy="1005840"/>
          </a:xfrm>
          <a:prstGeom prst="rect">
            <a:avLst/>
          </a:prstGeom>
          <a:solidFill>
            <a:srgbClr val="F9FAFB"/>
          </a:solidFill>
          <a:ln w="6350">
            <a:solidFill>
              <a:srgbClr val="D1D5DB"/>
            </a:solidFill>
            <a:prstDash val="solid"/>
          </a:ln>
        </p:spPr>
        <p:txBody>
          <a:bodyPr/>
          <a:lstStyle/>
          <a:p>
            <a:endParaRPr lang="ko-KR" altLang="en-US"/>
          </a:p>
        </p:txBody>
      </p:sp>
      <p:sp>
        <p:nvSpPr>
          <p:cNvPr id="23" name="Shape 20"/>
          <p:cNvSpPr/>
          <p:nvPr/>
        </p:nvSpPr>
        <p:spPr>
          <a:xfrm>
            <a:off x="640080" y="5852160"/>
            <a:ext cx="73152" cy="1005840"/>
          </a:xfrm>
          <a:prstGeom prst="rect">
            <a:avLst/>
          </a:prstGeom>
          <a:solidFill>
            <a:srgbClr val="1E40AF"/>
          </a:solidFill>
          <a:ln w="12700">
            <a:solidFill>
              <a:srgbClr val="1E40AF"/>
            </a:solidFill>
            <a:prstDash val="solid"/>
          </a:ln>
        </p:spPr>
        <p:txBody>
          <a:bodyPr/>
          <a:lstStyle/>
          <a:p>
            <a:endParaRPr lang="ko-KR" altLang="en-US"/>
          </a:p>
        </p:txBody>
      </p:sp>
      <p:sp>
        <p:nvSpPr>
          <p:cNvPr id="24" name="Text 21"/>
          <p:cNvSpPr/>
          <p:nvPr/>
        </p:nvSpPr>
        <p:spPr>
          <a:xfrm>
            <a:off x="868680" y="5897880"/>
            <a:ext cx="10561320" cy="292608"/>
          </a:xfrm>
          <a:prstGeom prst="rect">
            <a:avLst/>
          </a:prstGeom>
          <a:noFill/>
          <a:ln/>
        </p:spPr>
        <p:txBody>
          <a:bodyPr wrap="square" lIns="0" tIns="0" rIns="0" bIns="0" rtlCol="0" anchor="ctr"/>
          <a:lstStyle/>
          <a:p>
            <a:pPr marL="0" indent="0">
              <a:buNone/>
            </a:pPr>
            <a:r>
              <a:rPr lang="en-US" sz="1100" b="1" kern="0" spc="100" dirty="0">
                <a:solidFill>
                  <a:srgbClr val="1E40AF"/>
                </a:solidFill>
                <a:latin typeface="Malgun Gothic" pitchFamily="34" charset="0"/>
                <a:ea typeface="Malgun Gothic" pitchFamily="34" charset="-122"/>
                <a:cs typeface="Malgun Gothic" pitchFamily="34" charset="-120"/>
              </a:rPr>
              <a:t>핵심 개념  </a:t>
            </a:r>
            <a:r>
              <a:rPr lang="en-US" sz="1100" dirty="0">
                <a:solidFill>
                  <a:srgbClr val="6B7280"/>
                </a:solidFill>
                <a:latin typeface="Malgun Gothic" pitchFamily="34" charset="0"/>
                <a:ea typeface="Malgun Gothic" pitchFamily="34" charset="-122"/>
                <a:cs typeface="Malgun Gothic" pitchFamily="34" charset="-120"/>
              </a:rPr>
              <a:t>·  </a:t>
            </a:r>
            <a:r>
              <a:rPr lang="en-US" sz="1100" b="1" dirty="0">
                <a:solidFill>
                  <a:srgbClr val="111827"/>
                </a:solidFill>
                <a:latin typeface="Malgun Gothic" pitchFamily="34" charset="0"/>
                <a:ea typeface="Malgun Gothic" pitchFamily="34" charset="-122"/>
                <a:cs typeface="Malgun Gothic" pitchFamily="34" charset="-120"/>
              </a:rPr>
              <a:t>Tile-based Rasterization — 실시간 성능의 비밀</a:t>
            </a:r>
            <a:endParaRPr lang="en-US" sz="1100" dirty="0"/>
          </a:p>
        </p:txBody>
      </p:sp>
      <p:sp>
        <p:nvSpPr>
          <p:cNvPr id="25" name="Text 22"/>
          <p:cNvSpPr/>
          <p:nvPr/>
        </p:nvSpPr>
        <p:spPr>
          <a:xfrm>
            <a:off x="868680" y="6181344"/>
            <a:ext cx="10561320" cy="347472"/>
          </a:xfrm>
          <a:prstGeom prst="rect">
            <a:avLst/>
          </a:prstGeom>
          <a:noFill/>
          <a:ln/>
        </p:spPr>
        <p:txBody>
          <a:bodyPr wrap="square" lIns="0" tIns="0" rIns="0" bIns="0" rtlCol="0" anchor="t"/>
          <a:lstStyle/>
          <a:p>
            <a:pPr marL="0" indent="0">
              <a:buNone/>
            </a:pPr>
            <a:r>
              <a:rPr lang="en-US" sz="1050" dirty="0">
                <a:solidFill>
                  <a:srgbClr val="1A202C"/>
                </a:solidFill>
                <a:latin typeface="Malgun Gothic" pitchFamily="34" charset="0"/>
                <a:ea typeface="Malgun Gothic" pitchFamily="34" charset="-122"/>
                <a:cs typeface="Malgun Gothic" pitchFamily="34" charset="-120"/>
              </a:rPr>
              <a:t>원래 α-blending은  '픽셀마다' 그 픽셀을 덮는 Gaussian을 depth 순으로 정렬해야 한다. 1080p에 Gaussian이 수백만 개라면 이건 너무 느리다. 3DGS는 화면을  16×16 tile 로 나눠서,  tile 단위로만 정렬 하는 방식으로 바꿨다. 이것이 논문의 핵심 engineering contribution이다.</a:t>
            </a:r>
            <a:endParaRPr lang="en-US" sz="1050" dirty="0"/>
          </a:p>
        </p:txBody>
      </p:sp>
      <p:sp>
        <p:nvSpPr>
          <p:cNvPr id="26" name="Text 23"/>
          <p:cNvSpPr/>
          <p:nvPr/>
        </p:nvSpPr>
        <p:spPr>
          <a:xfrm>
            <a:off x="868680" y="6537960"/>
            <a:ext cx="10561320" cy="292608"/>
          </a:xfrm>
          <a:prstGeom prst="rect">
            <a:avLst/>
          </a:prstGeom>
          <a:noFill/>
          <a:ln/>
        </p:spPr>
        <p:txBody>
          <a:bodyPr wrap="square" lIns="0" tIns="0" rIns="0" bIns="0" rtlCol="0" anchor="ctr"/>
          <a:lstStyle/>
          <a:p>
            <a:pPr marL="0" indent="0">
              <a:buNone/>
            </a:pPr>
            <a:r>
              <a:rPr lang="en-US" sz="1000" b="1" dirty="0">
                <a:solidFill>
                  <a:srgbClr val="065F46"/>
                </a:solidFill>
                <a:latin typeface="Malgun Gothic" pitchFamily="34" charset="0"/>
                <a:ea typeface="Malgun Gothic" pitchFamily="34" charset="-122"/>
                <a:cs typeface="Malgun Gothic" pitchFamily="34" charset="-120"/>
              </a:rPr>
              <a:t>구현에서는  </a:t>
            </a:r>
            <a:r>
              <a:rPr lang="en-US" sz="1000" dirty="0">
                <a:solidFill>
                  <a:srgbClr val="6B7280"/>
                </a:solidFill>
                <a:latin typeface="Malgun Gothic" pitchFamily="34" charset="0"/>
                <a:ea typeface="Malgun Gothic" pitchFamily="34" charset="-122"/>
                <a:cs typeface="Malgun Gothic" pitchFamily="34" charset="-120"/>
              </a:rPr>
              <a:t>·  </a:t>
            </a:r>
            <a:r>
              <a:rPr lang="en-US" sz="1000" dirty="0">
                <a:solidFill>
                  <a:srgbClr val="1A202C"/>
                </a:solidFill>
                <a:latin typeface="Malgun Gothic" pitchFamily="34" charset="0"/>
                <a:ea typeface="Malgun Gothic" pitchFamily="34" charset="-122"/>
                <a:cs typeface="Malgun Gothic" pitchFamily="34" charset="-120"/>
              </a:rPr>
              <a:t>①  64-bit key 에 tile_ID를 상위 32bit,  depth를 하위 32bit로 비트 패킹한다. ②  cub::DeviceRadixSort::SortPairs 를 프레임당 딱 한 번 호출하면 상위 비트로 tile별 그룹화 + 하위 비트로 depth 정렬이 한 번에 해결된다.</a:t>
            </a:r>
            <a:endParaRPr lang="en-US" sz="1000" dirty="0"/>
          </a:p>
        </p:txBody>
      </p:sp>
      <p:sp>
        <p:nvSpPr>
          <p:cNvPr id="27" name="Text 24"/>
          <p:cNvSpPr/>
          <p:nvPr/>
        </p:nvSpPr>
        <p:spPr>
          <a:xfrm>
            <a:off x="11064240" y="649224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Malgun Gothic" pitchFamily="34" charset="0"/>
                <a:ea typeface="Malgun Gothic" pitchFamily="34" charset="-122"/>
                <a:cs typeface="Malgun Gothic" pitchFamily="34" charset="-120"/>
              </a:rPr>
              <a:t>9 / 13</a:t>
            </a:r>
            <a:endParaRPr lang="en-US" sz="1000" dirty="0"/>
          </a:p>
        </p:txBody>
      </p:sp>
      <p:sp>
        <p:nvSpPr>
          <p:cNvPr id="28" name="왼쪽 화살표[L] 27">
            <a:extLst>
              <a:ext uri="{FF2B5EF4-FFF2-40B4-BE49-F238E27FC236}">
                <a16:creationId xmlns:a16="http://schemas.microsoft.com/office/drawing/2014/main" id="{7594E55E-090B-8231-8F52-9DD3146D5CCE}"/>
              </a:ext>
            </a:extLst>
          </p:cNvPr>
          <p:cNvSpPr/>
          <p:nvPr/>
        </p:nvSpPr>
        <p:spPr>
          <a:xfrm>
            <a:off x="4315968" y="4427087"/>
            <a:ext cx="242515" cy="219456"/>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29" name="왼쪽 화살표[L] 28">
            <a:extLst>
              <a:ext uri="{FF2B5EF4-FFF2-40B4-BE49-F238E27FC236}">
                <a16:creationId xmlns:a16="http://schemas.microsoft.com/office/drawing/2014/main" id="{78A47E43-E436-E5FA-4018-86F66FDF5E56}"/>
              </a:ext>
            </a:extLst>
          </p:cNvPr>
          <p:cNvSpPr/>
          <p:nvPr/>
        </p:nvSpPr>
        <p:spPr>
          <a:xfrm>
            <a:off x="4233672" y="5559552"/>
            <a:ext cx="242515" cy="219456"/>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74320"/>
          </a:xfrm>
          <a:prstGeom prst="rect">
            <a:avLst/>
          </a:prstGeom>
          <a:noFill/>
          <a:ln/>
        </p:spPr>
        <p:txBody>
          <a:bodyPr wrap="square" lIns="0" tIns="0" rIns="0" bIns="0" rtlCol="0" anchor="ctr"/>
          <a:lstStyle/>
          <a:p>
            <a:pPr marL="0" indent="0">
              <a:buNone/>
            </a:pPr>
            <a:r>
              <a:rPr lang="en-US" sz="1100" b="1" kern="0" spc="200" dirty="0">
                <a:solidFill>
                  <a:srgbClr val="1E40AF"/>
                </a:solidFill>
                <a:latin typeface="Malgun Gothic" pitchFamily="34" charset="0"/>
                <a:ea typeface="Malgun Gothic" pitchFamily="34" charset="-122"/>
                <a:cs typeface="Malgun Gothic" pitchFamily="34" charset="-120"/>
              </a:rPr>
              <a:t>09. 논문 ↔ 코드 리뷰 ⑤</a:t>
            </a:r>
            <a:endParaRPr lang="en-US" sz="1100" dirty="0"/>
          </a:p>
        </p:txBody>
      </p:sp>
      <p:sp>
        <p:nvSpPr>
          <p:cNvPr id="3" name="Text 1"/>
          <p:cNvSpPr/>
          <p:nvPr/>
        </p:nvSpPr>
        <p:spPr>
          <a:xfrm>
            <a:off x="640080" y="640080"/>
            <a:ext cx="10972800" cy="548640"/>
          </a:xfrm>
          <a:prstGeom prst="rect">
            <a:avLst/>
          </a:prstGeom>
          <a:noFill/>
          <a:ln/>
        </p:spPr>
        <p:txBody>
          <a:bodyPr wrap="square" lIns="0" tIns="0" rIns="0" bIns="0" rtlCol="0" anchor="ctr"/>
          <a:lstStyle/>
          <a:p>
            <a:pPr marL="0" indent="0">
              <a:buNone/>
            </a:pPr>
            <a:r>
              <a:rPr lang="en-US" sz="2400" b="1" dirty="0">
                <a:solidFill>
                  <a:srgbClr val="111827"/>
                </a:solidFill>
                <a:latin typeface="Malgun Gothic" pitchFamily="34" charset="0"/>
                <a:ea typeface="Malgun Gothic" pitchFamily="34" charset="-122"/>
                <a:cs typeface="Malgun Gothic" pitchFamily="34" charset="-120"/>
              </a:rPr>
              <a:t>Adaptive Density Control — sparse view 문제가 생기는 지점</a:t>
            </a:r>
            <a:endParaRPr lang="en-US" sz="2400" dirty="0"/>
          </a:p>
        </p:txBody>
      </p:sp>
      <p:sp>
        <p:nvSpPr>
          <p:cNvPr id="4" name="Shape 2"/>
          <p:cNvSpPr/>
          <p:nvPr/>
        </p:nvSpPr>
        <p:spPr>
          <a:xfrm>
            <a:off x="640080" y="1280160"/>
            <a:ext cx="10881360" cy="0"/>
          </a:xfrm>
          <a:prstGeom prst="line">
            <a:avLst/>
          </a:prstGeom>
          <a:noFill/>
          <a:ln w="9525">
            <a:solidFill>
              <a:srgbClr val="D1D5DB"/>
            </a:solidFill>
            <a:prstDash val="solid"/>
          </a:ln>
        </p:spPr>
        <p:txBody>
          <a:bodyPr/>
          <a:lstStyle/>
          <a:p>
            <a:endParaRPr lang="ko-KR" altLang="en-US"/>
          </a:p>
        </p:txBody>
      </p:sp>
      <p:sp>
        <p:nvSpPr>
          <p:cNvPr id="5" name="Shape 3"/>
          <p:cNvSpPr/>
          <p:nvPr/>
        </p:nvSpPr>
        <p:spPr>
          <a:xfrm>
            <a:off x="640080" y="1417320"/>
            <a:ext cx="6126480" cy="1828800"/>
          </a:xfrm>
          <a:prstGeom prst="rect">
            <a:avLst/>
          </a:prstGeom>
          <a:solidFill>
            <a:srgbClr val="F0FDF4"/>
          </a:solidFill>
          <a:ln w="9525">
            <a:solidFill>
              <a:srgbClr val="BBF7D0"/>
            </a:solidFill>
            <a:prstDash val="solid"/>
          </a:ln>
        </p:spPr>
        <p:txBody>
          <a:bodyPr/>
          <a:lstStyle/>
          <a:p>
            <a:endParaRPr lang="ko-KR" altLang="en-US"/>
          </a:p>
        </p:txBody>
      </p:sp>
      <p:sp>
        <p:nvSpPr>
          <p:cNvPr id="6" name="Shape 4"/>
          <p:cNvSpPr/>
          <p:nvPr/>
        </p:nvSpPr>
        <p:spPr>
          <a:xfrm>
            <a:off x="640080" y="1417320"/>
            <a:ext cx="73152" cy="1828800"/>
          </a:xfrm>
          <a:prstGeom prst="rect">
            <a:avLst/>
          </a:prstGeom>
          <a:solidFill>
            <a:srgbClr val="065F46"/>
          </a:solidFill>
          <a:ln/>
        </p:spPr>
        <p:txBody>
          <a:bodyPr/>
          <a:lstStyle/>
          <a:p>
            <a:endParaRPr lang="ko-KR" altLang="en-US"/>
          </a:p>
        </p:txBody>
      </p:sp>
      <p:sp>
        <p:nvSpPr>
          <p:cNvPr id="7" name="Text 5"/>
          <p:cNvSpPr/>
          <p:nvPr/>
        </p:nvSpPr>
        <p:spPr>
          <a:xfrm>
            <a:off x="841248" y="1527048"/>
            <a:ext cx="914400" cy="274320"/>
          </a:xfrm>
          <a:prstGeom prst="rect">
            <a:avLst/>
          </a:prstGeom>
          <a:noFill/>
          <a:ln/>
        </p:spPr>
        <p:txBody>
          <a:bodyPr wrap="square" lIns="0" tIns="0" rIns="0" bIns="0" rtlCol="0" anchor="ctr"/>
          <a:lstStyle/>
          <a:p>
            <a:pPr marL="0" indent="0">
              <a:buNone/>
            </a:pPr>
            <a:r>
              <a:rPr lang="en-US" sz="1000" b="1" kern="0" spc="300" dirty="0">
                <a:solidFill>
                  <a:srgbClr val="065F46"/>
                </a:solidFill>
                <a:latin typeface="Calibri" pitchFamily="34" charset="0"/>
                <a:ea typeface="Calibri" pitchFamily="34" charset="-122"/>
                <a:cs typeface="Calibri" pitchFamily="34" charset="-120"/>
              </a:rPr>
              <a:t>PAPER</a:t>
            </a:r>
            <a:endParaRPr lang="en-US" sz="1000" dirty="0"/>
          </a:p>
        </p:txBody>
      </p:sp>
      <p:sp>
        <p:nvSpPr>
          <p:cNvPr id="8" name="Text 6"/>
          <p:cNvSpPr/>
          <p:nvPr/>
        </p:nvSpPr>
        <p:spPr>
          <a:xfrm>
            <a:off x="1783080" y="1527048"/>
            <a:ext cx="4846320" cy="27432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Kerbl et al. 2023, Section 5.2  — Adaptive Control</a:t>
            </a:r>
            <a:endParaRPr lang="en-US" sz="1000" dirty="0"/>
          </a:p>
        </p:txBody>
      </p:sp>
      <p:sp>
        <p:nvSpPr>
          <p:cNvPr id="9" name="Text 7"/>
          <p:cNvSpPr/>
          <p:nvPr/>
        </p:nvSpPr>
        <p:spPr>
          <a:xfrm>
            <a:off x="868680" y="1856232"/>
            <a:ext cx="5760720" cy="320040"/>
          </a:xfrm>
          <a:prstGeom prst="rect">
            <a:avLst/>
          </a:prstGeom>
          <a:noFill/>
          <a:ln/>
        </p:spPr>
        <p:txBody>
          <a:bodyPr wrap="square" lIns="0" tIns="0" rIns="0" bIns="0" rtlCol="0" anchor="t"/>
          <a:lstStyle/>
          <a:p>
            <a:pPr marL="0" indent="0">
              <a:buNone/>
            </a:pPr>
            <a:r>
              <a:rPr lang="en-US" sz="1100" dirty="0">
                <a:solidFill>
                  <a:srgbClr val="1A202C"/>
                </a:solidFill>
                <a:latin typeface="Malgun Gothic" pitchFamily="34" charset="0"/>
                <a:ea typeface="Malgun Gothic" pitchFamily="34" charset="-122"/>
                <a:cs typeface="Malgun Gothic" pitchFamily="34" charset="-120"/>
              </a:rPr>
              <a:t>학습 중 주기적으로 view-space positional gradient가 큰 Gaussian을 조정:</a:t>
            </a:r>
            <a:endParaRPr lang="en-US" sz="1100" dirty="0"/>
          </a:p>
        </p:txBody>
      </p:sp>
      <p:sp>
        <p:nvSpPr>
          <p:cNvPr id="10" name="Text 8"/>
          <p:cNvSpPr/>
          <p:nvPr/>
        </p:nvSpPr>
        <p:spPr>
          <a:xfrm>
            <a:off x="868680" y="2221992"/>
            <a:ext cx="5760720" cy="1280160"/>
          </a:xfrm>
          <a:prstGeom prst="rect">
            <a:avLst/>
          </a:prstGeom>
          <a:noFill/>
          <a:ln/>
        </p:spPr>
        <p:txBody>
          <a:bodyPr wrap="square" lIns="0" tIns="0" rIns="0" bIns="0" rtlCol="0" anchor="t"/>
          <a:lstStyle/>
          <a:p>
            <a:pPr marL="0" indent="0">
              <a:spcAft>
                <a:spcPts val="200"/>
              </a:spcAft>
              <a:buNone/>
            </a:pPr>
            <a:r>
              <a:rPr lang="en-US" sz="1050" dirty="0">
                <a:solidFill>
                  <a:srgbClr val="065F46"/>
                </a:solidFill>
                <a:latin typeface="Malgun Gothic" pitchFamily="34" charset="0"/>
                <a:ea typeface="Malgun Gothic" pitchFamily="34" charset="-122"/>
                <a:cs typeface="Malgun Gothic" pitchFamily="34" charset="-120"/>
              </a:rPr>
              <a:t>• </a:t>
            </a:r>
            <a:r>
              <a:rPr lang="en-US" sz="1050" b="1" dirty="0">
                <a:solidFill>
                  <a:srgbClr val="065F46"/>
                </a:solidFill>
                <a:latin typeface="Malgun Gothic" pitchFamily="34" charset="0"/>
                <a:ea typeface="Malgun Gothic" pitchFamily="34" charset="-122"/>
                <a:cs typeface="Malgun Gothic" pitchFamily="34" charset="-120"/>
              </a:rPr>
              <a:t>Clone </a:t>
            </a:r>
            <a:r>
              <a:rPr lang="en-US" sz="1050" dirty="0">
                <a:solidFill>
                  <a:srgbClr val="1A202C"/>
                </a:solidFill>
                <a:latin typeface="Malgun Gothic" pitchFamily="34" charset="0"/>
                <a:ea typeface="Malgun Gothic" pitchFamily="34" charset="-122"/>
                <a:cs typeface="Malgun Gothic" pitchFamily="34" charset="-120"/>
              </a:rPr>
              <a:t>— grad 큼 + scale </a:t>
            </a:r>
            <a:r>
              <a:rPr lang="en-US" sz="1050" b="1" dirty="0">
                <a:solidFill>
                  <a:srgbClr val="1A202C"/>
                </a:solidFill>
                <a:latin typeface="Malgun Gothic" pitchFamily="34" charset="0"/>
                <a:ea typeface="Malgun Gothic" pitchFamily="34" charset="-122"/>
                <a:cs typeface="Malgun Gothic" pitchFamily="34" charset="-120"/>
              </a:rPr>
              <a:t>작음</a:t>
            </a:r>
            <a:r>
              <a:rPr lang="en-US" sz="1050" dirty="0">
                <a:solidFill>
                  <a:srgbClr val="1A202C"/>
                </a:solidFill>
                <a:latin typeface="Malgun Gothic" pitchFamily="34" charset="0"/>
                <a:ea typeface="Malgun Gothic" pitchFamily="34" charset="-122"/>
                <a:cs typeface="Malgun Gothic" pitchFamily="34" charset="-120"/>
              </a:rPr>
              <a:t> : under-recon. 영역에 복제</a:t>
            </a:r>
            <a:endParaRPr lang="en-US" sz="1050" dirty="0"/>
          </a:p>
          <a:p>
            <a:pPr marL="0" indent="0">
              <a:spcAft>
                <a:spcPts val="200"/>
              </a:spcAft>
              <a:buNone/>
            </a:pPr>
            <a:r>
              <a:rPr lang="en-US" sz="1050" dirty="0">
                <a:solidFill>
                  <a:srgbClr val="065F46"/>
                </a:solidFill>
                <a:latin typeface="Malgun Gothic" pitchFamily="34" charset="0"/>
                <a:ea typeface="Malgun Gothic" pitchFamily="34" charset="-122"/>
                <a:cs typeface="Malgun Gothic" pitchFamily="34" charset="-120"/>
              </a:rPr>
              <a:t>• </a:t>
            </a:r>
            <a:r>
              <a:rPr lang="en-US" sz="1050" b="1" dirty="0">
                <a:solidFill>
                  <a:srgbClr val="065F46"/>
                </a:solidFill>
                <a:latin typeface="Malgun Gothic" pitchFamily="34" charset="0"/>
                <a:ea typeface="Malgun Gothic" pitchFamily="34" charset="-122"/>
                <a:cs typeface="Malgun Gothic" pitchFamily="34" charset="-120"/>
              </a:rPr>
              <a:t>Split  </a:t>
            </a:r>
            <a:r>
              <a:rPr lang="en-US" sz="1050" dirty="0">
                <a:solidFill>
                  <a:srgbClr val="1A202C"/>
                </a:solidFill>
                <a:latin typeface="Malgun Gothic" pitchFamily="34" charset="0"/>
                <a:ea typeface="Malgun Gothic" pitchFamily="34" charset="-122"/>
                <a:cs typeface="Malgun Gothic" pitchFamily="34" charset="-120"/>
              </a:rPr>
              <a:t>— grad 큼 + scale </a:t>
            </a:r>
            <a:r>
              <a:rPr lang="en-US" sz="1050" b="1" dirty="0">
                <a:solidFill>
                  <a:srgbClr val="1A202C"/>
                </a:solidFill>
                <a:latin typeface="Malgun Gothic" pitchFamily="34" charset="0"/>
                <a:ea typeface="Malgun Gothic" pitchFamily="34" charset="-122"/>
                <a:cs typeface="Malgun Gothic" pitchFamily="34" charset="-120"/>
              </a:rPr>
              <a:t>큼</a:t>
            </a:r>
            <a:r>
              <a:rPr lang="en-US" sz="1050" dirty="0">
                <a:solidFill>
                  <a:srgbClr val="1A202C"/>
                </a:solidFill>
                <a:latin typeface="Malgun Gothic" pitchFamily="34" charset="0"/>
                <a:ea typeface="Malgun Gothic" pitchFamily="34" charset="-122"/>
                <a:cs typeface="Malgun Gothic" pitchFamily="34" charset="-120"/>
              </a:rPr>
              <a:t>     : over-recon. 큰 Gaussian 분할</a:t>
            </a:r>
            <a:endParaRPr lang="en-US" sz="1050" dirty="0"/>
          </a:p>
          <a:p>
            <a:pPr marL="0" indent="0">
              <a:spcAft>
                <a:spcPts val="200"/>
              </a:spcAft>
              <a:buNone/>
            </a:pPr>
            <a:r>
              <a:rPr lang="en-US" sz="1050" dirty="0">
                <a:solidFill>
                  <a:srgbClr val="065F46"/>
                </a:solidFill>
                <a:latin typeface="Malgun Gothic" pitchFamily="34" charset="0"/>
                <a:ea typeface="Malgun Gothic" pitchFamily="34" charset="-122"/>
                <a:cs typeface="Malgun Gothic" pitchFamily="34" charset="-120"/>
              </a:rPr>
              <a:t>• </a:t>
            </a:r>
            <a:r>
              <a:rPr lang="en-US" sz="1050" b="1" dirty="0">
                <a:solidFill>
                  <a:srgbClr val="065F46"/>
                </a:solidFill>
                <a:latin typeface="Malgun Gothic" pitchFamily="34" charset="0"/>
                <a:ea typeface="Malgun Gothic" pitchFamily="34" charset="-122"/>
                <a:cs typeface="Malgun Gothic" pitchFamily="34" charset="-120"/>
              </a:rPr>
              <a:t>Prune  </a:t>
            </a:r>
            <a:r>
              <a:rPr lang="en-US" sz="1050" dirty="0">
                <a:solidFill>
                  <a:srgbClr val="1A202C"/>
                </a:solidFill>
                <a:latin typeface="Malgun Gothic" pitchFamily="34" charset="0"/>
                <a:ea typeface="Malgun Gothic" pitchFamily="34" charset="-122"/>
                <a:cs typeface="Malgun Gothic" pitchFamily="34" charset="-120"/>
              </a:rPr>
              <a:t>— opacity &lt; threshold 인 Gaussian 제거</a:t>
            </a:r>
            <a:endParaRPr lang="en-US" sz="1050" dirty="0"/>
          </a:p>
        </p:txBody>
      </p:sp>
      <p:pic>
        <p:nvPicPr>
          <p:cNvPr id="11" name="Image 0" descr="/home/claude/output2/fig4_density.png"/>
          <p:cNvPicPr>
            <a:picLocks noChangeAspect="1"/>
          </p:cNvPicPr>
          <p:nvPr/>
        </p:nvPicPr>
        <p:blipFill>
          <a:blip r:embed="rId3"/>
          <a:stretch>
            <a:fillRect/>
          </a:stretch>
        </p:blipFill>
        <p:spPr>
          <a:xfrm>
            <a:off x="6903720" y="1417320"/>
            <a:ext cx="4709160" cy="2441448"/>
          </a:xfrm>
          <a:prstGeom prst="rect">
            <a:avLst/>
          </a:prstGeom>
        </p:spPr>
      </p:pic>
      <p:sp>
        <p:nvSpPr>
          <p:cNvPr id="12" name="Text 9"/>
          <p:cNvSpPr/>
          <p:nvPr/>
        </p:nvSpPr>
        <p:spPr>
          <a:xfrm>
            <a:off x="6903720" y="3886200"/>
            <a:ext cx="4709160" cy="228600"/>
          </a:xfrm>
          <a:prstGeom prst="rect">
            <a:avLst/>
          </a:prstGeom>
          <a:noFill/>
          <a:ln/>
        </p:spPr>
        <p:txBody>
          <a:bodyPr wrap="square" lIns="0" tIns="0" rIns="0" bIns="0" rtlCol="0" anchor="ctr"/>
          <a:lstStyle/>
          <a:p>
            <a:pPr marL="0" indent="0" algn="ctr">
              <a:buNone/>
            </a:pPr>
            <a:r>
              <a:rPr lang="en-US" sz="950" i="1" dirty="0">
                <a:solidFill>
                  <a:srgbClr val="6B7280"/>
                </a:solidFill>
                <a:latin typeface="Malgun Gothic" pitchFamily="34" charset="0"/>
                <a:ea typeface="Malgun Gothic" pitchFamily="34" charset="-122"/>
                <a:cs typeface="Malgun Gothic" pitchFamily="34" charset="-120"/>
              </a:rPr>
              <a:t>Fig. 4 — Clone / Split 개념도  (paper)</a:t>
            </a:r>
            <a:endParaRPr lang="en-US" sz="950" dirty="0"/>
          </a:p>
        </p:txBody>
      </p:sp>
      <p:sp>
        <p:nvSpPr>
          <p:cNvPr id="13" name="Text 10"/>
          <p:cNvSpPr/>
          <p:nvPr/>
        </p:nvSpPr>
        <p:spPr>
          <a:xfrm>
            <a:off x="7482840" y="4374807"/>
            <a:ext cx="4709160" cy="274320"/>
          </a:xfrm>
          <a:prstGeom prst="rect">
            <a:avLst/>
          </a:prstGeom>
          <a:noFill/>
          <a:ln/>
        </p:spPr>
        <p:txBody>
          <a:bodyPr wrap="square" lIns="0" tIns="0" rIns="0" bIns="0" rtlCol="0" anchor="ctr"/>
          <a:lstStyle/>
          <a:p>
            <a:pPr marL="0" indent="0">
              <a:buNone/>
            </a:pPr>
            <a:r>
              <a:rPr lang="en-US" sz="1050" b="1" kern="0" spc="100" dirty="0">
                <a:solidFill>
                  <a:srgbClr val="4B5563"/>
                </a:solidFill>
                <a:latin typeface="Malgun Gothic" pitchFamily="34" charset="0"/>
                <a:ea typeface="Malgun Gothic" pitchFamily="34" charset="-122"/>
                <a:cs typeface="Malgun Gothic" pitchFamily="34" charset="-120"/>
              </a:rPr>
              <a:t>요약</a:t>
            </a:r>
            <a:endParaRPr lang="en-US" sz="1050" dirty="0"/>
          </a:p>
        </p:txBody>
      </p:sp>
      <p:sp>
        <p:nvSpPr>
          <p:cNvPr id="14" name="Text 11"/>
          <p:cNvSpPr/>
          <p:nvPr/>
        </p:nvSpPr>
        <p:spPr>
          <a:xfrm>
            <a:off x="7482840" y="4740567"/>
            <a:ext cx="4709160" cy="1280160"/>
          </a:xfrm>
          <a:prstGeom prst="rect">
            <a:avLst/>
          </a:prstGeom>
          <a:noFill/>
          <a:ln/>
        </p:spPr>
        <p:txBody>
          <a:bodyPr wrap="square" lIns="0" tIns="0" rIns="0" bIns="0" rtlCol="0" anchor="t"/>
          <a:lstStyle/>
          <a:p>
            <a:pPr marL="0" indent="0">
              <a:spcAft>
                <a:spcPts val="300"/>
              </a:spcAft>
              <a:buNone/>
            </a:pPr>
            <a:r>
              <a:rPr lang="en-US" sz="1000" dirty="0">
                <a:solidFill>
                  <a:srgbClr val="1A202C"/>
                </a:solidFill>
                <a:latin typeface="Malgun Gothic" pitchFamily="34" charset="0"/>
                <a:ea typeface="Malgun Gothic" pitchFamily="34" charset="-122"/>
                <a:cs typeface="Malgun Gothic" pitchFamily="34" charset="-120"/>
              </a:rPr>
              <a:t>• 유일한 trigger: </a:t>
            </a:r>
            <a:r>
              <a:rPr lang="en-US" sz="1000" b="1" dirty="0">
                <a:solidFill>
                  <a:srgbClr val="1E40AF"/>
                </a:solidFill>
                <a:latin typeface="Consolas" pitchFamily="34" charset="0"/>
                <a:ea typeface="Consolas" pitchFamily="34" charset="-122"/>
                <a:cs typeface="Consolas" pitchFamily="34" charset="-120"/>
              </a:rPr>
              <a:t>view-space positional gradient</a:t>
            </a:r>
            <a:endParaRPr lang="en-US" sz="1000" dirty="0"/>
          </a:p>
          <a:p>
            <a:pPr marL="0" indent="0">
              <a:spcAft>
                <a:spcPts val="300"/>
              </a:spcAft>
              <a:buNone/>
            </a:pPr>
            <a:r>
              <a:rPr lang="en-US" sz="1000" dirty="0">
                <a:solidFill>
                  <a:srgbClr val="1A202C"/>
                </a:solidFill>
                <a:latin typeface="Malgun Gothic" pitchFamily="34" charset="0"/>
                <a:ea typeface="Malgun Gothic" pitchFamily="34" charset="-122"/>
                <a:cs typeface="Malgun Gothic" pitchFamily="34" charset="-120"/>
              </a:rPr>
              <a:t>• 주기: </a:t>
            </a:r>
            <a:r>
              <a:rPr lang="en-US" sz="1000" b="1" dirty="0">
                <a:solidFill>
                  <a:srgbClr val="1A202C"/>
                </a:solidFill>
                <a:latin typeface="Malgun Gothic" pitchFamily="34" charset="0"/>
                <a:ea typeface="Malgun Gothic" pitchFamily="34" charset="-122"/>
                <a:cs typeface="Malgun Gothic" pitchFamily="34" charset="-120"/>
              </a:rPr>
              <a:t>매 100 iterations</a:t>
            </a:r>
            <a:endParaRPr lang="en-US" sz="1000" dirty="0"/>
          </a:p>
          <a:p>
            <a:pPr marL="0" indent="0">
              <a:spcAft>
                <a:spcPts val="300"/>
              </a:spcAft>
              <a:buNone/>
            </a:pPr>
            <a:r>
              <a:rPr lang="en-US" sz="1000" dirty="0">
                <a:solidFill>
                  <a:srgbClr val="1A202C"/>
                </a:solidFill>
                <a:latin typeface="Malgun Gothic" pitchFamily="34" charset="0"/>
                <a:ea typeface="Malgun Gothic" pitchFamily="34" charset="-122"/>
                <a:cs typeface="Malgun Gothic" pitchFamily="34" charset="-120"/>
              </a:rPr>
              <a:t>• 결정 기준: scale 크기로 Clone vs Split 분기</a:t>
            </a:r>
            <a:endParaRPr lang="en-US" sz="1000" dirty="0"/>
          </a:p>
          <a:p>
            <a:pPr marL="0" indent="0">
              <a:spcAft>
                <a:spcPts val="300"/>
              </a:spcAft>
              <a:buNone/>
            </a:pPr>
            <a:r>
              <a:rPr lang="en-US" sz="1000" dirty="0">
                <a:solidFill>
                  <a:srgbClr val="1A202C"/>
                </a:solidFill>
                <a:latin typeface="Malgun Gothic" pitchFamily="34" charset="0"/>
                <a:ea typeface="Malgun Gothic" pitchFamily="34" charset="-122"/>
                <a:cs typeface="Malgun Gothic" pitchFamily="34" charset="-120"/>
              </a:rPr>
              <a:t>• Split 시 부모 Gaussian의 std로부터 N=2개 자식 위치 샘플링</a:t>
            </a:r>
            <a:endParaRPr lang="en-US" sz="1000" dirty="0"/>
          </a:p>
        </p:txBody>
      </p:sp>
      <p:sp>
        <p:nvSpPr>
          <p:cNvPr id="15" name="Shape 12"/>
          <p:cNvSpPr/>
          <p:nvPr/>
        </p:nvSpPr>
        <p:spPr>
          <a:xfrm>
            <a:off x="640080" y="3291840"/>
            <a:ext cx="6126480" cy="2514600"/>
          </a:xfrm>
          <a:prstGeom prst="rect">
            <a:avLst/>
          </a:prstGeom>
          <a:solidFill>
            <a:srgbClr val="EFF6FF"/>
          </a:solidFill>
          <a:ln w="9525">
            <a:solidFill>
              <a:srgbClr val="BFDBFE"/>
            </a:solidFill>
            <a:prstDash val="solid"/>
          </a:ln>
        </p:spPr>
        <p:txBody>
          <a:bodyPr/>
          <a:lstStyle/>
          <a:p>
            <a:endParaRPr lang="ko-KR" altLang="en-US"/>
          </a:p>
        </p:txBody>
      </p:sp>
      <p:sp>
        <p:nvSpPr>
          <p:cNvPr id="16" name="Shape 13"/>
          <p:cNvSpPr/>
          <p:nvPr/>
        </p:nvSpPr>
        <p:spPr>
          <a:xfrm>
            <a:off x="640080" y="3291840"/>
            <a:ext cx="73152" cy="2514600"/>
          </a:xfrm>
          <a:prstGeom prst="rect">
            <a:avLst/>
          </a:prstGeom>
          <a:solidFill>
            <a:srgbClr val="1E40AF"/>
          </a:solidFill>
          <a:ln/>
        </p:spPr>
        <p:txBody>
          <a:bodyPr/>
          <a:lstStyle/>
          <a:p>
            <a:endParaRPr lang="ko-KR" altLang="en-US"/>
          </a:p>
        </p:txBody>
      </p:sp>
      <p:sp>
        <p:nvSpPr>
          <p:cNvPr id="17" name="Text 14"/>
          <p:cNvSpPr/>
          <p:nvPr/>
        </p:nvSpPr>
        <p:spPr>
          <a:xfrm>
            <a:off x="841248" y="3401568"/>
            <a:ext cx="914400" cy="274320"/>
          </a:xfrm>
          <a:prstGeom prst="rect">
            <a:avLst/>
          </a:prstGeom>
          <a:noFill/>
          <a:ln/>
        </p:spPr>
        <p:txBody>
          <a:bodyPr wrap="square" lIns="0" tIns="0" rIns="0" bIns="0" rtlCol="0" anchor="ctr"/>
          <a:lstStyle/>
          <a:p>
            <a:pPr marL="0" indent="0">
              <a:buNone/>
            </a:pPr>
            <a:r>
              <a:rPr lang="en-US" sz="1000" b="1" kern="0" spc="300" dirty="0">
                <a:solidFill>
                  <a:srgbClr val="1E40AF"/>
                </a:solidFill>
                <a:latin typeface="Calibri" pitchFamily="34" charset="0"/>
                <a:ea typeface="Calibri" pitchFamily="34" charset="-122"/>
                <a:cs typeface="Calibri" pitchFamily="34" charset="-120"/>
              </a:rPr>
              <a:t>CODE</a:t>
            </a:r>
            <a:endParaRPr lang="en-US" sz="1000" dirty="0"/>
          </a:p>
        </p:txBody>
      </p:sp>
      <p:sp>
        <p:nvSpPr>
          <p:cNvPr id="18" name="Text 15"/>
          <p:cNvSpPr/>
          <p:nvPr/>
        </p:nvSpPr>
        <p:spPr>
          <a:xfrm>
            <a:off x="1463040" y="3401568"/>
            <a:ext cx="5212080" cy="274320"/>
          </a:xfrm>
          <a:prstGeom prst="rect">
            <a:avLst/>
          </a:prstGeom>
          <a:noFill/>
          <a:ln/>
        </p:spPr>
        <p:txBody>
          <a:bodyPr wrap="square" lIns="0" tIns="0" rIns="0" bIns="0" rtlCol="0" anchor="ctr"/>
          <a:lstStyle/>
          <a:p>
            <a:pPr marL="0" indent="0">
              <a:buNone/>
            </a:pPr>
            <a:r>
              <a:rPr lang="en-US" sz="1000" i="1" dirty="0">
                <a:solidFill>
                  <a:srgbClr val="6B7280"/>
                </a:solidFill>
                <a:latin typeface="Consolas" pitchFamily="34" charset="0"/>
                <a:ea typeface="Consolas" pitchFamily="34" charset="-122"/>
                <a:cs typeface="Consolas" pitchFamily="34" charset="-120"/>
              </a:rPr>
              <a:t>scene/gaussian_model.py — densify_and_split()</a:t>
            </a:r>
            <a:endParaRPr lang="en-US" sz="1000" dirty="0"/>
          </a:p>
        </p:txBody>
      </p:sp>
      <p:sp>
        <p:nvSpPr>
          <p:cNvPr id="19" name="Shape 16"/>
          <p:cNvSpPr/>
          <p:nvPr/>
        </p:nvSpPr>
        <p:spPr>
          <a:xfrm>
            <a:off x="868680" y="3730752"/>
            <a:ext cx="5760720" cy="1965960"/>
          </a:xfrm>
          <a:prstGeom prst="rect">
            <a:avLst/>
          </a:prstGeom>
          <a:solidFill>
            <a:srgbClr val="F3F4F6"/>
          </a:solidFill>
          <a:ln/>
        </p:spPr>
        <p:txBody>
          <a:bodyPr/>
          <a:lstStyle/>
          <a:p>
            <a:endParaRPr lang="ko-KR" altLang="en-US"/>
          </a:p>
        </p:txBody>
      </p:sp>
      <p:sp>
        <p:nvSpPr>
          <p:cNvPr id="20" name="Text 17"/>
          <p:cNvSpPr/>
          <p:nvPr/>
        </p:nvSpPr>
        <p:spPr>
          <a:xfrm>
            <a:off x="960120" y="3803904"/>
            <a:ext cx="5577840" cy="1819656"/>
          </a:xfrm>
          <a:prstGeom prst="rect">
            <a:avLst/>
          </a:prstGeom>
          <a:noFill/>
          <a:ln/>
        </p:spPr>
        <p:txBody>
          <a:bodyPr wrap="square" lIns="0" tIns="0" rIns="0" bIns="0" rtlCol="0" anchor="t"/>
          <a:lstStyle/>
          <a:p>
            <a:pPr marL="0" indent="0">
              <a:buNone/>
            </a:pPr>
            <a:r>
              <a:rPr lang="en-US" sz="900" dirty="0">
                <a:solidFill>
                  <a:srgbClr val="111827"/>
                </a:solidFill>
                <a:latin typeface="Consolas" pitchFamily="34" charset="0"/>
                <a:ea typeface="Consolas" pitchFamily="34" charset="-122"/>
                <a:cs typeface="Consolas" pitchFamily="34" charset="-120"/>
              </a:rPr>
              <a:t>def densify_and_split(self, grads,</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grad_threshold, scene_extent, N=2):</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 (1) gradient condition</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mask = torch.where(</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grads &gt;= grad_threshold, True, False)</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 (2) AND scale is big → SPLIT target</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mask = torch.logical_and(mask,</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torch.max(self.get_scaling, dim=1).values</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&gt; self.percent_dense * scene_extent)</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 (3) sample N children from parent</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stds = self.get_scaling[mask].repeat(N, 1)</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samples = torch.normal(</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mean=torch.zeros_like(stds), std=stds)</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 ...</a:t>
            </a:r>
            <a:endParaRPr lang="en-US" sz="900" dirty="0"/>
          </a:p>
        </p:txBody>
      </p:sp>
      <p:sp>
        <p:nvSpPr>
          <p:cNvPr id="21" name="Text 18"/>
          <p:cNvSpPr/>
          <p:nvPr/>
        </p:nvSpPr>
        <p:spPr>
          <a:xfrm>
            <a:off x="4427220" y="4285157"/>
            <a:ext cx="2697480" cy="278892"/>
          </a:xfrm>
          <a:prstGeom prst="rect">
            <a:avLst/>
          </a:prstGeom>
          <a:noFill/>
          <a:ln/>
        </p:spPr>
        <p:txBody>
          <a:bodyPr wrap="square" lIns="0" tIns="0" rIns="0" bIns="0" rtlCol="0" anchor="ctr"/>
          <a:lstStyle/>
          <a:p>
            <a:pPr marL="0" indent="0" algn="just">
              <a:buNone/>
            </a:pPr>
            <a:r>
              <a:rPr lang="ko-KR" altLang="en-US" sz="900" b="1" dirty="0">
                <a:solidFill>
                  <a:srgbClr val="DC2626"/>
                </a:solidFill>
                <a:latin typeface="Malgun Gothic" pitchFamily="34" charset="0"/>
                <a:ea typeface="Malgun Gothic" pitchFamily="34" charset="-122"/>
                <a:cs typeface="Malgun Gothic" pitchFamily="34" charset="-120"/>
              </a:rPr>
              <a:t>실제 기하문제가 </a:t>
            </a:r>
            <a:r>
              <a:rPr lang="ko-KR" altLang="en-US" sz="900" b="1" dirty="0" err="1">
                <a:solidFill>
                  <a:srgbClr val="DC2626"/>
                </a:solidFill>
                <a:latin typeface="Malgun Gothic" pitchFamily="34" charset="0"/>
                <a:ea typeface="Malgun Gothic" pitchFamily="34" charset="-122"/>
                <a:cs typeface="Malgun Gothic" pitchFamily="34" charset="-120"/>
              </a:rPr>
              <a:t>아닌대</a:t>
            </a:r>
            <a:r>
              <a:rPr lang="ko-KR" altLang="en-US" sz="900" b="1" dirty="0">
                <a:solidFill>
                  <a:srgbClr val="DC2626"/>
                </a:solidFill>
                <a:latin typeface="Malgun Gothic" pitchFamily="34" charset="0"/>
                <a:ea typeface="Malgun Gothic" pitchFamily="34" charset="-122"/>
                <a:cs typeface="Malgun Gothic" pitchFamily="34" charset="-120"/>
              </a:rPr>
              <a:t> 적은 데이터로 오차가       커져서 잘못 </a:t>
            </a:r>
            <a:r>
              <a:rPr lang="en-US" altLang="ko-KR" sz="900" b="1" dirty="0">
                <a:solidFill>
                  <a:srgbClr val="DC2626"/>
                </a:solidFill>
                <a:latin typeface="Malgun Gothic" pitchFamily="34" charset="0"/>
                <a:ea typeface="Malgun Gothic" pitchFamily="34" charset="-122"/>
                <a:cs typeface="Malgun Gothic" pitchFamily="34" charset="-120"/>
              </a:rPr>
              <a:t>Density</a:t>
            </a:r>
            <a:r>
              <a:rPr lang="ko-KR" altLang="en-US" sz="900" b="1" dirty="0" err="1">
                <a:solidFill>
                  <a:srgbClr val="DC2626"/>
                </a:solidFill>
                <a:latin typeface="Malgun Gothic" pitchFamily="34" charset="0"/>
                <a:ea typeface="Malgun Gothic" pitchFamily="34" charset="-122"/>
                <a:cs typeface="Malgun Gothic" pitchFamily="34" charset="-120"/>
              </a:rPr>
              <a:t>를</a:t>
            </a:r>
            <a:r>
              <a:rPr lang="ko-KR" altLang="en-US" sz="900" b="1" dirty="0">
                <a:solidFill>
                  <a:srgbClr val="DC2626"/>
                </a:solidFill>
                <a:latin typeface="Malgun Gothic" pitchFamily="34" charset="0"/>
                <a:ea typeface="Malgun Gothic" pitchFamily="34" charset="-122"/>
                <a:cs typeface="Malgun Gothic" pitchFamily="34" charset="-120"/>
              </a:rPr>
              <a:t> 조절하여 실제와 다른 결과가 </a:t>
            </a:r>
            <a:r>
              <a:rPr lang="ko-KR" altLang="en-US" sz="900" b="1" dirty="0" err="1">
                <a:solidFill>
                  <a:srgbClr val="DC2626"/>
                </a:solidFill>
                <a:latin typeface="Malgun Gothic" pitchFamily="34" charset="0"/>
                <a:ea typeface="Malgun Gothic" pitchFamily="34" charset="-122"/>
                <a:cs typeface="Malgun Gothic" pitchFamily="34" charset="-120"/>
              </a:rPr>
              <a:t>나올수있는</a:t>
            </a:r>
            <a:r>
              <a:rPr lang="ko-KR" altLang="en-US" sz="900" b="1" dirty="0">
                <a:solidFill>
                  <a:srgbClr val="DC2626"/>
                </a:solidFill>
                <a:latin typeface="Malgun Gothic" pitchFamily="34" charset="0"/>
                <a:ea typeface="Malgun Gothic" pitchFamily="34" charset="-122"/>
                <a:cs typeface="Malgun Gothic" pitchFamily="34" charset="-120"/>
              </a:rPr>
              <a:t> 문제점 발생</a:t>
            </a:r>
            <a:endParaRPr lang="en-US" sz="900" dirty="0"/>
          </a:p>
        </p:txBody>
      </p:sp>
      <p:sp>
        <p:nvSpPr>
          <p:cNvPr id="22" name="Shape 19"/>
          <p:cNvSpPr/>
          <p:nvPr/>
        </p:nvSpPr>
        <p:spPr>
          <a:xfrm>
            <a:off x="640080" y="5852160"/>
            <a:ext cx="10881360" cy="1005840"/>
          </a:xfrm>
          <a:prstGeom prst="rect">
            <a:avLst/>
          </a:prstGeom>
          <a:solidFill>
            <a:srgbClr val="F9FAFB"/>
          </a:solidFill>
          <a:ln w="6350">
            <a:solidFill>
              <a:srgbClr val="D1D5DB"/>
            </a:solidFill>
            <a:prstDash val="solid"/>
          </a:ln>
        </p:spPr>
        <p:txBody>
          <a:bodyPr/>
          <a:lstStyle/>
          <a:p>
            <a:endParaRPr lang="ko-KR" altLang="en-US"/>
          </a:p>
        </p:txBody>
      </p:sp>
      <p:sp>
        <p:nvSpPr>
          <p:cNvPr id="23" name="Shape 20"/>
          <p:cNvSpPr/>
          <p:nvPr/>
        </p:nvSpPr>
        <p:spPr>
          <a:xfrm>
            <a:off x="640080" y="5852160"/>
            <a:ext cx="73152" cy="1005840"/>
          </a:xfrm>
          <a:prstGeom prst="rect">
            <a:avLst/>
          </a:prstGeom>
          <a:solidFill>
            <a:srgbClr val="1E40AF"/>
          </a:solidFill>
          <a:ln w="12700">
            <a:solidFill>
              <a:srgbClr val="1E40AF"/>
            </a:solidFill>
            <a:prstDash val="solid"/>
          </a:ln>
        </p:spPr>
        <p:txBody>
          <a:bodyPr/>
          <a:lstStyle/>
          <a:p>
            <a:endParaRPr lang="ko-KR" altLang="en-US"/>
          </a:p>
        </p:txBody>
      </p:sp>
      <p:sp>
        <p:nvSpPr>
          <p:cNvPr id="24" name="Text 21"/>
          <p:cNvSpPr/>
          <p:nvPr/>
        </p:nvSpPr>
        <p:spPr>
          <a:xfrm>
            <a:off x="868680" y="5897880"/>
            <a:ext cx="10561320" cy="292608"/>
          </a:xfrm>
          <a:prstGeom prst="rect">
            <a:avLst/>
          </a:prstGeom>
          <a:noFill/>
          <a:ln/>
        </p:spPr>
        <p:txBody>
          <a:bodyPr wrap="square" lIns="0" tIns="0" rIns="0" bIns="0" rtlCol="0" anchor="ctr"/>
          <a:lstStyle/>
          <a:p>
            <a:pPr marL="0" indent="0">
              <a:buNone/>
            </a:pPr>
            <a:r>
              <a:rPr lang="en-US" sz="1100" b="1" kern="0" spc="100" dirty="0">
                <a:solidFill>
                  <a:srgbClr val="1E40AF"/>
                </a:solidFill>
                <a:latin typeface="Malgun Gothic" pitchFamily="34" charset="0"/>
                <a:ea typeface="Malgun Gothic" pitchFamily="34" charset="-122"/>
                <a:cs typeface="Malgun Gothic" pitchFamily="34" charset="-120"/>
              </a:rPr>
              <a:t>핵심 개념  </a:t>
            </a:r>
            <a:r>
              <a:rPr lang="en-US" sz="1100" dirty="0">
                <a:solidFill>
                  <a:srgbClr val="6B7280"/>
                </a:solidFill>
                <a:latin typeface="Malgun Gothic" pitchFamily="34" charset="0"/>
                <a:ea typeface="Malgun Gothic" pitchFamily="34" charset="-122"/>
                <a:cs typeface="Malgun Gothic" pitchFamily="34" charset="-120"/>
              </a:rPr>
              <a:t>·  </a:t>
            </a:r>
            <a:r>
              <a:rPr lang="en-US" sz="1100" b="1" dirty="0">
                <a:solidFill>
                  <a:srgbClr val="111827"/>
                </a:solidFill>
                <a:latin typeface="Malgun Gothic" pitchFamily="34" charset="0"/>
                <a:ea typeface="Malgun Gothic" pitchFamily="34" charset="-122"/>
                <a:cs typeface="Malgun Gothic" pitchFamily="34" charset="-120"/>
              </a:rPr>
              <a:t>왜 sparse view에서 floater가 발생하는가</a:t>
            </a:r>
            <a:endParaRPr lang="en-US" sz="1100" dirty="0"/>
          </a:p>
        </p:txBody>
      </p:sp>
      <p:sp>
        <p:nvSpPr>
          <p:cNvPr id="25" name="Text 22"/>
          <p:cNvSpPr/>
          <p:nvPr/>
        </p:nvSpPr>
        <p:spPr>
          <a:xfrm>
            <a:off x="868680" y="6181344"/>
            <a:ext cx="10561320" cy="347472"/>
          </a:xfrm>
          <a:prstGeom prst="rect">
            <a:avLst/>
          </a:prstGeom>
          <a:noFill/>
          <a:ln/>
        </p:spPr>
        <p:txBody>
          <a:bodyPr wrap="square" lIns="0" tIns="0" rIns="0" bIns="0" rtlCol="0" anchor="t"/>
          <a:lstStyle/>
          <a:p>
            <a:pPr marL="0" indent="0">
              <a:buNone/>
            </a:pPr>
            <a:r>
              <a:rPr lang="en-US" sz="1050" dirty="0">
                <a:solidFill>
                  <a:srgbClr val="1A202C"/>
                </a:solidFill>
                <a:latin typeface="Malgun Gothic" pitchFamily="34" charset="0"/>
                <a:ea typeface="Malgun Gothic" pitchFamily="34" charset="-122"/>
                <a:cs typeface="Malgun Gothic" pitchFamily="34" charset="-120"/>
              </a:rPr>
              <a:t>Densification의 유일한 신호는  view-space positional gradient  다. 이는  '여러 training view에서 일관되게 큰 오차가 나는 3D 위치'  를 찾기 위한 것이고, 논문은  dense multi-view  (수십~수백 장) 입력을 가정하고 설계됐다. View가 많아야 gradient가 실제로 신뢰할 수 있는 신호가 된다.</a:t>
            </a:r>
            <a:endParaRPr lang="en-US" sz="1050" dirty="0"/>
          </a:p>
        </p:txBody>
      </p:sp>
      <p:sp>
        <p:nvSpPr>
          <p:cNvPr id="26" name="Text 23"/>
          <p:cNvSpPr/>
          <p:nvPr/>
        </p:nvSpPr>
        <p:spPr>
          <a:xfrm>
            <a:off x="868680" y="6537960"/>
            <a:ext cx="10561320" cy="292608"/>
          </a:xfrm>
          <a:prstGeom prst="rect">
            <a:avLst/>
          </a:prstGeom>
          <a:noFill/>
          <a:ln/>
        </p:spPr>
        <p:txBody>
          <a:bodyPr wrap="square" lIns="0" tIns="0" rIns="0" bIns="0" rtlCol="0" anchor="ctr"/>
          <a:lstStyle/>
          <a:p>
            <a:pPr marL="0" indent="0">
              <a:buNone/>
            </a:pPr>
            <a:r>
              <a:rPr lang="en-US" sz="1000" b="1" dirty="0">
                <a:solidFill>
                  <a:srgbClr val="065F46"/>
                </a:solidFill>
                <a:latin typeface="Malgun Gothic" pitchFamily="34" charset="0"/>
                <a:ea typeface="Malgun Gothic" pitchFamily="34" charset="-122"/>
                <a:cs typeface="Malgun Gothic" pitchFamily="34" charset="-120"/>
              </a:rPr>
              <a:t>구현에서는  </a:t>
            </a:r>
            <a:r>
              <a:rPr lang="en-US" sz="1000" dirty="0">
                <a:solidFill>
                  <a:srgbClr val="6B7280"/>
                </a:solidFill>
                <a:latin typeface="Malgun Gothic" pitchFamily="34" charset="0"/>
                <a:ea typeface="Malgun Gothic" pitchFamily="34" charset="-122"/>
                <a:cs typeface="Malgun Gothic" pitchFamily="34" charset="-120"/>
              </a:rPr>
              <a:t>·  </a:t>
            </a:r>
            <a:r>
              <a:rPr lang="en-US" sz="1000" dirty="0">
                <a:solidFill>
                  <a:srgbClr val="1A202C"/>
                </a:solidFill>
                <a:latin typeface="Malgun Gothic" pitchFamily="34" charset="0"/>
                <a:ea typeface="Malgun Gothic" pitchFamily="34" charset="-122"/>
                <a:cs typeface="Malgun Gothic" pitchFamily="34" charset="-120"/>
              </a:rPr>
              <a:t>①  densify_and_split() 은 gradient가 threshold를 넘는지 하나의 조건만으로 Gaussian 추가를 결정한다. Sparse view(수십 장 미만)에서는 소수 view의 view-dependent 오차가 과대평가되어,  실제로는 scene에 존재하지 않는 위치에도 Gaussian이 clone / split  된다 → 이것이 floater로 나타난다.</a:t>
            </a:r>
            <a:endParaRPr lang="en-US" sz="1000" dirty="0"/>
          </a:p>
        </p:txBody>
      </p:sp>
      <p:sp>
        <p:nvSpPr>
          <p:cNvPr id="27" name="Text 24"/>
          <p:cNvSpPr/>
          <p:nvPr/>
        </p:nvSpPr>
        <p:spPr>
          <a:xfrm>
            <a:off x="11064240" y="649224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Malgun Gothic" pitchFamily="34" charset="0"/>
                <a:ea typeface="Malgun Gothic" pitchFamily="34" charset="-122"/>
                <a:cs typeface="Malgun Gothic" pitchFamily="34" charset="-120"/>
              </a:rPr>
              <a:t>10 / 13</a:t>
            </a:r>
            <a:endParaRPr lang="en-US" sz="1000" dirty="0"/>
          </a:p>
        </p:txBody>
      </p:sp>
      <p:sp>
        <p:nvSpPr>
          <p:cNvPr id="28" name="왼쪽 화살표[L] 27">
            <a:extLst>
              <a:ext uri="{FF2B5EF4-FFF2-40B4-BE49-F238E27FC236}">
                <a16:creationId xmlns:a16="http://schemas.microsoft.com/office/drawing/2014/main" id="{A285A514-1BAD-CEC0-B5A4-F269AEBA9EBA}"/>
              </a:ext>
            </a:extLst>
          </p:cNvPr>
          <p:cNvSpPr/>
          <p:nvPr/>
        </p:nvSpPr>
        <p:spPr>
          <a:xfrm>
            <a:off x="4039262" y="4336046"/>
            <a:ext cx="242515" cy="219456"/>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65760"/>
            <a:ext cx="10972800" cy="274320"/>
          </a:xfrm>
          <a:prstGeom prst="rect">
            <a:avLst/>
          </a:prstGeom>
          <a:noFill/>
          <a:ln/>
        </p:spPr>
        <p:txBody>
          <a:bodyPr wrap="square" lIns="0" tIns="0" rIns="0" bIns="0" rtlCol="0" anchor="ctr"/>
          <a:lstStyle/>
          <a:p>
            <a:pPr marL="0" indent="0">
              <a:buNone/>
            </a:pPr>
            <a:r>
              <a:rPr lang="en-US" sz="1100" b="1" kern="0" spc="200" dirty="0">
                <a:solidFill>
                  <a:srgbClr val="1E40AF"/>
                </a:solidFill>
                <a:latin typeface="Malgun Gothic" pitchFamily="34" charset="0"/>
                <a:ea typeface="Malgun Gothic" pitchFamily="34" charset="-122"/>
                <a:cs typeface="Malgun Gothic" pitchFamily="34" charset="-120"/>
              </a:rPr>
              <a:t>10. 후속 연구 — Depth Regularization</a:t>
            </a:r>
            <a:endParaRPr lang="en-US" sz="1100" dirty="0"/>
          </a:p>
        </p:txBody>
      </p:sp>
      <p:sp>
        <p:nvSpPr>
          <p:cNvPr id="3" name="Text 1"/>
          <p:cNvSpPr/>
          <p:nvPr/>
        </p:nvSpPr>
        <p:spPr>
          <a:xfrm>
            <a:off x="640080" y="640080"/>
            <a:ext cx="10972800" cy="548640"/>
          </a:xfrm>
          <a:prstGeom prst="rect">
            <a:avLst/>
          </a:prstGeom>
          <a:noFill/>
          <a:ln/>
        </p:spPr>
        <p:txBody>
          <a:bodyPr wrap="square" lIns="0" tIns="0" rIns="0" bIns="0" rtlCol="0" anchor="ctr"/>
          <a:lstStyle/>
          <a:p>
            <a:pPr marL="0" indent="0">
              <a:buNone/>
            </a:pPr>
            <a:r>
              <a:rPr lang="en-US" sz="2400" b="1" dirty="0">
                <a:solidFill>
                  <a:srgbClr val="111827"/>
                </a:solidFill>
                <a:latin typeface="Malgun Gothic" pitchFamily="34" charset="0"/>
                <a:ea typeface="Malgun Gothic" pitchFamily="34" charset="-122"/>
                <a:cs typeface="Malgun Gothic" pitchFamily="34" charset="-120"/>
              </a:rPr>
              <a:t>원작자가 후속 연구로 공식 구현에 통합한 floater 해결책</a:t>
            </a:r>
            <a:endParaRPr lang="en-US" sz="2400" dirty="0"/>
          </a:p>
        </p:txBody>
      </p:sp>
      <p:sp>
        <p:nvSpPr>
          <p:cNvPr id="4" name="Shape 2"/>
          <p:cNvSpPr/>
          <p:nvPr/>
        </p:nvSpPr>
        <p:spPr>
          <a:xfrm>
            <a:off x="640080" y="1280160"/>
            <a:ext cx="10881360" cy="0"/>
          </a:xfrm>
          <a:prstGeom prst="line">
            <a:avLst/>
          </a:prstGeom>
          <a:noFill/>
          <a:ln w="9525">
            <a:solidFill>
              <a:srgbClr val="D1D5DB"/>
            </a:solidFill>
            <a:prstDash val="solid"/>
          </a:ln>
        </p:spPr>
        <p:txBody>
          <a:bodyPr/>
          <a:lstStyle/>
          <a:p>
            <a:endParaRPr lang="ko-KR" altLang="en-US"/>
          </a:p>
        </p:txBody>
      </p:sp>
      <p:sp>
        <p:nvSpPr>
          <p:cNvPr id="5" name="Shape 3"/>
          <p:cNvSpPr/>
          <p:nvPr/>
        </p:nvSpPr>
        <p:spPr>
          <a:xfrm>
            <a:off x="640080" y="1417320"/>
            <a:ext cx="6126480" cy="1783080"/>
          </a:xfrm>
          <a:prstGeom prst="rect">
            <a:avLst/>
          </a:prstGeom>
          <a:solidFill>
            <a:srgbClr val="F0FDF4"/>
          </a:solidFill>
          <a:ln w="9525">
            <a:solidFill>
              <a:srgbClr val="BBF7D0"/>
            </a:solidFill>
            <a:prstDash val="solid"/>
          </a:ln>
        </p:spPr>
        <p:txBody>
          <a:bodyPr/>
          <a:lstStyle/>
          <a:p>
            <a:endParaRPr lang="ko-KR" altLang="en-US"/>
          </a:p>
        </p:txBody>
      </p:sp>
      <p:sp>
        <p:nvSpPr>
          <p:cNvPr id="6" name="Shape 4"/>
          <p:cNvSpPr/>
          <p:nvPr/>
        </p:nvSpPr>
        <p:spPr>
          <a:xfrm>
            <a:off x="640080" y="1417320"/>
            <a:ext cx="73152" cy="1783080"/>
          </a:xfrm>
          <a:prstGeom prst="rect">
            <a:avLst/>
          </a:prstGeom>
          <a:solidFill>
            <a:srgbClr val="065F46"/>
          </a:solidFill>
          <a:ln/>
        </p:spPr>
        <p:txBody>
          <a:bodyPr/>
          <a:lstStyle/>
          <a:p>
            <a:endParaRPr lang="ko-KR" altLang="en-US"/>
          </a:p>
        </p:txBody>
      </p:sp>
      <p:sp>
        <p:nvSpPr>
          <p:cNvPr id="7" name="Text 5"/>
          <p:cNvSpPr/>
          <p:nvPr/>
        </p:nvSpPr>
        <p:spPr>
          <a:xfrm>
            <a:off x="841248" y="1527048"/>
            <a:ext cx="914400" cy="274320"/>
          </a:xfrm>
          <a:prstGeom prst="rect">
            <a:avLst/>
          </a:prstGeom>
          <a:noFill/>
          <a:ln/>
        </p:spPr>
        <p:txBody>
          <a:bodyPr wrap="square" lIns="0" tIns="0" rIns="0" bIns="0" rtlCol="0" anchor="ctr"/>
          <a:lstStyle/>
          <a:p>
            <a:pPr marL="0" indent="0">
              <a:buNone/>
            </a:pPr>
            <a:r>
              <a:rPr lang="en-US" sz="1000" b="1" kern="0" spc="300" dirty="0">
                <a:solidFill>
                  <a:srgbClr val="065F46"/>
                </a:solidFill>
                <a:latin typeface="Calibri" pitchFamily="34" charset="0"/>
                <a:ea typeface="Calibri" pitchFamily="34" charset="-122"/>
                <a:cs typeface="Calibri" pitchFamily="34" charset="-120"/>
              </a:rPr>
              <a:t>PAPER</a:t>
            </a:r>
            <a:endParaRPr lang="en-US" sz="1000" dirty="0"/>
          </a:p>
        </p:txBody>
      </p:sp>
      <p:sp>
        <p:nvSpPr>
          <p:cNvPr id="8" name="Text 6"/>
          <p:cNvSpPr/>
          <p:nvPr/>
        </p:nvSpPr>
        <p:spPr>
          <a:xfrm>
            <a:off x="1783080" y="1527048"/>
            <a:ext cx="4846320" cy="274320"/>
          </a:xfrm>
          <a:prstGeom prst="rect">
            <a:avLst/>
          </a:prstGeom>
          <a:noFill/>
          <a:ln/>
        </p:spPr>
        <p:txBody>
          <a:bodyPr wrap="square" lIns="0" tIns="0" rIns="0" bIns="0" rtlCol="0" anchor="ctr"/>
          <a:lstStyle/>
          <a:p>
            <a:pPr marL="0" indent="0">
              <a:buNone/>
            </a:pPr>
            <a:r>
              <a:rPr lang="en-US" sz="1000" i="1" dirty="0">
                <a:solidFill>
                  <a:srgbClr val="6B7280"/>
                </a:solidFill>
                <a:latin typeface="Calibri" pitchFamily="34" charset="0"/>
                <a:ea typeface="Calibri" pitchFamily="34" charset="-122"/>
                <a:cs typeface="Calibri" pitchFamily="34" charset="-120"/>
              </a:rPr>
              <a:t>Kerbl et al. 2024  (Hierarchical 3DGS, SIGGRAPH 2024)  →  원본 3DGS repo에 병합</a:t>
            </a:r>
            <a:endParaRPr lang="en-US" sz="1000" dirty="0"/>
          </a:p>
        </p:txBody>
      </p:sp>
      <p:sp>
        <p:nvSpPr>
          <p:cNvPr id="9" name="Text 7"/>
          <p:cNvSpPr/>
          <p:nvPr/>
        </p:nvSpPr>
        <p:spPr>
          <a:xfrm>
            <a:off x="868680" y="1856232"/>
            <a:ext cx="5760720" cy="731520"/>
          </a:xfrm>
          <a:prstGeom prst="rect">
            <a:avLst/>
          </a:prstGeom>
          <a:noFill/>
          <a:ln/>
        </p:spPr>
        <p:txBody>
          <a:bodyPr wrap="square" lIns="0" tIns="0" rIns="0" bIns="0" rtlCol="0" anchor="t"/>
          <a:lstStyle/>
          <a:p>
            <a:pPr marL="0" indent="0">
              <a:buNone/>
            </a:pPr>
            <a:r>
              <a:rPr lang="en-US" sz="1100" dirty="0">
                <a:solidFill>
                  <a:srgbClr val="1A202C"/>
                </a:solidFill>
                <a:latin typeface="Malgun Gothic" pitchFamily="34" charset="0"/>
                <a:ea typeface="Malgun Gothic" pitchFamily="34" charset="-122"/>
                <a:cs typeface="Malgun Gothic" pitchFamily="34" charset="-120"/>
              </a:rPr>
              <a:t>원본 3DGS (SIGGRAPH 2023)에는 depth 관련 기능이 </a:t>
            </a:r>
            <a:r>
              <a:rPr lang="en-US" sz="1100" b="1" dirty="0">
                <a:solidFill>
                  <a:srgbClr val="B91C1C"/>
                </a:solidFill>
                <a:latin typeface="Malgun Gothic" pitchFamily="34" charset="0"/>
                <a:ea typeface="Malgun Gothic" pitchFamily="34" charset="-122"/>
                <a:cs typeface="Malgun Gothic" pitchFamily="34" charset="-120"/>
              </a:rPr>
              <a:t>없었음</a:t>
            </a:r>
            <a:r>
              <a:rPr lang="en-US" sz="1100" dirty="0">
                <a:solidFill>
                  <a:srgbClr val="1A202C"/>
                </a:solidFill>
                <a:latin typeface="Malgun Gothic" pitchFamily="34" charset="0"/>
                <a:ea typeface="Malgun Gothic" pitchFamily="34" charset="-122"/>
                <a:cs typeface="Malgun Gothic" pitchFamily="34" charset="-120"/>
              </a:rPr>
              <a:t>.  후속 연구들이 depth 정보의 효과를 검증한 뒤, 원작자가 </a:t>
            </a:r>
            <a:r>
              <a:rPr lang="en-US" sz="1100" b="1" dirty="0">
                <a:solidFill>
                  <a:srgbClr val="065F46"/>
                </a:solidFill>
                <a:latin typeface="Malgun Gothic" pitchFamily="34" charset="0"/>
                <a:ea typeface="Malgun Gothic" pitchFamily="34" charset="-122"/>
                <a:cs typeface="Malgun Gothic" pitchFamily="34" charset="-120"/>
              </a:rPr>
              <a:t>공식 구현에 병합</a:t>
            </a:r>
            <a:r>
              <a:rPr lang="en-US" sz="1100" dirty="0">
                <a:solidFill>
                  <a:srgbClr val="1A202C"/>
                </a:solidFill>
                <a:latin typeface="Malgun Gothic" pitchFamily="34" charset="0"/>
                <a:ea typeface="Malgun Gothic" pitchFamily="34" charset="-122"/>
                <a:cs typeface="Malgun Gothic" pitchFamily="34" charset="-120"/>
              </a:rPr>
              <a:t>.</a:t>
            </a:r>
            <a:endParaRPr lang="en-US" sz="1100" dirty="0"/>
          </a:p>
        </p:txBody>
      </p:sp>
      <p:sp>
        <p:nvSpPr>
          <p:cNvPr id="10" name="Shape 8"/>
          <p:cNvSpPr/>
          <p:nvPr/>
        </p:nvSpPr>
        <p:spPr>
          <a:xfrm>
            <a:off x="850392" y="2286000"/>
            <a:ext cx="5760720" cy="822960"/>
          </a:xfrm>
          <a:prstGeom prst="rect">
            <a:avLst/>
          </a:prstGeom>
          <a:solidFill>
            <a:srgbClr val="FFFFFF"/>
          </a:solidFill>
          <a:ln w="6350">
            <a:solidFill>
              <a:srgbClr val="D1D5DB"/>
            </a:solidFill>
            <a:prstDash val="solid"/>
          </a:ln>
        </p:spPr>
        <p:txBody>
          <a:bodyPr/>
          <a:lstStyle/>
          <a:p>
            <a:endParaRPr lang="ko-KR" altLang="en-US"/>
          </a:p>
        </p:txBody>
      </p:sp>
      <p:sp>
        <p:nvSpPr>
          <p:cNvPr id="11" name="Text 9"/>
          <p:cNvSpPr/>
          <p:nvPr/>
        </p:nvSpPr>
        <p:spPr>
          <a:xfrm>
            <a:off x="960120" y="2350008"/>
            <a:ext cx="5577840" cy="713232"/>
          </a:xfrm>
          <a:prstGeom prst="rect">
            <a:avLst/>
          </a:prstGeom>
          <a:noFill/>
          <a:ln/>
        </p:spPr>
        <p:txBody>
          <a:bodyPr wrap="square" lIns="0" tIns="0" rIns="0" bIns="0" rtlCol="0" anchor="ctr"/>
          <a:lstStyle/>
          <a:p>
            <a:pPr marL="0" indent="0">
              <a:buNone/>
            </a:pPr>
            <a:r>
              <a:rPr lang="en-US" sz="1000" b="1" kern="0" spc="100" dirty="0">
                <a:solidFill>
                  <a:srgbClr val="065F46"/>
                </a:solidFill>
                <a:latin typeface="Malgun Gothic" pitchFamily="34" charset="0"/>
                <a:ea typeface="Malgun Gothic" pitchFamily="34" charset="-122"/>
                <a:cs typeface="Malgun Gothic" pitchFamily="34" charset="-120"/>
              </a:rPr>
              <a:t>파이프라인  </a:t>
            </a:r>
            <a:r>
              <a:rPr lang="en-US" sz="1000" dirty="0">
                <a:solidFill>
                  <a:srgbClr val="6B7280"/>
                </a:solidFill>
                <a:latin typeface="Malgun Gothic" pitchFamily="34" charset="0"/>
                <a:ea typeface="Malgun Gothic" pitchFamily="34" charset="-122"/>
                <a:cs typeface="Malgun Gothic" pitchFamily="34" charset="-120"/>
              </a:rPr>
              <a:t>·  </a:t>
            </a:r>
            <a:r>
              <a:rPr lang="en-US" sz="1000" b="1" dirty="0">
                <a:solidFill>
                  <a:srgbClr val="1E40AF"/>
                </a:solidFill>
                <a:latin typeface="Malgun Gothic" pitchFamily="34" charset="0"/>
                <a:ea typeface="Malgun Gothic" pitchFamily="34" charset="-122"/>
                <a:cs typeface="Malgun Gothic" pitchFamily="34" charset="-120"/>
              </a:rPr>
              <a:t>① 이미지로 깊이 예측</a:t>
            </a:r>
            <a:r>
              <a:rPr lang="en-US" sz="1000" dirty="0">
                <a:solidFill>
                  <a:srgbClr val="6B7280"/>
                </a:solidFill>
                <a:latin typeface="Malgun Gothic" pitchFamily="34" charset="0"/>
                <a:ea typeface="Malgun Gothic" pitchFamily="34" charset="-122"/>
                <a:cs typeface="Malgun Gothic" pitchFamily="34" charset="-120"/>
              </a:rPr>
              <a:t>  →  </a:t>
            </a:r>
            <a:r>
              <a:rPr lang="en-US" sz="1000" b="1" dirty="0">
                <a:solidFill>
                  <a:srgbClr val="1E40AF"/>
                </a:solidFill>
                <a:latin typeface="Malgun Gothic" pitchFamily="34" charset="0"/>
                <a:ea typeface="Malgun Gothic" pitchFamily="34" charset="-122"/>
                <a:cs typeface="Malgun Gothic" pitchFamily="34" charset="-120"/>
              </a:rPr>
              <a:t>② 실제 스케일로 정렬</a:t>
            </a:r>
            <a:r>
              <a:rPr lang="en-US" sz="1000" dirty="0">
                <a:solidFill>
                  <a:srgbClr val="6B7280"/>
                </a:solidFill>
                <a:latin typeface="Malgun Gothic" pitchFamily="34" charset="0"/>
                <a:ea typeface="Malgun Gothic" pitchFamily="34" charset="-122"/>
                <a:cs typeface="Malgun Gothic" pitchFamily="34" charset="-120"/>
              </a:rPr>
              <a:t>  →  </a:t>
            </a:r>
            <a:r>
              <a:rPr lang="en-US" sz="1000" b="1" dirty="0">
                <a:solidFill>
                  <a:srgbClr val="1E40AF"/>
                </a:solidFill>
                <a:latin typeface="Malgun Gothic" pitchFamily="34" charset="0"/>
                <a:ea typeface="Malgun Gothic" pitchFamily="34" charset="-122"/>
                <a:cs typeface="Malgun Gothic" pitchFamily="34" charset="-120"/>
              </a:rPr>
              <a:t>③ 학습 중 깊이 loss 추가</a:t>
            </a:r>
            <a:endParaRPr lang="en-US" sz="1000" dirty="0"/>
          </a:p>
          <a:p>
            <a:pPr marL="0" indent="0">
              <a:buNone/>
            </a:pPr>
            <a:r>
              <a:rPr lang="en-US" sz="1000" i="1" dirty="0">
                <a:solidFill>
                  <a:srgbClr val="6B7280"/>
                </a:solidFill>
                <a:latin typeface="Malgun Gothic" pitchFamily="34" charset="0"/>
                <a:ea typeface="Malgun Gothic" pitchFamily="34" charset="-122"/>
                <a:cs typeface="Malgun Gothic" pitchFamily="34" charset="-120"/>
              </a:rPr>
              <a:t>   Depth Anything V2 예측  →  COLMAP 3D점으로 scale/offset 맞춤  →  렌더 깊이와 L1 loss</a:t>
            </a:r>
            <a:endParaRPr lang="en-US" sz="1000" dirty="0"/>
          </a:p>
        </p:txBody>
      </p:sp>
      <p:sp>
        <p:nvSpPr>
          <p:cNvPr id="12" name="Shape 10"/>
          <p:cNvSpPr/>
          <p:nvPr/>
        </p:nvSpPr>
        <p:spPr>
          <a:xfrm>
            <a:off x="640080" y="3291840"/>
            <a:ext cx="6126480" cy="2514600"/>
          </a:xfrm>
          <a:prstGeom prst="rect">
            <a:avLst/>
          </a:prstGeom>
          <a:solidFill>
            <a:srgbClr val="EFF6FF"/>
          </a:solidFill>
          <a:ln w="9525">
            <a:solidFill>
              <a:srgbClr val="BFDBFE"/>
            </a:solidFill>
            <a:prstDash val="solid"/>
          </a:ln>
        </p:spPr>
        <p:txBody>
          <a:bodyPr/>
          <a:lstStyle/>
          <a:p>
            <a:endParaRPr lang="ko-KR" altLang="en-US"/>
          </a:p>
        </p:txBody>
      </p:sp>
      <p:sp>
        <p:nvSpPr>
          <p:cNvPr id="13" name="Shape 11"/>
          <p:cNvSpPr/>
          <p:nvPr/>
        </p:nvSpPr>
        <p:spPr>
          <a:xfrm>
            <a:off x="640080" y="3291840"/>
            <a:ext cx="73152" cy="2514600"/>
          </a:xfrm>
          <a:prstGeom prst="rect">
            <a:avLst/>
          </a:prstGeom>
          <a:solidFill>
            <a:srgbClr val="1E40AF"/>
          </a:solidFill>
          <a:ln/>
        </p:spPr>
        <p:txBody>
          <a:bodyPr/>
          <a:lstStyle/>
          <a:p>
            <a:endParaRPr lang="ko-KR" altLang="en-US"/>
          </a:p>
        </p:txBody>
      </p:sp>
      <p:sp>
        <p:nvSpPr>
          <p:cNvPr id="14" name="Text 12"/>
          <p:cNvSpPr/>
          <p:nvPr/>
        </p:nvSpPr>
        <p:spPr>
          <a:xfrm>
            <a:off x="841248" y="3401568"/>
            <a:ext cx="914400" cy="274320"/>
          </a:xfrm>
          <a:prstGeom prst="rect">
            <a:avLst/>
          </a:prstGeom>
          <a:noFill/>
          <a:ln/>
        </p:spPr>
        <p:txBody>
          <a:bodyPr wrap="square" lIns="0" tIns="0" rIns="0" bIns="0" rtlCol="0" anchor="ctr"/>
          <a:lstStyle/>
          <a:p>
            <a:pPr marL="0" indent="0">
              <a:buNone/>
            </a:pPr>
            <a:r>
              <a:rPr lang="en-US" sz="1000" b="1" kern="0" spc="300" dirty="0">
                <a:solidFill>
                  <a:srgbClr val="1E40AF"/>
                </a:solidFill>
                <a:latin typeface="Calibri" pitchFamily="34" charset="0"/>
                <a:ea typeface="Calibri" pitchFamily="34" charset="-122"/>
                <a:cs typeface="Calibri" pitchFamily="34" charset="-120"/>
              </a:rPr>
              <a:t>CODE</a:t>
            </a:r>
            <a:endParaRPr lang="en-US" sz="1000" dirty="0"/>
          </a:p>
        </p:txBody>
      </p:sp>
      <p:sp>
        <p:nvSpPr>
          <p:cNvPr id="15" name="Text 13"/>
          <p:cNvSpPr/>
          <p:nvPr/>
        </p:nvSpPr>
        <p:spPr>
          <a:xfrm>
            <a:off x="1463040" y="3401568"/>
            <a:ext cx="5212080" cy="274320"/>
          </a:xfrm>
          <a:prstGeom prst="rect">
            <a:avLst/>
          </a:prstGeom>
          <a:noFill/>
          <a:ln/>
        </p:spPr>
        <p:txBody>
          <a:bodyPr wrap="square" lIns="0" tIns="0" rIns="0" bIns="0" rtlCol="0" anchor="ctr"/>
          <a:lstStyle/>
          <a:p>
            <a:pPr marL="0" indent="0">
              <a:buNone/>
            </a:pPr>
            <a:r>
              <a:rPr lang="en-US" sz="1000" i="1" dirty="0">
                <a:solidFill>
                  <a:srgbClr val="6B7280"/>
                </a:solidFill>
                <a:latin typeface="Consolas" pitchFamily="34" charset="0"/>
                <a:ea typeface="Consolas" pitchFamily="34" charset="-122"/>
                <a:cs typeface="Consolas" pitchFamily="34" charset="-120"/>
              </a:rPr>
              <a:t>scene/cameras.py  +  train.py</a:t>
            </a:r>
            <a:endParaRPr lang="en-US" sz="1000" dirty="0"/>
          </a:p>
        </p:txBody>
      </p:sp>
      <p:sp>
        <p:nvSpPr>
          <p:cNvPr id="16" name="Shape 14"/>
          <p:cNvSpPr/>
          <p:nvPr/>
        </p:nvSpPr>
        <p:spPr>
          <a:xfrm>
            <a:off x="868680" y="3730752"/>
            <a:ext cx="5760720" cy="1965960"/>
          </a:xfrm>
          <a:prstGeom prst="rect">
            <a:avLst/>
          </a:prstGeom>
          <a:solidFill>
            <a:srgbClr val="F3F4F6"/>
          </a:solidFill>
          <a:ln/>
        </p:spPr>
        <p:txBody>
          <a:bodyPr/>
          <a:lstStyle/>
          <a:p>
            <a:endParaRPr lang="ko-KR" altLang="en-US"/>
          </a:p>
        </p:txBody>
      </p:sp>
      <p:sp>
        <p:nvSpPr>
          <p:cNvPr id="17" name="Text 15"/>
          <p:cNvSpPr/>
          <p:nvPr/>
        </p:nvSpPr>
        <p:spPr>
          <a:xfrm>
            <a:off x="960120" y="3803904"/>
            <a:ext cx="5577840" cy="1819656"/>
          </a:xfrm>
          <a:prstGeom prst="rect">
            <a:avLst/>
          </a:prstGeom>
          <a:noFill/>
          <a:ln/>
        </p:spPr>
        <p:txBody>
          <a:bodyPr wrap="square" lIns="0" tIns="0" rIns="0" bIns="0" rtlCol="0" anchor="t"/>
          <a:lstStyle/>
          <a:p>
            <a:pPr marL="0" indent="0">
              <a:buNone/>
            </a:pPr>
            <a:r>
              <a:rPr lang="en-US" sz="900" dirty="0">
                <a:solidFill>
                  <a:srgbClr val="111827"/>
                </a:solidFill>
                <a:latin typeface="Consolas" pitchFamily="34" charset="0"/>
                <a:ea typeface="Consolas" pitchFamily="34" charset="-122"/>
                <a:cs typeface="Consolas" pitchFamily="34" charset="-120"/>
              </a:rPr>
              <a:t># scene/cameras.py — depth 로드 + outlier 필터</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self.depth_reliable = True</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s = depth_params["scale"]</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if s &lt; 0.2 * med_scale or s &gt; 5 * med_scale:</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self.depth_reliable = False</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self.invdepthmap = mono * s + offset</a:t>
            </a:r>
            <a:endParaRPr lang="en-US" sz="900" dirty="0"/>
          </a:p>
          <a:p>
            <a:pPr marL="0" indent="0">
              <a:buNone/>
            </a:pP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train.py — depth L1 loss (exp. decay)</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if w(iter) &gt; 0 and cam.depth_reliable:</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invDepth = render_pkg["depth"]</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mono_inv = cam.invdepthmap.cuda()</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Ll1depth = torch.abs(</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(invDepth - mono_inv) * depth_mask).mean()</a:t>
            </a:r>
            <a:endParaRPr lang="en-US" sz="900" dirty="0"/>
          </a:p>
          <a:p>
            <a:pPr marL="0" indent="0">
              <a:buNone/>
            </a:pPr>
            <a:r>
              <a:rPr lang="en-US" sz="900" dirty="0">
                <a:solidFill>
                  <a:srgbClr val="111827"/>
                </a:solidFill>
                <a:latin typeface="Consolas" pitchFamily="34" charset="0"/>
                <a:ea typeface="Consolas" pitchFamily="34" charset="-122"/>
                <a:cs typeface="Consolas" pitchFamily="34" charset="-120"/>
              </a:rPr>
              <a:t>    loss += w(iter) * Ll1depth</a:t>
            </a:r>
            <a:endParaRPr lang="en-US" sz="900" dirty="0"/>
          </a:p>
        </p:txBody>
      </p:sp>
      <p:sp>
        <p:nvSpPr>
          <p:cNvPr id="18" name="Text 16"/>
          <p:cNvSpPr/>
          <p:nvPr/>
        </p:nvSpPr>
        <p:spPr>
          <a:xfrm>
            <a:off x="4453128" y="4306824"/>
            <a:ext cx="2468880" cy="219456"/>
          </a:xfrm>
          <a:prstGeom prst="rect">
            <a:avLst/>
          </a:prstGeom>
          <a:noFill/>
          <a:ln/>
        </p:spPr>
        <p:txBody>
          <a:bodyPr wrap="square" lIns="0" tIns="0" rIns="0" bIns="0" rtlCol="0" anchor="ctr"/>
          <a:lstStyle/>
          <a:p>
            <a:pPr marL="0" indent="0">
              <a:buNone/>
            </a:pPr>
            <a:r>
              <a:rPr lang="en-US" sz="900" b="1" dirty="0">
                <a:solidFill>
                  <a:srgbClr val="DC2626"/>
                </a:solidFill>
                <a:latin typeface="Consolas" pitchFamily="34" charset="0"/>
                <a:ea typeface="Consolas" pitchFamily="34" charset="-122"/>
                <a:cs typeface="Consolas" pitchFamily="34" charset="-120"/>
              </a:rPr>
              <a:t> </a:t>
            </a:r>
            <a:r>
              <a:rPr lang="en-US" sz="900" b="1" dirty="0">
                <a:solidFill>
                  <a:srgbClr val="DC2626"/>
                </a:solidFill>
                <a:latin typeface="Malgun Gothic" pitchFamily="34" charset="0"/>
                <a:ea typeface="Malgun Gothic" pitchFamily="34" charset="-122"/>
                <a:cs typeface="Malgun Gothic" pitchFamily="34" charset="-120"/>
              </a:rPr>
              <a:t>①  </a:t>
            </a:r>
            <a:r>
              <a:rPr lang="en-US" sz="900" b="1" dirty="0">
                <a:solidFill>
                  <a:srgbClr val="B91C1C"/>
                </a:solidFill>
                <a:latin typeface="Malgun Gothic" pitchFamily="34" charset="0"/>
                <a:ea typeface="Malgun Gothic" pitchFamily="34" charset="-122"/>
                <a:cs typeface="Malgun Gothic" pitchFamily="34" charset="-120"/>
              </a:rPr>
              <a:t>scale이 이상하면 제외</a:t>
            </a:r>
            <a:endParaRPr lang="en-US" sz="900" dirty="0"/>
          </a:p>
        </p:txBody>
      </p:sp>
      <p:sp>
        <p:nvSpPr>
          <p:cNvPr id="19" name="Text 17"/>
          <p:cNvSpPr/>
          <p:nvPr/>
        </p:nvSpPr>
        <p:spPr>
          <a:xfrm>
            <a:off x="4160520" y="5399532"/>
            <a:ext cx="2468880" cy="219456"/>
          </a:xfrm>
          <a:prstGeom prst="rect">
            <a:avLst/>
          </a:prstGeom>
          <a:noFill/>
          <a:ln/>
        </p:spPr>
        <p:txBody>
          <a:bodyPr wrap="square" lIns="0" tIns="0" rIns="0" bIns="0" rtlCol="0" anchor="ctr"/>
          <a:lstStyle/>
          <a:p>
            <a:pPr marL="0" indent="0">
              <a:buNone/>
            </a:pPr>
            <a:r>
              <a:rPr lang="ko-KR" altLang="en-US" sz="900" b="1" dirty="0">
                <a:solidFill>
                  <a:srgbClr val="DC2626"/>
                </a:solidFill>
                <a:latin typeface="Consolas" pitchFamily="34" charset="0"/>
                <a:ea typeface="Malgun Gothic" pitchFamily="34" charset="-122"/>
                <a:cs typeface="Consolas" pitchFamily="34" charset="-120"/>
              </a:rPr>
              <a:t>      </a:t>
            </a:r>
            <a:r>
              <a:rPr lang="en-US" sz="900" b="1" dirty="0">
                <a:solidFill>
                  <a:srgbClr val="DC2626"/>
                </a:solidFill>
                <a:latin typeface="Malgun Gothic" pitchFamily="34" charset="0"/>
                <a:ea typeface="Malgun Gothic" pitchFamily="34" charset="-122"/>
                <a:cs typeface="Malgun Gothic" pitchFamily="34" charset="-120"/>
              </a:rPr>
              <a:t>②  </a:t>
            </a:r>
            <a:r>
              <a:rPr lang="en-US" sz="900" b="1" dirty="0">
                <a:solidFill>
                  <a:srgbClr val="B91C1C"/>
                </a:solidFill>
                <a:latin typeface="Malgun Gothic" pitchFamily="34" charset="0"/>
                <a:ea typeface="Malgun Gothic" pitchFamily="34" charset="-122"/>
                <a:cs typeface="Malgun Gothic" pitchFamily="34" charset="-120"/>
              </a:rPr>
              <a:t>렌더 깊이 ↔ 예측 깊이  차이</a:t>
            </a:r>
            <a:endParaRPr lang="en-US" sz="900" dirty="0"/>
          </a:p>
        </p:txBody>
      </p:sp>
      <p:sp>
        <p:nvSpPr>
          <p:cNvPr id="20" name="Shape 18"/>
          <p:cNvSpPr/>
          <p:nvPr/>
        </p:nvSpPr>
        <p:spPr>
          <a:xfrm>
            <a:off x="6903720" y="1417320"/>
            <a:ext cx="4709160" cy="4251960"/>
          </a:xfrm>
          <a:prstGeom prst="rect">
            <a:avLst/>
          </a:prstGeom>
          <a:solidFill>
            <a:srgbClr val="F9FAFB"/>
          </a:solidFill>
          <a:ln w="6350">
            <a:solidFill>
              <a:srgbClr val="D1D5DB"/>
            </a:solidFill>
            <a:prstDash val="solid"/>
          </a:ln>
        </p:spPr>
        <p:txBody>
          <a:bodyPr/>
          <a:lstStyle/>
          <a:p>
            <a:endParaRPr lang="ko-KR" altLang="en-US"/>
          </a:p>
        </p:txBody>
      </p:sp>
      <p:sp>
        <p:nvSpPr>
          <p:cNvPr id="21" name="Shape 19"/>
          <p:cNvSpPr/>
          <p:nvPr/>
        </p:nvSpPr>
        <p:spPr>
          <a:xfrm>
            <a:off x="6903720" y="1417320"/>
            <a:ext cx="73152" cy="4251960"/>
          </a:xfrm>
          <a:prstGeom prst="rect">
            <a:avLst/>
          </a:prstGeom>
          <a:solidFill>
            <a:srgbClr val="065F46"/>
          </a:solidFill>
          <a:ln/>
        </p:spPr>
        <p:txBody>
          <a:bodyPr/>
          <a:lstStyle/>
          <a:p>
            <a:endParaRPr lang="ko-KR" altLang="en-US"/>
          </a:p>
        </p:txBody>
      </p:sp>
      <p:sp>
        <p:nvSpPr>
          <p:cNvPr id="22" name="Text 20"/>
          <p:cNvSpPr/>
          <p:nvPr/>
        </p:nvSpPr>
        <p:spPr>
          <a:xfrm>
            <a:off x="7086600" y="1508760"/>
            <a:ext cx="4480560" cy="274320"/>
          </a:xfrm>
          <a:prstGeom prst="rect">
            <a:avLst/>
          </a:prstGeom>
          <a:noFill/>
          <a:ln/>
        </p:spPr>
        <p:txBody>
          <a:bodyPr wrap="square" lIns="0" tIns="0" rIns="0" bIns="0" rtlCol="0" anchor="ctr"/>
          <a:lstStyle/>
          <a:p>
            <a:pPr marL="0" indent="0">
              <a:buNone/>
            </a:pPr>
            <a:r>
              <a:rPr lang="en-US" sz="1200" b="1" kern="0" spc="150" dirty="0">
                <a:solidFill>
                  <a:srgbClr val="065F46"/>
                </a:solidFill>
                <a:latin typeface="Malgun Gothic" pitchFamily="34" charset="0"/>
                <a:ea typeface="Malgun Gothic" pitchFamily="34" charset="-122"/>
                <a:cs typeface="Malgun Gothic" pitchFamily="34" charset="-120"/>
              </a:rPr>
              <a:t>왜 이 방식이 작동하는가</a:t>
            </a:r>
            <a:endParaRPr lang="en-US" sz="1200" dirty="0"/>
          </a:p>
        </p:txBody>
      </p:sp>
      <p:sp>
        <p:nvSpPr>
          <p:cNvPr id="23" name="Text 21"/>
          <p:cNvSpPr/>
          <p:nvPr/>
        </p:nvSpPr>
        <p:spPr>
          <a:xfrm>
            <a:off x="7086600" y="1874520"/>
            <a:ext cx="4480560" cy="256032"/>
          </a:xfrm>
          <a:prstGeom prst="rect">
            <a:avLst/>
          </a:prstGeom>
          <a:noFill/>
          <a:ln/>
        </p:spPr>
        <p:txBody>
          <a:bodyPr wrap="square" lIns="0" tIns="0" rIns="0" bIns="0" rtlCol="0" anchor="ctr"/>
          <a:lstStyle/>
          <a:p>
            <a:pPr marL="0" indent="0">
              <a:buNone/>
            </a:pPr>
            <a:r>
              <a:rPr lang="en-US" sz="1100" b="1" dirty="0">
                <a:solidFill>
                  <a:srgbClr val="1E40AF"/>
                </a:solidFill>
                <a:latin typeface="Malgun Gothic" pitchFamily="34" charset="0"/>
                <a:ea typeface="Malgun Gothic" pitchFamily="34" charset="-122"/>
                <a:cs typeface="Malgun Gothic" pitchFamily="34" charset="-120"/>
              </a:rPr>
              <a:t>①  상대 깊이  →  절대 깊이로 맞추기</a:t>
            </a:r>
            <a:endParaRPr lang="en-US" sz="1100" dirty="0"/>
          </a:p>
        </p:txBody>
      </p:sp>
      <p:sp>
        <p:nvSpPr>
          <p:cNvPr id="24" name="Text 22"/>
          <p:cNvSpPr/>
          <p:nvPr/>
        </p:nvSpPr>
        <p:spPr>
          <a:xfrm>
            <a:off x="7178040" y="2130552"/>
            <a:ext cx="4389120" cy="566928"/>
          </a:xfrm>
          <a:prstGeom prst="rect">
            <a:avLst/>
          </a:prstGeom>
          <a:noFill/>
          <a:ln/>
        </p:spPr>
        <p:txBody>
          <a:bodyPr wrap="square" lIns="0" tIns="0" rIns="0" bIns="0" rtlCol="0" anchor="t"/>
          <a:lstStyle/>
          <a:p>
            <a:pPr marL="0" indent="0">
              <a:buNone/>
            </a:pPr>
            <a:r>
              <a:rPr lang="en-US" sz="1000" dirty="0">
                <a:solidFill>
                  <a:srgbClr val="1A202C"/>
                </a:solidFill>
                <a:latin typeface="Malgun Gothic" pitchFamily="34" charset="0"/>
                <a:ea typeface="Malgun Gothic" pitchFamily="34" charset="-122"/>
                <a:cs typeface="Malgun Gothic" pitchFamily="34" charset="-120"/>
              </a:rPr>
              <a:t>Depth Anything V2는 "이쪽이 더 가깝다" 같은 상대적 깊이만 출력. COLMAP의 sparse 3D 점들을 기준 삼아 실제 미터 단위로 맞춘다.</a:t>
            </a:r>
            <a:endParaRPr lang="en-US" sz="1000" dirty="0"/>
          </a:p>
        </p:txBody>
      </p:sp>
      <p:sp>
        <p:nvSpPr>
          <p:cNvPr id="25" name="Text 23"/>
          <p:cNvSpPr/>
          <p:nvPr/>
        </p:nvSpPr>
        <p:spPr>
          <a:xfrm>
            <a:off x="7086600" y="2743200"/>
            <a:ext cx="4480560" cy="256032"/>
          </a:xfrm>
          <a:prstGeom prst="rect">
            <a:avLst/>
          </a:prstGeom>
          <a:noFill/>
          <a:ln/>
        </p:spPr>
        <p:txBody>
          <a:bodyPr wrap="square" lIns="0" tIns="0" rIns="0" bIns="0" rtlCol="0" anchor="ctr"/>
          <a:lstStyle/>
          <a:p>
            <a:pPr marL="0" indent="0">
              <a:buNone/>
            </a:pPr>
            <a:r>
              <a:rPr lang="en-US" sz="1100" b="1" dirty="0">
                <a:solidFill>
                  <a:srgbClr val="1E40AF"/>
                </a:solidFill>
                <a:latin typeface="Malgun Gothic" pitchFamily="34" charset="0"/>
                <a:ea typeface="Malgun Gothic" pitchFamily="34" charset="-122"/>
                <a:cs typeface="Malgun Gothic" pitchFamily="34" charset="-120"/>
              </a:rPr>
              <a:t>②  이상치에 강한 정렬 방법</a:t>
            </a:r>
            <a:endParaRPr lang="en-US" sz="1100" dirty="0"/>
          </a:p>
        </p:txBody>
      </p:sp>
      <p:sp>
        <p:nvSpPr>
          <p:cNvPr id="26" name="Text 24"/>
          <p:cNvSpPr/>
          <p:nvPr/>
        </p:nvSpPr>
        <p:spPr>
          <a:xfrm>
            <a:off x="7178040" y="2999232"/>
            <a:ext cx="4389120" cy="548640"/>
          </a:xfrm>
          <a:prstGeom prst="rect">
            <a:avLst/>
          </a:prstGeom>
          <a:noFill/>
          <a:ln/>
        </p:spPr>
        <p:txBody>
          <a:bodyPr wrap="square" lIns="0" tIns="0" rIns="0" bIns="0" rtlCol="0" anchor="t"/>
          <a:lstStyle/>
          <a:p>
            <a:pPr marL="0" indent="0">
              <a:buNone/>
            </a:pPr>
            <a:r>
              <a:rPr lang="en-US" sz="1000" dirty="0">
                <a:solidFill>
                  <a:srgbClr val="1A202C"/>
                </a:solidFill>
                <a:latin typeface="Malgun Gothic" pitchFamily="34" charset="0"/>
                <a:ea typeface="Malgun Gothic" pitchFamily="34" charset="-122"/>
                <a:cs typeface="Malgun Gothic" pitchFamily="34" charset="-120"/>
              </a:rPr>
              <a:t>COLMAP 점에는 잘못 매칭된 이상치가 섞여 있음. 평균 대신 중앙값(Median)을 써서 소수의 이상치가 정렬을 망가뜨리지 않게 한다.</a:t>
            </a:r>
            <a:endParaRPr lang="en-US" sz="1000" dirty="0"/>
          </a:p>
        </p:txBody>
      </p:sp>
      <p:sp>
        <p:nvSpPr>
          <p:cNvPr id="27" name="Text 25"/>
          <p:cNvSpPr/>
          <p:nvPr/>
        </p:nvSpPr>
        <p:spPr>
          <a:xfrm>
            <a:off x="7086600" y="3584448"/>
            <a:ext cx="4480560" cy="256032"/>
          </a:xfrm>
          <a:prstGeom prst="rect">
            <a:avLst/>
          </a:prstGeom>
          <a:noFill/>
          <a:ln/>
        </p:spPr>
        <p:txBody>
          <a:bodyPr wrap="square" lIns="0" tIns="0" rIns="0" bIns="0" rtlCol="0" anchor="ctr"/>
          <a:lstStyle/>
          <a:p>
            <a:pPr marL="0" indent="0">
              <a:buNone/>
            </a:pPr>
            <a:r>
              <a:rPr lang="en-US" sz="1100" b="1" dirty="0">
                <a:solidFill>
                  <a:srgbClr val="1E40AF"/>
                </a:solidFill>
                <a:latin typeface="Malgun Gothic" pitchFamily="34" charset="0"/>
                <a:ea typeface="Malgun Gothic" pitchFamily="34" charset="-122"/>
                <a:cs typeface="Malgun Gothic" pitchFamily="34" charset="-120"/>
              </a:rPr>
              <a:t>③  초반에만 강하게 적용</a:t>
            </a:r>
            <a:r>
              <a:rPr lang="en-US" sz="1100" dirty="0">
                <a:solidFill>
                  <a:srgbClr val="6B7280"/>
                </a:solidFill>
                <a:latin typeface="Consolas" pitchFamily="34" charset="0"/>
                <a:ea typeface="Consolas" pitchFamily="34" charset="-122"/>
                <a:cs typeface="Consolas" pitchFamily="34" charset="-120"/>
              </a:rPr>
              <a:t>  (1.0 → 0.01)</a:t>
            </a:r>
            <a:endParaRPr lang="en-US" sz="1100" dirty="0"/>
          </a:p>
        </p:txBody>
      </p:sp>
      <p:sp>
        <p:nvSpPr>
          <p:cNvPr id="28" name="Text 26"/>
          <p:cNvSpPr/>
          <p:nvPr/>
        </p:nvSpPr>
        <p:spPr>
          <a:xfrm>
            <a:off x="7178040" y="3840480"/>
            <a:ext cx="4389120" cy="548640"/>
          </a:xfrm>
          <a:prstGeom prst="rect">
            <a:avLst/>
          </a:prstGeom>
          <a:noFill/>
          <a:ln/>
        </p:spPr>
        <p:txBody>
          <a:bodyPr wrap="square" lIns="0" tIns="0" rIns="0" bIns="0" rtlCol="0" anchor="t"/>
          <a:lstStyle/>
          <a:p>
            <a:pPr marL="0" indent="0">
              <a:buNone/>
            </a:pPr>
            <a:r>
              <a:rPr lang="en-US" sz="1000" dirty="0">
                <a:solidFill>
                  <a:srgbClr val="1A202C"/>
                </a:solidFill>
                <a:latin typeface="Malgun Gothic" pitchFamily="34" charset="0"/>
                <a:ea typeface="Malgun Gothic" pitchFamily="34" charset="-122"/>
                <a:cs typeface="Malgun Gothic" pitchFamily="34" charset="-120"/>
              </a:rPr>
              <a:t>초반에는 depth 신호로 큰 모양을 빠르게 잡아주고, 후반에는 가중치를 줄여 색과 텍스처 학습을 방해하지 않도록 한다.</a:t>
            </a:r>
            <a:endParaRPr lang="en-US" sz="1000" dirty="0"/>
          </a:p>
        </p:txBody>
      </p:sp>
      <p:sp>
        <p:nvSpPr>
          <p:cNvPr id="29" name="Text 27"/>
          <p:cNvSpPr/>
          <p:nvPr/>
        </p:nvSpPr>
        <p:spPr>
          <a:xfrm>
            <a:off x="7086600" y="4434840"/>
            <a:ext cx="4480560" cy="256032"/>
          </a:xfrm>
          <a:prstGeom prst="rect">
            <a:avLst/>
          </a:prstGeom>
          <a:noFill/>
          <a:ln/>
        </p:spPr>
        <p:txBody>
          <a:bodyPr wrap="square" lIns="0" tIns="0" rIns="0" bIns="0" rtlCol="0" anchor="ctr"/>
          <a:lstStyle/>
          <a:p>
            <a:pPr marL="0" indent="0">
              <a:buNone/>
            </a:pPr>
            <a:r>
              <a:rPr lang="en-US" sz="1100" b="1" dirty="0">
                <a:solidFill>
                  <a:srgbClr val="1E40AF"/>
                </a:solidFill>
                <a:latin typeface="Malgun Gothic" pitchFamily="34" charset="0"/>
                <a:ea typeface="Malgun Gothic" pitchFamily="34" charset="-122"/>
                <a:cs typeface="Malgun Gothic" pitchFamily="34" charset="-120"/>
              </a:rPr>
              <a:t>④  믿을 수 없는 이미지는 제외</a:t>
            </a:r>
            <a:endParaRPr lang="en-US" sz="1100" dirty="0"/>
          </a:p>
        </p:txBody>
      </p:sp>
      <p:sp>
        <p:nvSpPr>
          <p:cNvPr id="30" name="Text 28"/>
          <p:cNvSpPr/>
          <p:nvPr/>
        </p:nvSpPr>
        <p:spPr>
          <a:xfrm>
            <a:off x="7178040" y="4690872"/>
            <a:ext cx="4389120" cy="685800"/>
          </a:xfrm>
          <a:prstGeom prst="rect">
            <a:avLst/>
          </a:prstGeom>
          <a:noFill/>
          <a:ln/>
        </p:spPr>
        <p:txBody>
          <a:bodyPr wrap="square" lIns="0" tIns="0" rIns="0" bIns="0" rtlCol="0" anchor="t"/>
          <a:lstStyle/>
          <a:p>
            <a:pPr marL="0" indent="0">
              <a:buNone/>
            </a:pPr>
            <a:r>
              <a:rPr lang="en-US" sz="1000" dirty="0">
                <a:solidFill>
                  <a:srgbClr val="1A202C"/>
                </a:solidFill>
                <a:latin typeface="Malgun Gothic" pitchFamily="34" charset="0"/>
                <a:ea typeface="Malgun Gothic" pitchFamily="34" charset="-122"/>
                <a:cs typeface="Malgun Gothic" pitchFamily="34" charset="-120"/>
              </a:rPr>
              <a:t>이미지별 scale이 다른 이미지들의 중앙값(med)에서 0.2배보다 작거나 5배보다 크면 "정렬이 잘못됐다"고 판단 → 그 이미지는 depth loss에서 빼버린다.</a:t>
            </a:r>
            <a:endParaRPr lang="en-US" sz="1000" dirty="0"/>
          </a:p>
        </p:txBody>
      </p:sp>
      <p:sp>
        <p:nvSpPr>
          <p:cNvPr id="31" name="Shape 29"/>
          <p:cNvSpPr/>
          <p:nvPr/>
        </p:nvSpPr>
        <p:spPr>
          <a:xfrm>
            <a:off x="640080" y="5852160"/>
            <a:ext cx="10881360" cy="1005840"/>
          </a:xfrm>
          <a:prstGeom prst="rect">
            <a:avLst/>
          </a:prstGeom>
          <a:solidFill>
            <a:srgbClr val="F9FAFB"/>
          </a:solidFill>
          <a:ln w="6350">
            <a:solidFill>
              <a:srgbClr val="D1D5DB"/>
            </a:solidFill>
            <a:prstDash val="solid"/>
          </a:ln>
        </p:spPr>
        <p:txBody>
          <a:bodyPr/>
          <a:lstStyle/>
          <a:p>
            <a:endParaRPr lang="ko-KR" altLang="en-US"/>
          </a:p>
        </p:txBody>
      </p:sp>
      <p:sp>
        <p:nvSpPr>
          <p:cNvPr id="32" name="Shape 30"/>
          <p:cNvSpPr/>
          <p:nvPr/>
        </p:nvSpPr>
        <p:spPr>
          <a:xfrm>
            <a:off x="640080" y="5852160"/>
            <a:ext cx="73152" cy="1005840"/>
          </a:xfrm>
          <a:prstGeom prst="rect">
            <a:avLst/>
          </a:prstGeom>
          <a:solidFill>
            <a:srgbClr val="1E40AF"/>
          </a:solidFill>
          <a:ln w="12700">
            <a:solidFill>
              <a:srgbClr val="1E40AF"/>
            </a:solidFill>
            <a:prstDash val="solid"/>
          </a:ln>
        </p:spPr>
        <p:txBody>
          <a:bodyPr/>
          <a:lstStyle/>
          <a:p>
            <a:endParaRPr lang="ko-KR" altLang="en-US"/>
          </a:p>
        </p:txBody>
      </p:sp>
      <p:sp>
        <p:nvSpPr>
          <p:cNvPr id="33" name="Text 31"/>
          <p:cNvSpPr/>
          <p:nvPr/>
        </p:nvSpPr>
        <p:spPr>
          <a:xfrm>
            <a:off x="868680" y="5897880"/>
            <a:ext cx="10561320" cy="292608"/>
          </a:xfrm>
          <a:prstGeom prst="rect">
            <a:avLst/>
          </a:prstGeom>
          <a:noFill/>
          <a:ln/>
        </p:spPr>
        <p:txBody>
          <a:bodyPr wrap="square" lIns="0" tIns="0" rIns="0" bIns="0" rtlCol="0" anchor="ctr"/>
          <a:lstStyle/>
          <a:p>
            <a:pPr marL="0" indent="0">
              <a:buNone/>
            </a:pPr>
            <a:r>
              <a:rPr lang="en-US" sz="1100" b="1" kern="0" spc="100" dirty="0">
                <a:solidFill>
                  <a:srgbClr val="1E40AF"/>
                </a:solidFill>
                <a:latin typeface="Malgun Gothic" pitchFamily="34" charset="0"/>
                <a:ea typeface="Malgun Gothic" pitchFamily="34" charset="-122"/>
                <a:cs typeface="Malgun Gothic" pitchFamily="34" charset="-120"/>
              </a:rPr>
              <a:t>핵심 개념  </a:t>
            </a:r>
            <a:r>
              <a:rPr lang="en-US" sz="1100" dirty="0">
                <a:solidFill>
                  <a:srgbClr val="6B7280"/>
                </a:solidFill>
                <a:latin typeface="Malgun Gothic" pitchFamily="34" charset="0"/>
                <a:ea typeface="Malgun Gothic" pitchFamily="34" charset="-122"/>
                <a:cs typeface="Malgun Gothic" pitchFamily="34" charset="-120"/>
              </a:rPr>
              <a:t>·  </a:t>
            </a:r>
            <a:r>
              <a:rPr lang="en-US" sz="1100" b="1" dirty="0">
                <a:solidFill>
                  <a:srgbClr val="111827"/>
                </a:solidFill>
                <a:latin typeface="Malgun Gothic" pitchFamily="34" charset="0"/>
                <a:ea typeface="Malgun Gothic" pitchFamily="34" charset="-122"/>
                <a:cs typeface="Malgun Gothic" pitchFamily="34" charset="-120"/>
              </a:rPr>
              <a:t>슬라이드 10과의 연결  —  "Gaussian 추가 여부를 무엇으로 결정하는가" 의 보완</a:t>
            </a:r>
            <a:endParaRPr lang="en-US" sz="1100" dirty="0"/>
          </a:p>
        </p:txBody>
      </p:sp>
      <p:sp>
        <p:nvSpPr>
          <p:cNvPr id="34" name="Text 32"/>
          <p:cNvSpPr/>
          <p:nvPr/>
        </p:nvSpPr>
        <p:spPr>
          <a:xfrm>
            <a:off x="868680" y="6181344"/>
            <a:ext cx="10561320" cy="347472"/>
          </a:xfrm>
          <a:prstGeom prst="rect">
            <a:avLst/>
          </a:prstGeom>
          <a:noFill/>
          <a:ln/>
        </p:spPr>
        <p:txBody>
          <a:bodyPr wrap="square" lIns="0" tIns="0" rIns="0" bIns="0" rtlCol="0" anchor="t"/>
          <a:lstStyle/>
          <a:p>
            <a:pPr marL="0" indent="0">
              <a:buNone/>
            </a:pPr>
            <a:r>
              <a:rPr lang="en-US" sz="1050" dirty="0">
                <a:solidFill>
                  <a:srgbClr val="1A202C"/>
                </a:solidFill>
                <a:latin typeface="Malgun Gothic" pitchFamily="34" charset="0"/>
                <a:ea typeface="Malgun Gothic" pitchFamily="34" charset="-122"/>
                <a:cs typeface="Malgun Gothic" pitchFamily="34" charset="-120"/>
              </a:rPr>
              <a:t>슬라이드 10에서 봤듯이 원본 3DGS는 gradient 하나만으로 Gaussian을 추가했다. 뷰가 적으면 이 신호가 흔들려서 엉뚱한 곳에 Gaussian이 생성됐다. Depth regularization은 "렌더링된 depth가 Depth Anything이 예측한 depth와 비슷해야 한다"는 별도의 기하 정보를 추가해, 엉뚱한 위치에 생긴 Gaussian을 다시 끌어당겨 바로잡는다.</a:t>
            </a:r>
            <a:endParaRPr lang="en-US" sz="1050" dirty="0"/>
          </a:p>
        </p:txBody>
      </p:sp>
      <p:sp>
        <p:nvSpPr>
          <p:cNvPr id="35" name="Text 33"/>
          <p:cNvSpPr/>
          <p:nvPr/>
        </p:nvSpPr>
        <p:spPr>
          <a:xfrm>
            <a:off x="868680" y="6537960"/>
            <a:ext cx="10561320" cy="292608"/>
          </a:xfrm>
          <a:prstGeom prst="rect">
            <a:avLst/>
          </a:prstGeom>
          <a:noFill/>
          <a:ln/>
        </p:spPr>
        <p:txBody>
          <a:bodyPr wrap="square" lIns="0" tIns="0" rIns="0" bIns="0" rtlCol="0" anchor="ctr"/>
          <a:lstStyle/>
          <a:p>
            <a:pPr marL="0" indent="0">
              <a:buNone/>
            </a:pPr>
            <a:r>
              <a:rPr lang="en-US" sz="1000" b="1" dirty="0">
                <a:solidFill>
                  <a:srgbClr val="065F46"/>
                </a:solidFill>
                <a:latin typeface="Malgun Gothic" pitchFamily="34" charset="0"/>
                <a:ea typeface="Malgun Gothic" pitchFamily="34" charset="-122"/>
                <a:cs typeface="Malgun Gothic" pitchFamily="34" charset="-120"/>
              </a:rPr>
              <a:t>구현에서는  </a:t>
            </a:r>
            <a:r>
              <a:rPr lang="en-US" sz="1000" dirty="0">
                <a:solidFill>
                  <a:srgbClr val="6B7280"/>
                </a:solidFill>
                <a:latin typeface="Malgun Gothic" pitchFamily="34" charset="0"/>
                <a:ea typeface="Malgun Gothic" pitchFamily="34" charset="-122"/>
                <a:cs typeface="Malgun Gothic" pitchFamily="34" charset="-120"/>
              </a:rPr>
              <a:t>·  </a:t>
            </a:r>
            <a:r>
              <a:rPr lang="en-US" sz="1000" dirty="0">
                <a:solidFill>
                  <a:srgbClr val="1A202C"/>
                </a:solidFill>
                <a:latin typeface="Malgun Gothic" pitchFamily="34" charset="0"/>
                <a:ea typeface="Malgun Gothic" pitchFamily="34" charset="-122"/>
                <a:cs typeface="Malgun Gothic" pitchFamily="34" charset="-120"/>
              </a:rPr>
              <a:t>이 기능은 원작자들이 Hierarchical 3DGS (SIGGRAPH 2024) 연구 중에 효과를 확인한 뒤  gaussian-splatting  공식 repo에 병합했다. 원본 2023 논문에는 없었고, real-world 데이터셋에서는 현재 기본 권장 옵션이다.</a:t>
            </a:r>
            <a:endParaRPr lang="en-US" sz="1000" dirty="0"/>
          </a:p>
        </p:txBody>
      </p:sp>
      <p:sp>
        <p:nvSpPr>
          <p:cNvPr id="36" name="Text 34"/>
          <p:cNvSpPr/>
          <p:nvPr/>
        </p:nvSpPr>
        <p:spPr>
          <a:xfrm>
            <a:off x="11064240" y="649224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Malgun Gothic" pitchFamily="34" charset="0"/>
                <a:ea typeface="Malgun Gothic" pitchFamily="34" charset="-122"/>
                <a:cs typeface="Malgun Gothic" pitchFamily="34" charset="-120"/>
              </a:rPr>
              <a:t>11 / 14</a:t>
            </a:r>
            <a:endParaRPr lang="en-US" sz="1000" dirty="0"/>
          </a:p>
        </p:txBody>
      </p:sp>
      <p:sp>
        <p:nvSpPr>
          <p:cNvPr id="37" name="왼쪽 화살표[L] 36">
            <a:extLst>
              <a:ext uri="{FF2B5EF4-FFF2-40B4-BE49-F238E27FC236}">
                <a16:creationId xmlns:a16="http://schemas.microsoft.com/office/drawing/2014/main" id="{3F6EDE53-0716-CF70-84DF-D1E8FA8664D0}"/>
              </a:ext>
            </a:extLst>
          </p:cNvPr>
          <p:cNvSpPr/>
          <p:nvPr/>
        </p:nvSpPr>
        <p:spPr>
          <a:xfrm>
            <a:off x="4119173" y="4306824"/>
            <a:ext cx="242515" cy="219456"/>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
        <p:nvSpPr>
          <p:cNvPr id="38" name="왼쪽 화살표[L] 37">
            <a:extLst>
              <a:ext uri="{FF2B5EF4-FFF2-40B4-BE49-F238E27FC236}">
                <a16:creationId xmlns:a16="http://schemas.microsoft.com/office/drawing/2014/main" id="{EC270FA6-C4DB-6491-19A9-D08F973956F8}"/>
              </a:ext>
            </a:extLst>
          </p:cNvPr>
          <p:cNvSpPr/>
          <p:nvPr/>
        </p:nvSpPr>
        <p:spPr>
          <a:xfrm>
            <a:off x="4240430" y="5409869"/>
            <a:ext cx="242515" cy="219456"/>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ko-KR"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74320"/>
          </a:xfrm>
          <a:prstGeom prst="rect">
            <a:avLst/>
          </a:prstGeom>
          <a:noFill/>
          <a:ln/>
        </p:spPr>
        <p:txBody>
          <a:bodyPr wrap="square" lIns="0" tIns="0" rIns="0" bIns="0" rtlCol="0" anchor="ctr"/>
          <a:lstStyle/>
          <a:p>
            <a:pPr marL="0" indent="0">
              <a:buNone/>
            </a:pPr>
            <a:r>
              <a:rPr lang="en-US" sz="1100" b="1" kern="0" spc="200" dirty="0">
                <a:solidFill>
                  <a:srgbClr val="1E40AF"/>
                </a:solidFill>
                <a:latin typeface="Malgun Gothic" pitchFamily="34" charset="0"/>
                <a:ea typeface="Malgun Gothic" pitchFamily="34" charset="-122"/>
                <a:cs typeface="Malgun Gothic" pitchFamily="34" charset="-120"/>
              </a:rPr>
              <a:t>1</a:t>
            </a:r>
            <a:r>
              <a:rPr lang="en-US" altLang="ko-KR" sz="1100" b="1" kern="0" spc="200" dirty="0">
                <a:solidFill>
                  <a:srgbClr val="1E40AF"/>
                </a:solidFill>
                <a:latin typeface="Malgun Gothic" pitchFamily="34" charset="0"/>
                <a:ea typeface="Malgun Gothic" pitchFamily="34" charset="-122"/>
                <a:cs typeface="Malgun Gothic" pitchFamily="34" charset="-120"/>
              </a:rPr>
              <a:t>1</a:t>
            </a:r>
            <a:r>
              <a:rPr lang="en-US" sz="1100" b="1" kern="0" spc="200" dirty="0">
                <a:solidFill>
                  <a:srgbClr val="1E40AF"/>
                </a:solidFill>
                <a:latin typeface="Malgun Gothic" pitchFamily="34" charset="0"/>
                <a:ea typeface="Malgun Gothic" pitchFamily="34" charset="-122"/>
                <a:cs typeface="Malgun Gothic" pitchFamily="34" charset="-120"/>
              </a:rPr>
              <a:t>. 실제 실험 결과</a:t>
            </a:r>
            <a:endParaRPr lang="en-US" sz="1100" dirty="0"/>
          </a:p>
        </p:txBody>
      </p:sp>
      <p:sp>
        <p:nvSpPr>
          <p:cNvPr id="3" name="Text 1"/>
          <p:cNvSpPr/>
          <p:nvPr/>
        </p:nvSpPr>
        <p:spPr>
          <a:xfrm>
            <a:off x="640080" y="640080"/>
            <a:ext cx="10972800" cy="548640"/>
          </a:xfrm>
          <a:prstGeom prst="rect">
            <a:avLst/>
          </a:prstGeom>
          <a:noFill/>
          <a:ln/>
        </p:spPr>
        <p:txBody>
          <a:bodyPr wrap="square" lIns="0" tIns="0" rIns="0" bIns="0" rtlCol="0" anchor="ctr"/>
          <a:lstStyle/>
          <a:p>
            <a:pPr marL="0" indent="0">
              <a:buNone/>
            </a:pPr>
            <a:r>
              <a:rPr lang="en-US" sz="2400" b="1" dirty="0">
                <a:solidFill>
                  <a:srgbClr val="111827"/>
                </a:solidFill>
                <a:latin typeface="Malgun Gothic" pitchFamily="34" charset="0"/>
                <a:ea typeface="Malgun Gothic" pitchFamily="34" charset="-122"/>
                <a:cs typeface="Malgun Gothic" pitchFamily="34" charset="-120"/>
              </a:rPr>
              <a:t>논문이 언급한 한계점을 sparse view 실험에서 직접 관측</a:t>
            </a:r>
            <a:endParaRPr lang="en-US" sz="2400" dirty="0"/>
          </a:p>
        </p:txBody>
      </p:sp>
      <p:sp>
        <p:nvSpPr>
          <p:cNvPr id="4" name="Shape 2"/>
          <p:cNvSpPr/>
          <p:nvPr/>
        </p:nvSpPr>
        <p:spPr>
          <a:xfrm>
            <a:off x="640080" y="1280160"/>
            <a:ext cx="10881360" cy="0"/>
          </a:xfrm>
          <a:prstGeom prst="line">
            <a:avLst/>
          </a:prstGeom>
          <a:noFill/>
          <a:ln w="9525">
            <a:solidFill>
              <a:srgbClr val="D1D5DB"/>
            </a:solidFill>
            <a:prstDash val="solid"/>
          </a:ln>
        </p:spPr>
        <p:txBody>
          <a:bodyPr/>
          <a:lstStyle/>
          <a:p>
            <a:endParaRPr lang="ko-KR" altLang="en-US"/>
          </a:p>
        </p:txBody>
      </p:sp>
      <p:sp>
        <p:nvSpPr>
          <p:cNvPr id="5" name="Shape 3"/>
          <p:cNvSpPr/>
          <p:nvPr/>
        </p:nvSpPr>
        <p:spPr>
          <a:xfrm>
            <a:off x="640080" y="1417320"/>
            <a:ext cx="3200400" cy="5029200"/>
          </a:xfrm>
          <a:prstGeom prst="rect">
            <a:avLst/>
          </a:prstGeom>
          <a:solidFill>
            <a:srgbClr val="F9FAFB"/>
          </a:solidFill>
          <a:ln w="6350">
            <a:solidFill>
              <a:srgbClr val="D1D5DB"/>
            </a:solidFill>
            <a:prstDash val="solid"/>
          </a:ln>
        </p:spPr>
        <p:txBody>
          <a:bodyPr/>
          <a:lstStyle/>
          <a:p>
            <a:endParaRPr lang="ko-KR" altLang="en-US"/>
          </a:p>
        </p:txBody>
      </p:sp>
      <p:sp>
        <p:nvSpPr>
          <p:cNvPr id="6" name="Shape 4"/>
          <p:cNvSpPr/>
          <p:nvPr/>
        </p:nvSpPr>
        <p:spPr>
          <a:xfrm>
            <a:off x="640080" y="1417320"/>
            <a:ext cx="73152" cy="5029200"/>
          </a:xfrm>
          <a:prstGeom prst="rect">
            <a:avLst/>
          </a:prstGeom>
          <a:solidFill>
            <a:srgbClr val="065F46"/>
          </a:solidFill>
          <a:ln w="12700">
            <a:solidFill>
              <a:srgbClr val="065F46"/>
            </a:solidFill>
            <a:prstDash val="solid"/>
          </a:ln>
        </p:spPr>
        <p:txBody>
          <a:bodyPr/>
          <a:lstStyle/>
          <a:p>
            <a:endParaRPr lang="ko-KR" altLang="en-US"/>
          </a:p>
        </p:txBody>
      </p:sp>
      <p:sp>
        <p:nvSpPr>
          <p:cNvPr id="7" name="Text 5"/>
          <p:cNvSpPr/>
          <p:nvPr/>
        </p:nvSpPr>
        <p:spPr>
          <a:xfrm>
            <a:off x="868680" y="1508760"/>
            <a:ext cx="2926080" cy="274320"/>
          </a:xfrm>
          <a:prstGeom prst="rect">
            <a:avLst/>
          </a:prstGeom>
          <a:noFill/>
          <a:ln/>
        </p:spPr>
        <p:txBody>
          <a:bodyPr wrap="square" lIns="0" tIns="0" rIns="0" bIns="0" rtlCol="0" anchor="ctr"/>
          <a:lstStyle/>
          <a:p>
            <a:pPr marL="0" indent="0">
              <a:buNone/>
            </a:pPr>
            <a:r>
              <a:rPr lang="en-US" sz="1100" b="1" kern="0" spc="100" dirty="0">
                <a:solidFill>
                  <a:srgbClr val="065F46"/>
                </a:solidFill>
                <a:latin typeface="Malgun Gothic" pitchFamily="34" charset="0"/>
                <a:ea typeface="Malgun Gothic" pitchFamily="34" charset="-122"/>
                <a:cs typeface="Malgun Gothic" pitchFamily="34" charset="-120"/>
              </a:rPr>
              <a:t>논문이 언급한 한계</a:t>
            </a:r>
            <a:endParaRPr lang="en-US" sz="1100" dirty="0"/>
          </a:p>
        </p:txBody>
      </p:sp>
      <p:sp>
        <p:nvSpPr>
          <p:cNvPr id="8" name="Text 6"/>
          <p:cNvSpPr/>
          <p:nvPr/>
        </p:nvSpPr>
        <p:spPr>
          <a:xfrm>
            <a:off x="868680" y="1783080"/>
            <a:ext cx="2926080" cy="256032"/>
          </a:xfrm>
          <a:prstGeom prst="rect">
            <a:avLst/>
          </a:prstGeom>
          <a:noFill/>
          <a:ln/>
        </p:spPr>
        <p:txBody>
          <a:bodyPr wrap="square" lIns="0" tIns="0" rIns="0" bIns="0" rtlCol="0" anchor="ctr"/>
          <a:lstStyle/>
          <a:p>
            <a:pPr marL="0" indent="0">
              <a:buNone/>
            </a:pPr>
            <a:r>
              <a:rPr lang="en-US" sz="900" i="1" dirty="0">
                <a:solidFill>
                  <a:srgbClr val="6B7280"/>
                </a:solidFill>
                <a:latin typeface="Calibri" pitchFamily="34" charset="0"/>
                <a:ea typeface="Calibri" pitchFamily="34" charset="-122"/>
                <a:cs typeface="Calibri" pitchFamily="34" charset="-120"/>
              </a:rPr>
              <a:t>Kerbl et al. 2023, §7.4 Limitations</a:t>
            </a:r>
            <a:endParaRPr lang="en-US" sz="900" dirty="0"/>
          </a:p>
        </p:txBody>
      </p:sp>
      <p:sp>
        <p:nvSpPr>
          <p:cNvPr id="9" name="Text 7"/>
          <p:cNvSpPr/>
          <p:nvPr/>
        </p:nvSpPr>
        <p:spPr>
          <a:xfrm>
            <a:off x="868680" y="2103120"/>
            <a:ext cx="2926080" cy="4297680"/>
          </a:xfrm>
          <a:prstGeom prst="rect">
            <a:avLst/>
          </a:prstGeom>
          <a:noFill/>
          <a:ln/>
        </p:spPr>
        <p:txBody>
          <a:bodyPr wrap="square" lIns="0" tIns="0" rIns="0" bIns="0" rtlCol="0" anchor="t"/>
          <a:lstStyle/>
          <a:p>
            <a:pPr marL="0" indent="0">
              <a:spcAft>
                <a:spcPts val="200"/>
              </a:spcAft>
              <a:buNone/>
            </a:pPr>
            <a:r>
              <a:rPr lang="en-US" sz="950" b="1" dirty="0">
                <a:solidFill>
                  <a:srgbClr val="065F46"/>
                </a:solidFill>
                <a:latin typeface="Malgun Gothic" pitchFamily="34" charset="0"/>
                <a:ea typeface="Malgun Gothic" pitchFamily="34" charset="-122"/>
                <a:cs typeface="Malgun Gothic" pitchFamily="34" charset="-120"/>
              </a:rPr>
              <a:t>① </a:t>
            </a:r>
            <a:r>
              <a:rPr lang="en-US" sz="950" i="1" dirty="0">
                <a:solidFill>
                  <a:srgbClr val="1A202C"/>
                </a:solidFill>
                <a:latin typeface="Malgun Gothic" pitchFamily="34" charset="0"/>
                <a:ea typeface="Malgun Gothic" pitchFamily="34" charset="-122"/>
                <a:cs typeface="Malgun Gothic" pitchFamily="34" charset="-120"/>
              </a:rPr>
              <a:t>In regions where the scene is not well observed we have artifacts</a:t>
            </a:r>
            <a:endParaRPr lang="en-US" sz="950" dirty="0"/>
          </a:p>
          <a:p>
            <a:pPr marL="0" indent="0">
              <a:spcAft>
                <a:spcPts val="200"/>
              </a:spcAft>
              <a:buNone/>
            </a:pPr>
            <a:r>
              <a:rPr lang="en-US" sz="950" dirty="0">
                <a:solidFill>
                  <a:srgbClr val="6B7280"/>
                </a:solidFill>
                <a:latin typeface="Malgun Gothic" pitchFamily="34" charset="0"/>
                <a:ea typeface="Malgun Gothic" pitchFamily="34" charset="-122"/>
                <a:cs typeface="Malgun Gothic" pitchFamily="34" charset="-120"/>
              </a:rPr>
              <a:t>  → 학습 뷰에서 충분히 관측되지 않은 영역에 artifact 발생</a:t>
            </a:r>
            <a:endParaRPr lang="en-US" sz="950" dirty="0"/>
          </a:p>
          <a:p>
            <a:pPr marL="0" indent="0">
              <a:spcAft>
                <a:spcPts val="200"/>
              </a:spcAft>
              <a:buNone/>
            </a:pPr>
            <a:r>
              <a:rPr lang="en-US" sz="950" dirty="0">
                <a:solidFill>
                  <a:srgbClr val="000000"/>
                </a:solidFill>
                <a:latin typeface="Malgun Gothic" pitchFamily="34" charset="0"/>
                <a:ea typeface="Malgun Gothic" pitchFamily="34" charset="-122"/>
                <a:cs typeface="Malgun Gothic" pitchFamily="34" charset="-120"/>
              </a:rPr>
              <a:t> </a:t>
            </a:r>
            <a:endParaRPr lang="en-US" sz="950" dirty="0"/>
          </a:p>
          <a:p>
            <a:pPr marL="0" indent="0">
              <a:spcAft>
                <a:spcPts val="200"/>
              </a:spcAft>
              <a:buNone/>
            </a:pPr>
            <a:r>
              <a:rPr lang="en-US" sz="950" b="1" dirty="0">
                <a:solidFill>
                  <a:srgbClr val="065F46"/>
                </a:solidFill>
                <a:latin typeface="Malgun Gothic" pitchFamily="34" charset="0"/>
                <a:ea typeface="Malgun Gothic" pitchFamily="34" charset="-122"/>
                <a:cs typeface="Malgun Gothic" pitchFamily="34" charset="-120"/>
              </a:rPr>
              <a:t>② </a:t>
            </a:r>
            <a:r>
              <a:rPr lang="en-US" sz="950" i="1" dirty="0">
                <a:solidFill>
                  <a:srgbClr val="1A202C"/>
                </a:solidFill>
                <a:latin typeface="Malgun Gothic" pitchFamily="34" charset="0"/>
                <a:ea typeface="Malgun Gothic" pitchFamily="34" charset="-122"/>
                <a:cs typeface="Malgun Gothic" pitchFamily="34" charset="-120"/>
              </a:rPr>
              <a:t>Elongated artifacts or "splotchy" Gaussians</a:t>
            </a:r>
            <a:endParaRPr lang="en-US" sz="950" dirty="0"/>
          </a:p>
          <a:p>
            <a:pPr marL="0" indent="0">
              <a:spcAft>
                <a:spcPts val="200"/>
              </a:spcAft>
              <a:buNone/>
            </a:pPr>
            <a:r>
              <a:rPr lang="en-US" sz="950" dirty="0">
                <a:solidFill>
                  <a:srgbClr val="6B7280"/>
                </a:solidFill>
                <a:latin typeface="Malgun Gothic" pitchFamily="34" charset="0"/>
                <a:ea typeface="Malgun Gothic" pitchFamily="34" charset="-122"/>
                <a:cs typeface="Malgun Gothic" pitchFamily="34" charset="-120"/>
              </a:rPr>
              <a:t>  → 길쭉하거나 얼룩진 Gaussian 생성</a:t>
            </a:r>
            <a:endParaRPr lang="en-US" sz="950" dirty="0"/>
          </a:p>
          <a:p>
            <a:pPr marL="0" indent="0">
              <a:spcAft>
                <a:spcPts val="200"/>
              </a:spcAft>
              <a:buNone/>
            </a:pPr>
            <a:r>
              <a:rPr lang="en-US" sz="950" dirty="0">
                <a:solidFill>
                  <a:srgbClr val="000000"/>
                </a:solidFill>
                <a:latin typeface="Malgun Gothic" pitchFamily="34" charset="0"/>
                <a:ea typeface="Malgun Gothic" pitchFamily="34" charset="-122"/>
                <a:cs typeface="Malgun Gothic" pitchFamily="34" charset="-120"/>
              </a:rPr>
              <a:t> </a:t>
            </a:r>
            <a:endParaRPr lang="en-US" sz="950" dirty="0"/>
          </a:p>
          <a:p>
            <a:pPr marL="0" indent="0">
              <a:spcAft>
                <a:spcPts val="200"/>
              </a:spcAft>
              <a:buNone/>
            </a:pPr>
            <a:r>
              <a:rPr lang="en-US" sz="950" b="1" dirty="0">
                <a:solidFill>
                  <a:srgbClr val="065F46"/>
                </a:solidFill>
                <a:latin typeface="Malgun Gothic" pitchFamily="34" charset="0"/>
                <a:ea typeface="Malgun Gothic" pitchFamily="34" charset="-122"/>
                <a:cs typeface="Malgun Gothic" pitchFamily="34" charset="-120"/>
              </a:rPr>
              <a:t>③ </a:t>
            </a:r>
            <a:r>
              <a:rPr lang="en-US" sz="950" i="1" dirty="0">
                <a:solidFill>
                  <a:srgbClr val="1A202C"/>
                </a:solidFill>
                <a:latin typeface="Malgun Gothic" pitchFamily="34" charset="0"/>
                <a:ea typeface="Malgun Gothic" pitchFamily="34" charset="-122"/>
                <a:cs typeface="Malgun Gothic" pitchFamily="34" charset="-120"/>
              </a:rPr>
              <a:t>Popping artifacts when optimization creates large Gaussians</a:t>
            </a:r>
            <a:endParaRPr lang="en-US" sz="950" dirty="0"/>
          </a:p>
          <a:p>
            <a:pPr marL="0" indent="0">
              <a:spcAft>
                <a:spcPts val="200"/>
              </a:spcAft>
              <a:buNone/>
            </a:pPr>
            <a:r>
              <a:rPr lang="en-US" sz="950" dirty="0">
                <a:solidFill>
                  <a:srgbClr val="6B7280"/>
                </a:solidFill>
                <a:latin typeface="Malgun Gothic" pitchFamily="34" charset="0"/>
                <a:ea typeface="Malgun Gothic" pitchFamily="34" charset="-122"/>
                <a:cs typeface="Malgun Gothic" pitchFamily="34" charset="-120"/>
              </a:rPr>
              <a:t>  → 큰 Gaussian이 튀어나오는 현상</a:t>
            </a:r>
            <a:endParaRPr lang="en-US" sz="950" dirty="0"/>
          </a:p>
          <a:p>
            <a:pPr marL="0" indent="0">
              <a:spcAft>
                <a:spcPts val="200"/>
              </a:spcAft>
              <a:buNone/>
            </a:pPr>
            <a:r>
              <a:rPr lang="en-US" sz="950" dirty="0">
                <a:solidFill>
                  <a:srgbClr val="000000"/>
                </a:solidFill>
                <a:latin typeface="Malgun Gothic" pitchFamily="34" charset="0"/>
                <a:ea typeface="Malgun Gothic" pitchFamily="34" charset="-122"/>
                <a:cs typeface="Malgun Gothic" pitchFamily="34" charset="-120"/>
              </a:rPr>
              <a:t> </a:t>
            </a:r>
            <a:endParaRPr lang="en-US" sz="950" dirty="0"/>
          </a:p>
          <a:p>
            <a:pPr marL="0" indent="0">
              <a:spcAft>
                <a:spcPts val="200"/>
              </a:spcAft>
              <a:buNone/>
            </a:pPr>
            <a:r>
              <a:rPr lang="en-US" sz="950" b="1" dirty="0">
                <a:solidFill>
                  <a:srgbClr val="065F46"/>
                </a:solidFill>
                <a:latin typeface="Malgun Gothic" pitchFamily="34" charset="0"/>
                <a:ea typeface="Malgun Gothic" pitchFamily="34" charset="-122"/>
                <a:cs typeface="Malgun Gothic" pitchFamily="34" charset="-120"/>
              </a:rPr>
              <a:t>④ </a:t>
            </a:r>
            <a:r>
              <a:rPr lang="en-US" sz="950" i="1" dirty="0">
                <a:solidFill>
                  <a:srgbClr val="1A202C"/>
                </a:solidFill>
                <a:latin typeface="Malgun Gothic" pitchFamily="34" charset="0"/>
                <a:ea typeface="Malgun Gothic" pitchFamily="34" charset="-122"/>
                <a:cs typeface="Malgun Gothic" pitchFamily="34" charset="-120"/>
              </a:rPr>
              <a:t>In views that have little overlap with training — artifacts</a:t>
            </a:r>
            <a:endParaRPr lang="en-US" sz="950" dirty="0"/>
          </a:p>
          <a:p>
            <a:pPr marL="0" indent="0">
              <a:spcAft>
                <a:spcPts val="200"/>
              </a:spcAft>
              <a:buNone/>
            </a:pPr>
            <a:r>
              <a:rPr lang="en-US" sz="950" dirty="0">
                <a:solidFill>
                  <a:srgbClr val="6B7280"/>
                </a:solidFill>
                <a:latin typeface="Malgun Gothic" pitchFamily="34" charset="0"/>
                <a:ea typeface="Malgun Gothic" pitchFamily="34" charset="-122"/>
                <a:cs typeface="Malgun Gothic" pitchFamily="34" charset="-120"/>
              </a:rPr>
              <a:t>  → training view와 겹침이 적은 novel view에서 artifact</a:t>
            </a:r>
            <a:endParaRPr lang="en-US" sz="950" dirty="0"/>
          </a:p>
        </p:txBody>
      </p:sp>
      <p:pic>
        <p:nvPicPr>
          <p:cNvPr id="10" name="Image 0" descr="/home/claude/output2/sparse_result.png"/>
          <p:cNvPicPr>
            <a:picLocks noChangeAspect="1"/>
          </p:cNvPicPr>
          <p:nvPr/>
        </p:nvPicPr>
        <p:blipFill>
          <a:blip r:embed="rId3"/>
          <a:stretch>
            <a:fillRect/>
          </a:stretch>
        </p:blipFill>
        <p:spPr>
          <a:xfrm>
            <a:off x="4114800" y="1417320"/>
            <a:ext cx="5303520" cy="4023360"/>
          </a:xfrm>
          <a:prstGeom prst="rect">
            <a:avLst/>
          </a:prstGeom>
        </p:spPr>
      </p:pic>
      <p:sp>
        <p:nvSpPr>
          <p:cNvPr id="11" name="Shape 8"/>
          <p:cNvSpPr/>
          <p:nvPr/>
        </p:nvSpPr>
        <p:spPr>
          <a:xfrm>
            <a:off x="4114800" y="1417320"/>
            <a:ext cx="5303520" cy="4023360"/>
          </a:xfrm>
          <a:prstGeom prst="rect">
            <a:avLst/>
          </a:prstGeom>
          <a:ln w="9525">
            <a:solidFill>
              <a:srgbClr val="D1D5DB"/>
            </a:solidFill>
            <a:prstDash val="solid"/>
          </a:ln>
        </p:spPr>
        <p:txBody>
          <a:bodyPr/>
          <a:lstStyle/>
          <a:p>
            <a:endParaRPr lang="ko-KR" altLang="en-US"/>
          </a:p>
        </p:txBody>
      </p:sp>
      <p:sp>
        <p:nvSpPr>
          <p:cNvPr id="12" name="Text 9"/>
          <p:cNvSpPr/>
          <p:nvPr/>
        </p:nvSpPr>
        <p:spPr>
          <a:xfrm>
            <a:off x="4114800" y="5486400"/>
            <a:ext cx="5303520" cy="228600"/>
          </a:xfrm>
          <a:prstGeom prst="rect">
            <a:avLst/>
          </a:prstGeom>
          <a:noFill/>
          <a:ln/>
        </p:spPr>
        <p:txBody>
          <a:bodyPr wrap="square" lIns="0" tIns="0" rIns="0" bIns="0" rtlCol="0" anchor="ctr"/>
          <a:lstStyle/>
          <a:p>
            <a:pPr marL="0" indent="0" algn="ctr">
              <a:buNone/>
            </a:pPr>
            <a:r>
              <a:rPr lang="en-US" sz="900" i="1" dirty="0">
                <a:solidFill>
                  <a:srgbClr val="6B7280"/>
                </a:solidFill>
                <a:latin typeface="Malgun Gothic" pitchFamily="34" charset="0"/>
                <a:ea typeface="Malgun Gothic" pitchFamily="34" charset="-122"/>
                <a:cs typeface="Malgun Gothic" pitchFamily="34" charset="-120"/>
              </a:rPr>
              <a:t>23장 입력 · stock 3DGS · SuperSplat viewer 캡처</a:t>
            </a:r>
            <a:endParaRPr lang="en-US" sz="900" dirty="0"/>
          </a:p>
        </p:txBody>
      </p:sp>
      <p:sp>
        <p:nvSpPr>
          <p:cNvPr id="13" name="Text 10"/>
          <p:cNvSpPr/>
          <p:nvPr/>
        </p:nvSpPr>
        <p:spPr>
          <a:xfrm>
            <a:off x="9601200" y="1508760"/>
            <a:ext cx="2103120" cy="274320"/>
          </a:xfrm>
          <a:prstGeom prst="rect">
            <a:avLst/>
          </a:prstGeom>
          <a:noFill/>
          <a:ln/>
        </p:spPr>
        <p:txBody>
          <a:bodyPr wrap="square" lIns="0" tIns="0" rIns="0" bIns="0" rtlCol="0" anchor="ctr"/>
          <a:lstStyle/>
          <a:p>
            <a:pPr marL="0" indent="0">
              <a:buNone/>
            </a:pPr>
            <a:r>
              <a:rPr lang="en-US" sz="1100" b="1" kern="0" spc="100" dirty="0" err="1">
                <a:solidFill>
                  <a:srgbClr val="B91C1C"/>
                </a:solidFill>
                <a:latin typeface="Malgun Gothic" pitchFamily="34" charset="0"/>
                <a:ea typeface="Malgun Gothic" pitchFamily="34" charset="-122"/>
                <a:cs typeface="Malgun Gothic" pitchFamily="34" charset="-120"/>
              </a:rPr>
              <a:t>실험</a:t>
            </a:r>
            <a:r>
              <a:rPr lang="ko-KR" altLang="en-US" sz="1100" b="1" kern="0" spc="100" dirty="0" err="1">
                <a:solidFill>
                  <a:srgbClr val="B91C1C"/>
                </a:solidFill>
                <a:latin typeface="Malgun Gothic" pitchFamily="34" charset="0"/>
                <a:ea typeface="Malgun Gothic" pitchFamily="34" charset="-122"/>
                <a:cs typeface="Malgun Gothic" pitchFamily="34" charset="-120"/>
              </a:rPr>
              <a:t>으로</a:t>
            </a:r>
            <a:r>
              <a:rPr lang="en-US" sz="1100" b="1" kern="0" spc="100" dirty="0">
                <a:solidFill>
                  <a:srgbClr val="B91C1C"/>
                </a:solidFill>
                <a:latin typeface="Malgun Gothic" pitchFamily="34" charset="0"/>
                <a:ea typeface="Malgun Gothic" pitchFamily="34" charset="-122"/>
                <a:cs typeface="Malgun Gothic" pitchFamily="34" charset="-120"/>
              </a:rPr>
              <a:t> </a:t>
            </a:r>
            <a:r>
              <a:rPr lang="en-US" sz="1100" b="1" kern="0" spc="100" dirty="0" err="1">
                <a:solidFill>
                  <a:srgbClr val="B91C1C"/>
                </a:solidFill>
                <a:latin typeface="Malgun Gothic" pitchFamily="34" charset="0"/>
                <a:ea typeface="Malgun Gothic" pitchFamily="34" charset="-122"/>
                <a:cs typeface="Malgun Gothic" pitchFamily="34" charset="-120"/>
              </a:rPr>
              <a:t>관측</a:t>
            </a:r>
            <a:r>
              <a:rPr lang="ko-KR" altLang="en-US" sz="1100" b="1" kern="0" spc="100" dirty="0">
                <a:solidFill>
                  <a:srgbClr val="B91C1C"/>
                </a:solidFill>
                <a:latin typeface="Malgun Gothic" pitchFamily="34" charset="0"/>
                <a:ea typeface="Malgun Gothic" pitchFamily="34" charset="-122"/>
                <a:cs typeface="Malgun Gothic" pitchFamily="34" charset="-120"/>
              </a:rPr>
              <a:t>된 내용</a:t>
            </a:r>
            <a:endParaRPr lang="en-US" sz="1100" dirty="0"/>
          </a:p>
        </p:txBody>
      </p:sp>
      <p:sp>
        <p:nvSpPr>
          <p:cNvPr id="14" name="Text 11"/>
          <p:cNvSpPr/>
          <p:nvPr/>
        </p:nvSpPr>
        <p:spPr>
          <a:xfrm>
            <a:off x="9601200" y="1783080"/>
            <a:ext cx="2103120" cy="256032"/>
          </a:xfrm>
          <a:prstGeom prst="rect">
            <a:avLst/>
          </a:prstGeom>
          <a:noFill/>
          <a:ln/>
        </p:spPr>
        <p:txBody>
          <a:bodyPr wrap="square" lIns="0" tIns="0" rIns="0" bIns="0" rtlCol="0" anchor="ctr"/>
          <a:lstStyle/>
          <a:p>
            <a:pPr marL="0" indent="0">
              <a:buNone/>
            </a:pPr>
            <a:r>
              <a:rPr lang="en-US" sz="900" i="1" dirty="0">
                <a:solidFill>
                  <a:srgbClr val="6B7280"/>
                </a:solidFill>
                <a:latin typeface="Malgun Gothic" pitchFamily="34" charset="0"/>
                <a:ea typeface="Malgun Gothic" pitchFamily="34" charset="-122"/>
                <a:cs typeface="Malgun Gothic" pitchFamily="34" charset="-120"/>
              </a:rPr>
              <a:t>23장 sparse 입력</a:t>
            </a:r>
            <a:endParaRPr lang="en-US" sz="900" dirty="0"/>
          </a:p>
        </p:txBody>
      </p:sp>
      <p:sp>
        <p:nvSpPr>
          <p:cNvPr id="15" name="Text 12"/>
          <p:cNvSpPr/>
          <p:nvPr/>
        </p:nvSpPr>
        <p:spPr>
          <a:xfrm>
            <a:off x="9601200" y="2148840"/>
            <a:ext cx="2103120" cy="868680"/>
          </a:xfrm>
          <a:prstGeom prst="rect">
            <a:avLst/>
          </a:prstGeom>
          <a:noFill/>
          <a:ln/>
        </p:spPr>
        <p:txBody>
          <a:bodyPr wrap="square" lIns="0" tIns="0" rIns="0" bIns="0" rtlCol="0" anchor="t"/>
          <a:lstStyle/>
          <a:p>
            <a:pPr marL="0" indent="0">
              <a:buNone/>
            </a:pPr>
            <a:r>
              <a:rPr lang="en-US" sz="1100" b="1" dirty="0">
                <a:solidFill>
                  <a:srgbClr val="B91C1C"/>
                </a:solidFill>
                <a:latin typeface="Malgun Gothic" pitchFamily="34" charset="0"/>
                <a:ea typeface="Malgun Gothic" pitchFamily="34" charset="-122"/>
                <a:cs typeface="Malgun Gothic" pitchFamily="34" charset="-120"/>
              </a:rPr>
              <a:t>①  </a:t>
            </a:r>
            <a:r>
              <a:rPr lang="en-US" sz="950" dirty="0">
                <a:solidFill>
                  <a:srgbClr val="1A202C"/>
                </a:solidFill>
                <a:latin typeface="Malgun Gothic" pitchFamily="34" charset="0"/>
                <a:ea typeface="Malgun Gothic" pitchFamily="34" charset="-122"/>
                <a:cs typeface="Malgun Gothic" pitchFamily="34" charset="-120"/>
              </a:rPr>
              <a:t>배경 벽면 전역에 걸친 streak / spike 형태 floater</a:t>
            </a:r>
            <a:endParaRPr lang="en-US" sz="950" dirty="0"/>
          </a:p>
        </p:txBody>
      </p:sp>
      <p:sp>
        <p:nvSpPr>
          <p:cNvPr id="16" name="Text 13"/>
          <p:cNvSpPr/>
          <p:nvPr/>
        </p:nvSpPr>
        <p:spPr>
          <a:xfrm>
            <a:off x="9601200" y="3108960"/>
            <a:ext cx="2103120" cy="868680"/>
          </a:xfrm>
          <a:prstGeom prst="rect">
            <a:avLst/>
          </a:prstGeom>
          <a:noFill/>
          <a:ln/>
        </p:spPr>
        <p:txBody>
          <a:bodyPr wrap="square" lIns="0" tIns="0" rIns="0" bIns="0" rtlCol="0" anchor="t"/>
          <a:lstStyle/>
          <a:p>
            <a:pPr marL="0" indent="0">
              <a:buNone/>
            </a:pPr>
            <a:r>
              <a:rPr lang="en-US" sz="1100" b="1" dirty="0">
                <a:solidFill>
                  <a:srgbClr val="B91C1C"/>
                </a:solidFill>
                <a:latin typeface="Malgun Gothic" pitchFamily="34" charset="0"/>
                <a:ea typeface="Malgun Gothic" pitchFamily="34" charset="-122"/>
                <a:cs typeface="Malgun Gothic" pitchFamily="34" charset="-120"/>
              </a:rPr>
              <a:t>②  </a:t>
            </a:r>
            <a:r>
              <a:rPr lang="en-US" sz="950" dirty="0">
                <a:solidFill>
                  <a:srgbClr val="1A202C"/>
                </a:solidFill>
                <a:latin typeface="Malgun Gothic" pitchFamily="34" charset="0"/>
                <a:ea typeface="Malgun Gothic" pitchFamily="34" charset="-122"/>
                <a:cs typeface="Malgun Gothic" pitchFamily="34" charset="-120"/>
              </a:rPr>
              <a:t>길쭉하게 늘어진 anisotropic Gaussian 다수</a:t>
            </a:r>
            <a:endParaRPr lang="en-US" sz="950" dirty="0"/>
          </a:p>
        </p:txBody>
      </p:sp>
      <p:sp>
        <p:nvSpPr>
          <p:cNvPr id="17" name="Text 14"/>
          <p:cNvSpPr/>
          <p:nvPr/>
        </p:nvSpPr>
        <p:spPr>
          <a:xfrm>
            <a:off x="9601200" y="4069080"/>
            <a:ext cx="2103120" cy="868680"/>
          </a:xfrm>
          <a:prstGeom prst="rect">
            <a:avLst/>
          </a:prstGeom>
          <a:noFill/>
          <a:ln/>
        </p:spPr>
        <p:txBody>
          <a:bodyPr wrap="square" lIns="0" tIns="0" rIns="0" bIns="0" rtlCol="0" anchor="t"/>
          <a:lstStyle/>
          <a:p>
            <a:pPr marL="0" indent="0">
              <a:buNone/>
            </a:pPr>
            <a:r>
              <a:rPr lang="en-US" sz="1100" b="1" dirty="0">
                <a:solidFill>
                  <a:srgbClr val="B91C1C"/>
                </a:solidFill>
                <a:latin typeface="Malgun Gothic" pitchFamily="34" charset="0"/>
                <a:ea typeface="Malgun Gothic" pitchFamily="34" charset="-122"/>
                <a:cs typeface="Malgun Gothic" pitchFamily="34" charset="-120"/>
              </a:rPr>
              <a:t>③  </a:t>
            </a:r>
            <a:r>
              <a:rPr lang="en-US" sz="950" dirty="0">
                <a:solidFill>
                  <a:srgbClr val="1A202C"/>
                </a:solidFill>
                <a:latin typeface="Malgun Gothic" pitchFamily="34" charset="0"/>
                <a:ea typeface="Malgun Gothic" pitchFamily="34" charset="-122"/>
                <a:cs typeface="Malgun Gothic" pitchFamily="34" charset="-120"/>
              </a:rPr>
              <a:t>우측 영역 기하 자체가 무너짐</a:t>
            </a:r>
            <a:endParaRPr lang="en-US" sz="950" dirty="0"/>
          </a:p>
        </p:txBody>
      </p:sp>
      <p:sp>
        <p:nvSpPr>
          <p:cNvPr id="18" name="Text 15"/>
          <p:cNvSpPr/>
          <p:nvPr/>
        </p:nvSpPr>
        <p:spPr>
          <a:xfrm>
            <a:off x="9601200" y="5029200"/>
            <a:ext cx="2103120" cy="868680"/>
          </a:xfrm>
          <a:prstGeom prst="rect">
            <a:avLst/>
          </a:prstGeom>
          <a:noFill/>
          <a:ln/>
        </p:spPr>
        <p:txBody>
          <a:bodyPr wrap="square" lIns="0" tIns="0" rIns="0" bIns="0" rtlCol="0" anchor="t"/>
          <a:lstStyle/>
          <a:p>
            <a:pPr marL="0" indent="0">
              <a:buNone/>
            </a:pPr>
            <a:r>
              <a:rPr lang="en-US" sz="1100" b="1" dirty="0">
                <a:solidFill>
                  <a:srgbClr val="B91C1C"/>
                </a:solidFill>
                <a:latin typeface="Malgun Gothic" pitchFamily="34" charset="0"/>
                <a:ea typeface="Malgun Gothic" pitchFamily="34" charset="-122"/>
                <a:cs typeface="Malgun Gothic" pitchFamily="34" charset="-120"/>
              </a:rPr>
              <a:t>④  </a:t>
            </a:r>
            <a:r>
              <a:rPr lang="en-US" sz="950" dirty="0">
                <a:solidFill>
                  <a:srgbClr val="1A202C"/>
                </a:solidFill>
                <a:latin typeface="Malgun Gothic" pitchFamily="34" charset="0"/>
                <a:ea typeface="Malgun Gothic" pitchFamily="34" charset="-122"/>
                <a:cs typeface="Malgun Gothic" pitchFamily="34" charset="-120"/>
              </a:rPr>
              <a:t>novel view로 회전 시 빈 공간에 컬러 잔상</a:t>
            </a:r>
            <a:endParaRPr lang="en-US" sz="950" dirty="0"/>
          </a:p>
        </p:txBody>
      </p:sp>
      <p:sp>
        <p:nvSpPr>
          <p:cNvPr id="19" name="Shape 16"/>
          <p:cNvSpPr/>
          <p:nvPr/>
        </p:nvSpPr>
        <p:spPr>
          <a:xfrm>
            <a:off x="640080" y="6035040"/>
            <a:ext cx="10881360" cy="640080"/>
          </a:xfrm>
          <a:prstGeom prst="rect">
            <a:avLst/>
          </a:prstGeom>
          <a:solidFill>
            <a:srgbClr val="FEF2F2"/>
          </a:solidFill>
          <a:ln w="12700">
            <a:solidFill>
              <a:srgbClr val="B91C1C"/>
            </a:solidFill>
            <a:prstDash val="solid"/>
          </a:ln>
        </p:spPr>
        <p:txBody>
          <a:bodyPr/>
          <a:lstStyle/>
          <a:p>
            <a:endParaRPr lang="ko-KR" altLang="en-US"/>
          </a:p>
        </p:txBody>
      </p:sp>
      <p:sp>
        <p:nvSpPr>
          <p:cNvPr id="20" name="Text 17"/>
          <p:cNvSpPr/>
          <p:nvPr/>
        </p:nvSpPr>
        <p:spPr>
          <a:xfrm>
            <a:off x="822960" y="6035040"/>
            <a:ext cx="10515600" cy="640080"/>
          </a:xfrm>
          <a:prstGeom prst="rect">
            <a:avLst/>
          </a:prstGeom>
          <a:noFill/>
          <a:ln/>
        </p:spPr>
        <p:txBody>
          <a:bodyPr wrap="square" lIns="0" tIns="0" rIns="0" bIns="0" rtlCol="0" anchor="ctr"/>
          <a:lstStyle/>
          <a:p>
            <a:pPr marL="0" indent="0">
              <a:buNone/>
            </a:pPr>
            <a:r>
              <a:rPr lang="en-US" sz="1100" b="1" kern="0" spc="150" dirty="0">
                <a:solidFill>
                  <a:srgbClr val="B91C1C"/>
                </a:solidFill>
                <a:latin typeface="Malgun Gothic" pitchFamily="34" charset="0"/>
                <a:ea typeface="Malgun Gothic" pitchFamily="34" charset="-122"/>
                <a:cs typeface="Malgun Gothic" pitchFamily="34" charset="-120"/>
              </a:rPr>
              <a:t>연결  </a:t>
            </a:r>
            <a:r>
              <a:rPr lang="en-US" sz="1100" dirty="0">
                <a:solidFill>
                  <a:srgbClr val="6B7280"/>
                </a:solidFill>
                <a:latin typeface="Malgun Gothic" pitchFamily="34" charset="0"/>
                <a:ea typeface="Malgun Gothic" pitchFamily="34" charset="-122"/>
                <a:cs typeface="Malgun Gothic" pitchFamily="34" charset="-120"/>
              </a:rPr>
              <a:t>·  </a:t>
            </a:r>
            <a:r>
              <a:rPr lang="en-US" sz="1100" dirty="0" err="1">
                <a:solidFill>
                  <a:srgbClr val="1A202C"/>
                </a:solidFill>
                <a:latin typeface="Malgun Gothic" pitchFamily="34" charset="0"/>
                <a:ea typeface="Malgun Gothic" pitchFamily="34" charset="-122"/>
                <a:cs typeface="Malgun Gothic" pitchFamily="34" charset="-120"/>
              </a:rPr>
              <a:t>논문에서</a:t>
            </a:r>
            <a:r>
              <a:rPr lang="en-US" sz="1100" dirty="0">
                <a:solidFill>
                  <a:srgbClr val="1A202C"/>
                </a:solidFill>
                <a:latin typeface="Malgun Gothic" pitchFamily="34" charset="0"/>
                <a:ea typeface="Malgun Gothic" pitchFamily="34" charset="-122"/>
                <a:cs typeface="Malgun Gothic" pitchFamily="34" charset="-120"/>
              </a:rPr>
              <a:t> 언급한 ①~④ 한계가 </a:t>
            </a:r>
            <a:r>
              <a:rPr lang="en-US" sz="1100" b="1" dirty="0">
                <a:solidFill>
                  <a:srgbClr val="B91C1C"/>
                </a:solidFill>
                <a:latin typeface="Malgun Gothic" pitchFamily="34" charset="0"/>
                <a:ea typeface="Malgun Gothic" pitchFamily="34" charset="-122"/>
                <a:cs typeface="Malgun Gothic" pitchFamily="34" charset="-120"/>
              </a:rPr>
              <a:t>23장 sparse view 실험에서 그대로 재현</a:t>
            </a:r>
            <a:r>
              <a:rPr lang="en-US" sz="1100" dirty="0">
                <a:solidFill>
                  <a:srgbClr val="1A202C"/>
                </a:solidFill>
                <a:latin typeface="Malgun Gothic" pitchFamily="34" charset="0"/>
                <a:ea typeface="Malgun Gothic" pitchFamily="34" charset="-122"/>
                <a:cs typeface="Malgun Gothic" pitchFamily="34" charset="-120"/>
              </a:rPr>
              <a:t>된다.  특히 densification이 sparse 환경에서 과민하게 반응하면서 Limitations ①·② 가 심하게 나타난다.</a:t>
            </a:r>
            <a:endParaRPr lang="en-US" sz="1100" dirty="0"/>
          </a:p>
        </p:txBody>
      </p:sp>
      <p:sp>
        <p:nvSpPr>
          <p:cNvPr id="21" name="Text 18"/>
          <p:cNvSpPr/>
          <p:nvPr/>
        </p:nvSpPr>
        <p:spPr>
          <a:xfrm>
            <a:off x="11064240" y="649224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Malgun Gothic" pitchFamily="34" charset="0"/>
                <a:ea typeface="Malgun Gothic" pitchFamily="34" charset="-122"/>
                <a:cs typeface="Malgun Gothic" pitchFamily="34" charset="-120"/>
              </a:rPr>
              <a:t>11 / 13</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65760"/>
            <a:ext cx="10972800" cy="274320"/>
          </a:xfrm>
          <a:prstGeom prst="rect">
            <a:avLst/>
          </a:prstGeom>
          <a:noFill/>
          <a:ln/>
        </p:spPr>
        <p:txBody>
          <a:bodyPr wrap="square" lIns="0" tIns="0" rIns="0" bIns="0" rtlCol="0" anchor="ctr"/>
          <a:lstStyle/>
          <a:p>
            <a:pPr marL="0" indent="0">
              <a:buNone/>
            </a:pPr>
            <a:r>
              <a:rPr lang="en-US" sz="1100" b="1" kern="0" spc="200" dirty="0">
                <a:solidFill>
                  <a:srgbClr val="1E40AF"/>
                </a:solidFill>
                <a:latin typeface="Malgun Gothic" pitchFamily="34" charset="0"/>
                <a:ea typeface="Malgun Gothic" pitchFamily="34" charset="-122"/>
                <a:cs typeface="Malgun Gothic" pitchFamily="34" charset="-120"/>
              </a:rPr>
              <a:t>12.</a:t>
            </a:r>
            <a:r>
              <a:rPr lang="ko-KR" altLang="en-US" sz="1100" b="1" kern="0" spc="200" dirty="0">
                <a:solidFill>
                  <a:srgbClr val="1E40AF"/>
                </a:solidFill>
                <a:latin typeface="Malgun Gothic" pitchFamily="34" charset="0"/>
                <a:ea typeface="Malgun Gothic" pitchFamily="34" charset="-122"/>
                <a:cs typeface="Malgun Gothic" pitchFamily="34" charset="-120"/>
              </a:rPr>
              <a:t>문제를 해결하기 위한 연구 확장 방향</a:t>
            </a:r>
            <a:endParaRPr lang="en-US" sz="1100" dirty="0"/>
          </a:p>
        </p:txBody>
      </p:sp>
      <p:sp>
        <p:nvSpPr>
          <p:cNvPr id="3" name="Text 1"/>
          <p:cNvSpPr/>
          <p:nvPr/>
        </p:nvSpPr>
        <p:spPr>
          <a:xfrm>
            <a:off x="640080" y="640080"/>
            <a:ext cx="10972800" cy="548640"/>
          </a:xfrm>
          <a:prstGeom prst="rect">
            <a:avLst/>
          </a:prstGeom>
          <a:noFill/>
          <a:ln/>
        </p:spPr>
        <p:txBody>
          <a:bodyPr wrap="square" lIns="0" tIns="0" rIns="0" bIns="0" rtlCol="0" anchor="ctr"/>
          <a:lstStyle/>
          <a:p>
            <a:pPr marL="0" indent="0">
              <a:buNone/>
            </a:pPr>
            <a:r>
              <a:rPr lang="en-US" sz="2400" b="1" dirty="0">
                <a:solidFill>
                  <a:srgbClr val="111827"/>
                </a:solidFill>
                <a:latin typeface="Malgun Gothic" pitchFamily="34" charset="0"/>
                <a:ea typeface="Malgun Gothic" pitchFamily="34" charset="-122"/>
                <a:cs typeface="Malgun Gothic" pitchFamily="34" charset="-120"/>
              </a:rPr>
              <a:t>sparse view 문제를 해결하기 위해 시도해볼 만한 구체적 방법들</a:t>
            </a:r>
            <a:endParaRPr lang="en-US" sz="2400" dirty="0"/>
          </a:p>
        </p:txBody>
      </p:sp>
      <p:sp>
        <p:nvSpPr>
          <p:cNvPr id="4" name="Shape 2"/>
          <p:cNvSpPr/>
          <p:nvPr/>
        </p:nvSpPr>
        <p:spPr>
          <a:xfrm>
            <a:off x="640080" y="1280160"/>
            <a:ext cx="10881360" cy="0"/>
          </a:xfrm>
          <a:prstGeom prst="line">
            <a:avLst/>
          </a:prstGeom>
          <a:noFill/>
          <a:ln w="9525">
            <a:solidFill>
              <a:srgbClr val="D1D5DB"/>
            </a:solidFill>
            <a:prstDash val="solid"/>
          </a:ln>
        </p:spPr>
        <p:txBody>
          <a:bodyPr/>
          <a:lstStyle/>
          <a:p>
            <a:endParaRPr lang="ko-KR" altLang="en-US"/>
          </a:p>
        </p:txBody>
      </p:sp>
      <p:sp>
        <p:nvSpPr>
          <p:cNvPr id="5" name="Shape 3"/>
          <p:cNvSpPr/>
          <p:nvPr/>
        </p:nvSpPr>
        <p:spPr>
          <a:xfrm>
            <a:off x="640080" y="1463040"/>
            <a:ext cx="10881360" cy="1005840"/>
          </a:xfrm>
          <a:prstGeom prst="rect">
            <a:avLst/>
          </a:prstGeom>
          <a:solidFill>
            <a:srgbClr val="EFF6FF"/>
          </a:solidFill>
          <a:ln w="12700">
            <a:solidFill>
              <a:srgbClr val="1E40AF"/>
            </a:solidFill>
            <a:prstDash val="solid"/>
          </a:ln>
        </p:spPr>
        <p:txBody>
          <a:bodyPr/>
          <a:lstStyle/>
          <a:p>
            <a:endParaRPr lang="ko-KR" altLang="en-US"/>
          </a:p>
        </p:txBody>
      </p:sp>
      <p:sp>
        <p:nvSpPr>
          <p:cNvPr id="6" name="Text 4"/>
          <p:cNvSpPr/>
          <p:nvPr/>
        </p:nvSpPr>
        <p:spPr>
          <a:xfrm>
            <a:off x="868680" y="1554480"/>
            <a:ext cx="10424160" cy="822960"/>
          </a:xfrm>
          <a:prstGeom prst="rect">
            <a:avLst/>
          </a:prstGeom>
          <a:noFill/>
          <a:ln/>
        </p:spPr>
        <p:txBody>
          <a:bodyPr wrap="square" lIns="0" tIns="0" rIns="0" bIns="0" rtlCol="0" anchor="ctr"/>
          <a:lstStyle/>
          <a:p>
            <a:pPr marL="0" indent="0">
              <a:buNone/>
            </a:pPr>
            <a:r>
              <a:rPr lang="en-US" sz="1200" b="1" dirty="0">
                <a:solidFill>
                  <a:srgbClr val="1E40AF"/>
                </a:solidFill>
                <a:latin typeface="Malgun Gothic" pitchFamily="34" charset="0"/>
                <a:ea typeface="Malgun Gothic" pitchFamily="34" charset="-122"/>
                <a:cs typeface="Malgun Gothic" pitchFamily="34" charset="-120"/>
              </a:rPr>
              <a:t>슬라이드 10~12에서 확인한 문제  ·  </a:t>
            </a:r>
            <a:r>
              <a:rPr lang="en-US" sz="1200" dirty="0">
                <a:solidFill>
                  <a:srgbClr val="1A202C"/>
                </a:solidFill>
                <a:latin typeface="Malgun Gothic" pitchFamily="34" charset="0"/>
                <a:ea typeface="Malgun Gothic" pitchFamily="34" charset="-122"/>
                <a:cs typeface="Malgun Gothic" pitchFamily="34" charset="-120"/>
              </a:rPr>
              <a:t>입력 이미지가 적을 때 3DGS는 관측되지 않은 영역에 floater를 만들고, 소수 뷰에 과적합된 길쭉한 Gaussian이 생긴다.</a:t>
            </a:r>
            <a:endParaRPr lang="en-US" sz="1200" dirty="0"/>
          </a:p>
          <a:p>
            <a:pPr marL="0" indent="0">
              <a:buNone/>
            </a:pPr>
            <a:r>
              <a:rPr lang="en-US" sz="1200" dirty="0">
                <a:solidFill>
                  <a:srgbClr val="1A202C"/>
                </a:solidFill>
                <a:latin typeface="Malgun Gothic" pitchFamily="34" charset="0"/>
                <a:ea typeface="Malgun Gothic" pitchFamily="34" charset="-122"/>
                <a:cs typeface="Malgun Gothic" pitchFamily="34" charset="-120"/>
              </a:rPr>
              <a:t>이 문제를 해결하기 위해 </a:t>
            </a:r>
            <a:r>
              <a:rPr lang="en-US" sz="1200" b="1" dirty="0">
                <a:solidFill>
                  <a:srgbClr val="1E40AF"/>
                </a:solidFill>
                <a:latin typeface="Malgun Gothic" pitchFamily="34" charset="0"/>
                <a:ea typeface="Malgun Gothic" pitchFamily="34" charset="-122"/>
                <a:cs typeface="Malgun Gothic" pitchFamily="34" charset="-120"/>
              </a:rPr>
              <a:t>세 가지 다른 접근 — 입력 보강 / 표현 전환 / 초기화 개선</a:t>
            </a:r>
            <a:r>
              <a:rPr lang="en-US" sz="1200" dirty="0">
                <a:solidFill>
                  <a:srgbClr val="1A202C"/>
                </a:solidFill>
                <a:latin typeface="Malgun Gothic" pitchFamily="34" charset="0"/>
                <a:ea typeface="Malgun Gothic" pitchFamily="34" charset="-122"/>
                <a:cs typeface="Malgun Gothic" pitchFamily="34" charset="-120"/>
              </a:rPr>
              <a:t> 을 실험해보고 싶다.</a:t>
            </a:r>
            <a:endParaRPr lang="en-US" sz="1200" dirty="0"/>
          </a:p>
        </p:txBody>
      </p:sp>
      <p:sp>
        <p:nvSpPr>
          <p:cNvPr id="7" name="Shape 5"/>
          <p:cNvSpPr/>
          <p:nvPr/>
        </p:nvSpPr>
        <p:spPr>
          <a:xfrm>
            <a:off x="640080" y="2697480"/>
            <a:ext cx="3520440" cy="3703320"/>
          </a:xfrm>
          <a:prstGeom prst="rect">
            <a:avLst/>
          </a:prstGeom>
          <a:solidFill>
            <a:srgbClr val="FFFFFF"/>
          </a:solidFill>
          <a:ln w="12700">
            <a:solidFill>
              <a:srgbClr val="1E40AF"/>
            </a:solidFill>
            <a:prstDash val="solid"/>
          </a:ln>
        </p:spPr>
        <p:txBody>
          <a:bodyPr/>
          <a:lstStyle/>
          <a:p>
            <a:endParaRPr lang="ko-KR" altLang="en-US"/>
          </a:p>
        </p:txBody>
      </p:sp>
      <p:sp>
        <p:nvSpPr>
          <p:cNvPr id="8" name="Text 6"/>
          <p:cNvSpPr/>
          <p:nvPr/>
        </p:nvSpPr>
        <p:spPr>
          <a:xfrm>
            <a:off x="822960" y="2807208"/>
            <a:ext cx="731520" cy="411480"/>
          </a:xfrm>
          <a:prstGeom prst="rect">
            <a:avLst/>
          </a:prstGeom>
          <a:noFill/>
          <a:ln/>
        </p:spPr>
        <p:txBody>
          <a:bodyPr wrap="square" lIns="0" tIns="0" rIns="0" bIns="0" rtlCol="0" anchor="ctr"/>
          <a:lstStyle/>
          <a:p>
            <a:pPr marL="0" indent="0">
              <a:buNone/>
            </a:pPr>
            <a:r>
              <a:rPr lang="en-US" sz="2000" b="1" dirty="0">
                <a:solidFill>
                  <a:srgbClr val="1E40AF"/>
                </a:solidFill>
                <a:latin typeface="Consolas" pitchFamily="34" charset="0"/>
                <a:ea typeface="Consolas" pitchFamily="34" charset="-122"/>
                <a:cs typeface="Consolas" pitchFamily="34" charset="-120"/>
              </a:rPr>
              <a:t>01</a:t>
            </a:r>
            <a:endParaRPr lang="en-US" sz="2000" dirty="0"/>
          </a:p>
        </p:txBody>
      </p:sp>
      <p:sp>
        <p:nvSpPr>
          <p:cNvPr id="9" name="Text 7"/>
          <p:cNvSpPr/>
          <p:nvPr/>
        </p:nvSpPr>
        <p:spPr>
          <a:xfrm>
            <a:off x="822960" y="3227832"/>
            <a:ext cx="3154680" cy="347472"/>
          </a:xfrm>
          <a:prstGeom prst="rect">
            <a:avLst/>
          </a:prstGeom>
          <a:noFill/>
          <a:ln/>
        </p:spPr>
        <p:txBody>
          <a:bodyPr wrap="square" lIns="0" tIns="0" rIns="0" bIns="0" rtlCol="0" anchor="ctr"/>
          <a:lstStyle/>
          <a:p>
            <a:pPr marL="0" indent="0">
              <a:buNone/>
            </a:pPr>
            <a:r>
              <a:rPr lang="en-US" sz="1400" b="1" dirty="0">
                <a:solidFill>
                  <a:srgbClr val="111827"/>
                </a:solidFill>
                <a:latin typeface="Malgun Gothic" pitchFamily="34" charset="0"/>
                <a:ea typeface="Malgun Gothic" pitchFamily="34" charset="-122"/>
                <a:cs typeface="Malgun Gothic" pitchFamily="34" charset="-120"/>
              </a:rPr>
              <a:t>Diffusion으로 novel view 생성</a:t>
            </a:r>
            <a:endParaRPr lang="en-US" sz="1400" dirty="0"/>
          </a:p>
        </p:txBody>
      </p:sp>
      <p:sp>
        <p:nvSpPr>
          <p:cNvPr id="10" name="Shape 8"/>
          <p:cNvSpPr/>
          <p:nvPr/>
        </p:nvSpPr>
        <p:spPr>
          <a:xfrm>
            <a:off x="777240" y="3630168"/>
            <a:ext cx="3246120" cy="640080"/>
          </a:xfrm>
          <a:prstGeom prst="rect">
            <a:avLst/>
          </a:prstGeom>
          <a:solidFill>
            <a:srgbClr val="EFF6FF"/>
          </a:solidFill>
          <a:ln w="6350">
            <a:solidFill>
              <a:srgbClr val="93C5FD"/>
            </a:solidFill>
            <a:prstDash val="solid"/>
          </a:ln>
        </p:spPr>
        <p:txBody>
          <a:bodyPr/>
          <a:lstStyle/>
          <a:p>
            <a:endParaRPr lang="ko-KR" altLang="en-US"/>
          </a:p>
        </p:txBody>
      </p:sp>
      <p:sp>
        <p:nvSpPr>
          <p:cNvPr id="11" name="Text 9"/>
          <p:cNvSpPr/>
          <p:nvPr/>
        </p:nvSpPr>
        <p:spPr>
          <a:xfrm>
            <a:off x="841248" y="3657600"/>
            <a:ext cx="3118104" cy="594360"/>
          </a:xfrm>
          <a:prstGeom prst="rect">
            <a:avLst/>
          </a:prstGeom>
          <a:noFill/>
          <a:ln/>
        </p:spPr>
        <p:txBody>
          <a:bodyPr wrap="square" lIns="0" tIns="0" rIns="0" bIns="0" rtlCol="0" anchor="ctr"/>
          <a:lstStyle/>
          <a:p>
            <a:pPr marL="0" indent="0">
              <a:buNone/>
            </a:pPr>
            <a:r>
              <a:rPr lang="en-US" sz="900" dirty="0">
                <a:solidFill>
                  <a:srgbClr val="1E3A8A"/>
                </a:solidFill>
                <a:latin typeface="Malgun Gothic" pitchFamily="34" charset="0"/>
                <a:ea typeface="Malgun Gothic" pitchFamily="34" charset="-122"/>
                <a:cs typeface="Malgun Gothic" pitchFamily="34" charset="-120"/>
              </a:rPr>
              <a:t>접근  ·  부족한 입력을  생성해서 채운다</a:t>
            </a:r>
            <a:endParaRPr lang="en-US" sz="900" dirty="0"/>
          </a:p>
        </p:txBody>
      </p:sp>
      <p:sp>
        <p:nvSpPr>
          <p:cNvPr id="12" name="Text 10"/>
          <p:cNvSpPr/>
          <p:nvPr/>
        </p:nvSpPr>
        <p:spPr>
          <a:xfrm>
            <a:off x="822960" y="4361688"/>
            <a:ext cx="3154680" cy="228600"/>
          </a:xfrm>
          <a:prstGeom prst="rect">
            <a:avLst/>
          </a:prstGeom>
          <a:noFill/>
          <a:ln/>
        </p:spPr>
        <p:txBody>
          <a:bodyPr wrap="square" lIns="0" tIns="0" rIns="0" bIns="0" rtlCol="0" anchor="ctr"/>
          <a:lstStyle/>
          <a:p>
            <a:pPr marL="0" indent="0">
              <a:buNone/>
            </a:pPr>
            <a:r>
              <a:rPr lang="en-US" sz="950" b="1" kern="0" spc="100" dirty="0">
                <a:solidFill>
                  <a:srgbClr val="4B5563"/>
                </a:solidFill>
                <a:latin typeface="Malgun Gothic" pitchFamily="34" charset="0"/>
                <a:ea typeface="Malgun Gothic" pitchFamily="34" charset="-122"/>
                <a:cs typeface="Malgun Gothic" pitchFamily="34" charset="-120"/>
              </a:rPr>
              <a:t>실험 계획</a:t>
            </a:r>
            <a:endParaRPr lang="en-US" sz="950" dirty="0"/>
          </a:p>
        </p:txBody>
      </p:sp>
      <p:sp>
        <p:nvSpPr>
          <p:cNvPr id="13" name="Text 11"/>
          <p:cNvSpPr/>
          <p:nvPr/>
        </p:nvSpPr>
        <p:spPr>
          <a:xfrm>
            <a:off x="822960" y="4617720"/>
            <a:ext cx="3154680" cy="1280160"/>
          </a:xfrm>
          <a:prstGeom prst="rect">
            <a:avLst/>
          </a:prstGeom>
          <a:noFill/>
          <a:ln/>
        </p:spPr>
        <p:txBody>
          <a:bodyPr wrap="square" lIns="0" tIns="0" rIns="0" bIns="0" rtlCol="0" anchor="t"/>
          <a:lstStyle/>
          <a:p>
            <a:pPr marL="0" indent="0">
              <a:buNone/>
            </a:pPr>
            <a:r>
              <a:rPr lang="en-US" sz="950" dirty="0">
                <a:solidFill>
                  <a:srgbClr val="1A202C"/>
                </a:solidFill>
                <a:latin typeface="Malgun Gothic" pitchFamily="34" charset="0"/>
                <a:ea typeface="Malgun Gothic" pitchFamily="34" charset="-122"/>
                <a:cs typeface="Malgun Gothic" pitchFamily="34" charset="-120"/>
              </a:rPr>
              <a:t>Stable Video Diffusion이나 CAT3D 같은 사전학습 multi-view diffusion 모델로 training view 사이의 novel view를 생성한다. 생성된 가짜 view를 추가 supervision으로 넣으면, diffusion이 학습해둔 scene prior가 관측되지 않은 영역의 기하와 외관을 보조해 floater를 줄일 수 있지 않을까?</a:t>
            </a:r>
            <a:endParaRPr lang="en-US" sz="950" dirty="0"/>
          </a:p>
        </p:txBody>
      </p:sp>
      <p:sp>
        <p:nvSpPr>
          <p:cNvPr id="14" name="Text 12"/>
          <p:cNvSpPr/>
          <p:nvPr/>
        </p:nvSpPr>
        <p:spPr>
          <a:xfrm>
            <a:off x="822960" y="5989320"/>
            <a:ext cx="3154680" cy="365760"/>
          </a:xfrm>
          <a:prstGeom prst="rect">
            <a:avLst/>
          </a:prstGeom>
          <a:noFill/>
          <a:ln/>
        </p:spPr>
        <p:txBody>
          <a:bodyPr wrap="square" lIns="0" tIns="0" rIns="0" bIns="0" rtlCol="0" anchor="t"/>
          <a:lstStyle/>
          <a:p>
            <a:pPr marL="0" indent="0">
              <a:buNone/>
            </a:pPr>
            <a:r>
              <a:rPr lang="en-US" sz="850" i="1" dirty="0">
                <a:solidFill>
                  <a:srgbClr val="6B7280"/>
                </a:solidFill>
                <a:latin typeface="Malgun Gothic" pitchFamily="34" charset="0"/>
                <a:ea typeface="Malgun Gothic" pitchFamily="34" charset="-122"/>
                <a:cs typeface="Malgun Gothic" pitchFamily="34" charset="-120"/>
              </a:rPr>
              <a:t>→ 3DGS-Enhancer (NeurIPS 2024), GS-Diff, ReconX 등 최근 활발한 방향</a:t>
            </a:r>
            <a:endParaRPr lang="en-US" sz="850" dirty="0"/>
          </a:p>
        </p:txBody>
      </p:sp>
      <p:sp>
        <p:nvSpPr>
          <p:cNvPr id="15" name="Shape 13"/>
          <p:cNvSpPr/>
          <p:nvPr/>
        </p:nvSpPr>
        <p:spPr>
          <a:xfrm>
            <a:off x="4297680" y="2697480"/>
            <a:ext cx="3520440" cy="3703320"/>
          </a:xfrm>
          <a:prstGeom prst="rect">
            <a:avLst/>
          </a:prstGeom>
          <a:solidFill>
            <a:srgbClr val="FFFFFF"/>
          </a:solidFill>
          <a:ln w="12700">
            <a:solidFill>
              <a:srgbClr val="1E40AF"/>
            </a:solidFill>
            <a:prstDash val="solid"/>
          </a:ln>
        </p:spPr>
        <p:txBody>
          <a:bodyPr/>
          <a:lstStyle/>
          <a:p>
            <a:endParaRPr lang="ko-KR" altLang="en-US"/>
          </a:p>
        </p:txBody>
      </p:sp>
      <p:sp>
        <p:nvSpPr>
          <p:cNvPr id="16" name="Text 14"/>
          <p:cNvSpPr/>
          <p:nvPr/>
        </p:nvSpPr>
        <p:spPr>
          <a:xfrm>
            <a:off x="4480560" y="2807208"/>
            <a:ext cx="731520" cy="411480"/>
          </a:xfrm>
          <a:prstGeom prst="rect">
            <a:avLst/>
          </a:prstGeom>
          <a:noFill/>
          <a:ln/>
        </p:spPr>
        <p:txBody>
          <a:bodyPr wrap="square" lIns="0" tIns="0" rIns="0" bIns="0" rtlCol="0" anchor="ctr"/>
          <a:lstStyle/>
          <a:p>
            <a:pPr marL="0" indent="0">
              <a:buNone/>
            </a:pPr>
            <a:r>
              <a:rPr lang="en-US" sz="2000" b="1" dirty="0">
                <a:solidFill>
                  <a:srgbClr val="1E40AF"/>
                </a:solidFill>
                <a:latin typeface="Consolas" pitchFamily="34" charset="0"/>
                <a:ea typeface="Consolas" pitchFamily="34" charset="-122"/>
                <a:cs typeface="Consolas" pitchFamily="34" charset="-120"/>
              </a:rPr>
              <a:t>02</a:t>
            </a:r>
            <a:endParaRPr lang="en-US" sz="2000" dirty="0"/>
          </a:p>
        </p:txBody>
      </p:sp>
      <p:sp>
        <p:nvSpPr>
          <p:cNvPr id="17" name="Text 15"/>
          <p:cNvSpPr/>
          <p:nvPr/>
        </p:nvSpPr>
        <p:spPr>
          <a:xfrm>
            <a:off x="4480560" y="3227832"/>
            <a:ext cx="3154680" cy="347472"/>
          </a:xfrm>
          <a:prstGeom prst="rect">
            <a:avLst/>
          </a:prstGeom>
          <a:noFill/>
          <a:ln/>
        </p:spPr>
        <p:txBody>
          <a:bodyPr wrap="square" lIns="0" tIns="0" rIns="0" bIns="0" rtlCol="0" anchor="ctr"/>
          <a:lstStyle/>
          <a:p>
            <a:pPr marL="0" indent="0">
              <a:buNone/>
            </a:pPr>
            <a:r>
              <a:rPr lang="en-US" sz="1400" b="1" dirty="0">
                <a:solidFill>
                  <a:srgbClr val="111827"/>
                </a:solidFill>
                <a:latin typeface="Malgun Gothic" pitchFamily="34" charset="0"/>
                <a:ea typeface="Malgun Gothic" pitchFamily="34" charset="-122"/>
                <a:cs typeface="Malgun Gothic" pitchFamily="34" charset="-120"/>
              </a:rPr>
              <a:t>2D Gaussian Splatting 전환</a:t>
            </a:r>
            <a:endParaRPr lang="en-US" sz="1400" dirty="0"/>
          </a:p>
        </p:txBody>
      </p:sp>
      <p:sp>
        <p:nvSpPr>
          <p:cNvPr id="18" name="Shape 16"/>
          <p:cNvSpPr/>
          <p:nvPr/>
        </p:nvSpPr>
        <p:spPr>
          <a:xfrm>
            <a:off x="4434840" y="3630168"/>
            <a:ext cx="3246120" cy="640080"/>
          </a:xfrm>
          <a:prstGeom prst="rect">
            <a:avLst/>
          </a:prstGeom>
          <a:solidFill>
            <a:srgbClr val="EFF6FF"/>
          </a:solidFill>
          <a:ln w="6350">
            <a:solidFill>
              <a:srgbClr val="93C5FD"/>
            </a:solidFill>
            <a:prstDash val="solid"/>
          </a:ln>
        </p:spPr>
        <p:txBody>
          <a:bodyPr/>
          <a:lstStyle/>
          <a:p>
            <a:endParaRPr lang="ko-KR" altLang="en-US"/>
          </a:p>
        </p:txBody>
      </p:sp>
      <p:sp>
        <p:nvSpPr>
          <p:cNvPr id="19" name="Text 17"/>
          <p:cNvSpPr/>
          <p:nvPr/>
        </p:nvSpPr>
        <p:spPr>
          <a:xfrm>
            <a:off x="4498848" y="3657600"/>
            <a:ext cx="3118104" cy="594360"/>
          </a:xfrm>
          <a:prstGeom prst="rect">
            <a:avLst/>
          </a:prstGeom>
          <a:noFill/>
          <a:ln/>
        </p:spPr>
        <p:txBody>
          <a:bodyPr wrap="square" lIns="0" tIns="0" rIns="0" bIns="0" rtlCol="0" anchor="ctr"/>
          <a:lstStyle/>
          <a:p>
            <a:pPr marL="0" indent="0">
              <a:buNone/>
            </a:pPr>
            <a:r>
              <a:rPr lang="en-US" sz="900" dirty="0">
                <a:solidFill>
                  <a:srgbClr val="1E3A8A"/>
                </a:solidFill>
                <a:latin typeface="Malgun Gothic" pitchFamily="34" charset="0"/>
                <a:ea typeface="Malgun Gothic" pitchFamily="34" charset="-122"/>
                <a:cs typeface="Malgun Gothic" pitchFamily="34" charset="-120"/>
              </a:rPr>
              <a:t>접근  ·  표현의 자유도를 낮춰  과적합 원천 차단</a:t>
            </a:r>
            <a:endParaRPr lang="en-US" sz="900" dirty="0"/>
          </a:p>
        </p:txBody>
      </p:sp>
      <p:sp>
        <p:nvSpPr>
          <p:cNvPr id="20" name="Text 18"/>
          <p:cNvSpPr/>
          <p:nvPr/>
        </p:nvSpPr>
        <p:spPr>
          <a:xfrm>
            <a:off x="4480560" y="4361688"/>
            <a:ext cx="3154680" cy="228600"/>
          </a:xfrm>
          <a:prstGeom prst="rect">
            <a:avLst/>
          </a:prstGeom>
          <a:noFill/>
          <a:ln/>
        </p:spPr>
        <p:txBody>
          <a:bodyPr wrap="square" lIns="0" tIns="0" rIns="0" bIns="0" rtlCol="0" anchor="ctr"/>
          <a:lstStyle/>
          <a:p>
            <a:pPr marL="0" indent="0">
              <a:buNone/>
            </a:pPr>
            <a:r>
              <a:rPr lang="en-US" sz="950" b="1" kern="0" spc="100" dirty="0">
                <a:solidFill>
                  <a:srgbClr val="4B5563"/>
                </a:solidFill>
                <a:latin typeface="Malgun Gothic" pitchFamily="34" charset="0"/>
                <a:ea typeface="Malgun Gothic" pitchFamily="34" charset="-122"/>
                <a:cs typeface="Malgun Gothic" pitchFamily="34" charset="-120"/>
              </a:rPr>
              <a:t>실험 계획</a:t>
            </a:r>
            <a:endParaRPr lang="en-US" sz="950" dirty="0"/>
          </a:p>
        </p:txBody>
      </p:sp>
      <p:sp>
        <p:nvSpPr>
          <p:cNvPr id="21" name="Text 19"/>
          <p:cNvSpPr/>
          <p:nvPr/>
        </p:nvSpPr>
        <p:spPr>
          <a:xfrm>
            <a:off x="4480560" y="4617720"/>
            <a:ext cx="3154680" cy="1280160"/>
          </a:xfrm>
          <a:prstGeom prst="rect">
            <a:avLst/>
          </a:prstGeom>
          <a:noFill/>
          <a:ln/>
        </p:spPr>
        <p:txBody>
          <a:bodyPr wrap="square" lIns="0" tIns="0" rIns="0" bIns="0" rtlCol="0" anchor="t"/>
          <a:lstStyle/>
          <a:p>
            <a:pPr marL="0" indent="0">
              <a:buNone/>
            </a:pPr>
            <a:r>
              <a:rPr lang="en-US" sz="950" dirty="0">
                <a:solidFill>
                  <a:srgbClr val="1A202C"/>
                </a:solidFill>
                <a:latin typeface="Malgun Gothic" pitchFamily="34" charset="0"/>
                <a:ea typeface="Malgun Gothic" pitchFamily="34" charset="-122"/>
                <a:cs typeface="Malgun Gothic" pitchFamily="34" charset="-120"/>
              </a:rPr>
              <a:t>3D Gaussian은 비등방성 타원체라 자유도가 너무 높아 sparse view에서 소수 뷰에 끼워 맞춰지며 길쭉해진다. 2D Gaussian Splatting (Huang et al., SIGGRAPH 2024)은 표면에 정렬된 2D disk로 표현해 기하 제약이 더 강하다. Sparse 환경에서 3D vs 2D GS 비교 실험으로 길쭉한 Gaussian 문제가 구조적으로 완화되는지 검증.</a:t>
            </a:r>
            <a:endParaRPr lang="en-US" sz="950" dirty="0"/>
          </a:p>
        </p:txBody>
      </p:sp>
      <p:sp>
        <p:nvSpPr>
          <p:cNvPr id="22" name="Text 20"/>
          <p:cNvSpPr/>
          <p:nvPr/>
        </p:nvSpPr>
        <p:spPr>
          <a:xfrm>
            <a:off x="4480560" y="5989320"/>
            <a:ext cx="3154680" cy="365760"/>
          </a:xfrm>
          <a:prstGeom prst="rect">
            <a:avLst/>
          </a:prstGeom>
          <a:noFill/>
          <a:ln/>
        </p:spPr>
        <p:txBody>
          <a:bodyPr wrap="square" lIns="0" tIns="0" rIns="0" bIns="0" rtlCol="0" anchor="t"/>
          <a:lstStyle/>
          <a:p>
            <a:pPr marL="0" indent="0">
              <a:buNone/>
            </a:pPr>
            <a:r>
              <a:rPr lang="en-US" sz="850" i="1" dirty="0">
                <a:solidFill>
                  <a:srgbClr val="6B7280"/>
                </a:solidFill>
                <a:latin typeface="Malgun Gothic" pitchFamily="34" charset="0"/>
                <a:ea typeface="Malgun Gothic" pitchFamily="34" charset="-122"/>
                <a:cs typeface="Malgun Gothic" pitchFamily="34" charset="-120"/>
              </a:rPr>
              <a:t>→ 2D Gaussian Splatting,  Huang et al.  SIGGRAPH 2024</a:t>
            </a:r>
            <a:endParaRPr lang="en-US" sz="850" dirty="0"/>
          </a:p>
        </p:txBody>
      </p:sp>
      <p:sp>
        <p:nvSpPr>
          <p:cNvPr id="23" name="Shape 21"/>
          <p:cNvSpPr/>
          <p:nvPr/>
        </p:nvSpPr>
        <p:spPr>
          <a:xfrm>
            <a:off x="7955280" y="2697480"/>
            <a:ext cx="3520440" cy="3703320"/>
          </a:xfrm>
          <a:prstGeom prst="rect">
            <a:avLst/>
          </a:prstGeom>
          <a:solidFill>
            <a:srgbClr val="FFFFFF"/>
          </a:solidFill>
          <a:ln w="12700">
            <a:solidFill>
              <a:srgbClr val="1E40AF"/>
            </a:solidFill>
            <a:prstDash val="solid"/>
          </a:ln>
        </p:spPr>
        <p:txBody>
          <a:bodyPr/>
          <a:lstStyle/>
          <a:p>
            <a:endParaRPr lang="ko-KR" altLang="en-US"/>
          </a:p>
        </p:txBody>
      </p:sp>
      <p:sp>
        <p:nvSpPr>
          <p:cNvPr id="24" name="Text 22"/>
          <p:cNvSpPr/>
          <p:nvPr/>
        </p:nvSpPr>
        <p:spPr>
          <a:xfrm>
            <a:off x="8138160" y="2807208"/>
            <a:ext cx="731520" cy="411480"/>
          </a:xfrm>
          <a:prstGeom prst="rect">
            <a:avLst/>
          </a:prstGeom>
          <a:noFill/>
          <a:ln/>
        </p:spPr>
        <p:txBody>
          <a:bodyPr wrap="square" lIns="0" tIns="0" rIns="0" bIns="0" rtlCol="0" anchor="ctr"/>
          <a:lstStyle/>
          <a:p>
            <a:pPr marL="0" indent="0">
              <a:buNone/>
            </a:pPr>
            <a:r>
              <a:rPr lang="en-US" sz="2000" b="1" dirty="0">
                <a:solidFill>
                  <a:srgbClr val="1E40AF"/>
                </a:solidFill>
                <a:latin typeface="Consolas" pitchFamily="34" charset="0"/>
                <a:ea typeface="Consolas" pitchFamily="34" charset="-122"/>
                <a:cs typeface="Consolas" pitchFamily="34" charset="-120"/>
              </a:rPr>
              <a:t>03</a:t>
            </a:r>
            <a:endParaRPr lang="en-US" sz="2000" dirty="0"/>
          </a:p>
        </p:txBody>
      </p:sp>
      <p:sp>
        <p:nvSpPr>
          <p:cNvPr id="25" name="Text 23"/>
          <p:cNvSpPr/>
          <p:nvPr/>
        </p:nvSpPr>
        <p:spPr>
          <a:xfrm>
            <a:off x="8138160" y="3227832"/>
            <a:ext cx="3154680" cy="347472"/>
          </a:xfrm>
          <a:prstGeom prst="rect">
            <a:avLst/>
          </a:prstGeom>
          <a:noFill/>
          <a:ln/>
        </p:spPr>
        <p:txBody>
          <a:bodyPr wrap="square" lIns="0" tIns="0" rIns="0" bIns="0" rtlCol="0" anchor="ctr"/>
          <a:lstStyle/>
          <a:p>
            <a:pPr marL="0" indent="0">
              <a:buNone/>
            </a:pPr>
            <a:r>
              <a:rPr lang="en-US" sz="1400" b="1" dirty="0">
                <a:solidFill>
                  <a:srgbClr val="111827"/>
                </a:solidFill>
                <a:latin typeface="Malgun Gothic" pitchFamily="34" charset="0"/>
                <a:ea typeface="Malgun Gothic" pitchFamily="34" charset="-122"/>
                <a:cs typeface="Malgun Gothic" pitchFamily="34" charset="-120"/>
              </a:rPr>
              <a:t>Dense stereo로 초기화 개선</a:t>
            </a:r>
            <a:endParaRPr lang="en-US" sz="1400" dirty="0"/>
          </a:p>
        </p:txBody>
      </p:sp>
      <p:sp>
        <p:nvSpPr>
          <p:cNvPr id="26" name="Shape 24"/>
          <p:cNvSpPr/>
          <p:nvPr/>
        </p:nvSpPr>
        <p:spPr>
          <a:xfrm>
            <a:off x="8092440" y="3630168"/>
            <a:ext cx="3246120" cy="640080"/>
          </a:xfrm>
          <a:prstGeom prst="rect">
            <a:avLst/>
          </a:prstGeom>
          <a:solidFill>
            <a:srgbClr val="EFF6FF"/>
          </a:solidFill>
          <a:ln w="6350">
            <a:solidFill>
              <a:srgbClr val="93C5FD"/>
            </a:solidFill>
            <a:prstDash val="solid"/>
          </a:ln>
        </p:spPr>
        <p:txBody>
          <a:bodyPr/>
          <a:lstStyle/>
          <a:p>
            <a:endParaRPr lang="ko-KR" altLang="en-US"/>
          </a:p>
        </p:txBody>
      </p:sp>
      <p:sp>
        <p:nvSpPr>
          <p:cNvPr id="27" name="Text 25"/>
          <p:cNvSpPr/>
          <p:nvPr/>
        </p:nvSpPr>
        <p:spPr>
          <a:xfrm>
            <a:off x="8156448" y="3657600"/>
            <a:ext cx="3118104" cy="594360"/>
          </a:xfrm>
          <a:prstGeom prst="rect">
            <a:avLst/>
          </a:prstGeom>
          <a:noFill/>
          <a:ln/>
        </p:spPr>
        <p:txBody>
          <a:bodyPr wrap="square" lIns="0" tIns="0" rIns="0" bIns="0" rtlCol="0" anchor="ctr"/>
          <a:lstStyle/>
          <a:p>
            <a:pPr marL="0" indent="0">
              <a:buNone/>
            </a:pPr>
            <a:r>
              <a:rPr lang="en-US" sz="900" dirty="0">
                <a:solidFill>
                  <a:srgbClr val="1E3A8A"/>
                </a:solidFill>
                <a:latin typeface="Malgun Gothic" pitchFamily="34" charset="0"/>
                <a:ea typeface="Malgun Gothic" pitchFamily="34" charset="-122"/>
                <a:cs typeface="Malgun Gothic" pitchFamily="34" charset="-120"/>
              </a:rPr>
              <a:t>접근  ·  COLMAP 대신  더 조밀한 초기 point cloud</a:t>
            </a:r>
            <a:endParaRPr lang="en-US" sz="900" dirty="0"/>
          </a:p>
        </p:txBody>
      </p:sp>
      <p:sp>
        <p:nvSpPr>
          <p:cNvPr id="28" name="Text 26"/>
          <p:cNvSpPr/>
          <p:nvPr/>
        </p:nvSpPr>
        <p:spPr>
          <a:xfrm>
            <a:off x="8138160" y="4361688"/>
            <a:ext cx="3154680" cy="228600"/>
          </a:xfrm>
          <a:prstGeom prst="rect">
            <a:avLst/>
          </a:prstGeom>
          <a:noFill/>
          <a:ln/>
        </p:spPr>
        <p:txBody>
          <a:bodyPr wrap="square" lIns="0" tIns="0" rIns="0" bIns="0" rtlCol="0" anchor="ctr"/>
          <a:lstStyle/>
          <a:p>
            <a:pPr marL="0" indent="0">
              <a:buNone/>
            </a:pPr>
            <a:r>
              <a:rPr lang="en-US" sz="950" b="1" kern="0" spc="100" dirty="0">
                <a:solidFill>
                  <a:srgbClr val="4B5563"/>
                </a:solidFill>
                <a:latin typeface="Malgun Gothic" pitchFamily="34" charset="0"/>
                <a:ea typeface="Malgun Gothic" pitchFamily="34" charset="-122"/>
                <a:cs typeface="Malgun Gothic" pitchFamily="34" charset="-120"/>
              </a:rPr>
              <a:t>실험 계획</a:t>
            </a:r>
            <a:endParaRPr lang="en-US" sz="950" dirty="0"/>
          </a:p>
        </p:txBody>
      </p:sp>
      <p:sp>
        <p:nvSpPr>
          <p:cNvPr id="29" name="Text 27"/>
          <p:cNvSpPr/>
          <p:nvPr/>
        </p:nvSpPr>
        <p:spPr>
          <a:xfrm>
            <a:off x="8138160" y="4617720"/>
            <a:ext cx="3154680" cy="1280160"/>
          </a:xfrm>
          <a:prstGeom prst="rect">
            <a:avLst/>
          </a:prstGeom>
          <a:noFill/>
          <a:ln/>
        </p:spPr>
        <p:txBody>
          <a:bodyPr wrap="square" lIns="0" tIns="0" rIns="0" bIns="0" rtlCol="0" anchor="t"/>
          <a:lstStyle/>
          <a:p>
            <a:pPr marL="0" indent="0">
              <a:buNone/>
            </a:pPr>
            <a:r>
              <a:rPr lang="en-US" sz="950" dirty="0">
                <a:solidFill>
                  <a:srgbClr val="1A202C"/>
                </a:solidFill>
                <a:latin typeface="Malgun Gothic" pitchFamily="34" charset="0"/>
                <a:ea typeface="Malgun Gothic" pitchFamily="34" charset="-122"/>
                <a:cs typeface="Malgun Gothic" pitchFamily="34" charset="-120"/>
              </a:rPr>
              <a:t>Sparse view에서는 COLMAP이 만드는 sparse point 자체가 너무 적어 초기화가 부실하다. DUSt3R, MASt3R 같은 사전학습 dense stereo 모델로 초기 dense point cloud를 얻으면, 초기 Gaussian이 올바른 위치에 충분히 많이 배치되어 이후 densification이 과민 반응할 여지가 줄지 않을까? 2~3장 극단 sparse까지 확장 가능.</a:t>
            </a:r>
            <a:endParaRPr lang="en-US" sz="950" dirty="0"/>
          </a:p>
        </p:txBody>
      </p:sp>
      <p:sp>
        <p:nvSpPr>
          <p:cNvPr id="30" name="Text 28"/>
          <p:cNvSpPr/>
          <p:nvPr/>
        </p:nvSpPr>
        <p:spPr>
          <a:xfrm>
            <a:off x="8138160" y="5989320"/>
            <a:ext cx="3154680" cy="365760"/>
          </a:xfrm>
          <a:prstGeom prst="rect">
            <a:avLst/>
          </a:prstGeom>
          <a:noFill/>
          <a:ln/>
        </p:spPr>
        <p:txBody>
          <a:bodyPr wrap="square" lIns="0" tIns="0" rIns="0" bIns="0" rtlCol="0" anchor="t"/>
          <a:lstStyle/>
          <a:p>
            <a:pPr marL="0" indent="0">
              <a:buNone/>
            </a:pPr>
            <a:r>
              <a:rPr lang="en-US" sz="850" i="1" dirty="0">
                <a:solidFill>
                  <a:srgbClr val="6B7280"/>
                </a:solidFill>
                <a:latin typeface="Malgun Gothic" pitchFamily="34" charset="0"/>
                <a:ea typeface="Malgun Gothic" pitchFamily="34" charset="-122"/>
                <a:cs typeface="Malgun Gothic" pitchFamily="34" charset="-120"/>
              </a:rPr>
              <a:t>→ InstantSplat (DUSt3R → 3DGS, 2024),  MASt3R 기반 초기화</a:t>
            </a:r>
            <a:endParaRPr lang="en-US" sz="850" dirty="0"/>
          </a:p>
        </p:txBody>
      </p:sp>
      <p:sp>
        <p:nvSpPr>
          <p:cNvPr id="31" name="Text 29"/>
          <p:cNvSpPr/>
          <p:nvPr/>
        </p:nvSpPr>
        <p:spPr>
          <a:xfrm>
            <a:off x="11064240" y="649224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Malgun Gothic" pitchFamily="34" charset="0"/>
                <a:ea typeface="Malgun Gothic" pitchFamily="34" charset="-122"/>
                <a:cs typeface="Malgun Gothic" pitchFamily="34" charset="-120"/>
              </a:rPr>
              <a:t>13 / 14</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65760"/>
            <a:ext cx="10972800" cy="274320"/>
          </a:xfrm>
          <a:prstGeom prst="rect">
            <a:avLst/>
          </a:prstGeom>
          <a:noFill/>
          <a:ln/>
        </p:spPr>
        <p:txBody>
          <a:bodyPr wrap="square" lIns="0" tIns="0" rIns="0" bIns="0" rtlCol="0" anchor="ctr"/>
          <a:lstStyle/>
          <a:p>
            <a:pPr marL="0" indent="0">
              <a:buNone/>
            </a:pPr>
            <a:r>
              <a:rPr lang="en-US" sz="1100" b="1" kern="0" spc="200" dirty="0">
                <a:solidFill>
                  <a:srgbClr val="1E40AF"/>
                </a:solidFill>
                <a:latin typeface="Malgun Gothic" pitchFamily="34" charset="0"/>
                <a:ea typeface="Malgun Gothic" pitchFamily="34" charset="-122"/>
                <a:cs typeface="Malgun Gothic" pitchFamily="34" charset="-120"/>
              </a:rPr>
              <a:t>12. 참고 자료</a:t>
            </a:r>
            <a:endParaRPr lang="en-US" sz="1100" dirty="0"/>
          </a:p>
        </p:txBody>
      </p:sp>
      <p:sp>
        <p:nvSpPr>
          <p:cNvPr id="3" name="Text 1"/>
          <p:cNvSpPr/>
          <p:nvPr/>
        </p:nvSpPr>
        <p:spPr>
          <a:xfrm>
            <a:off x="640080" y="640080"/>
            <a:ext cx="10972800" cy="548640"/>
          </a:xfrm>
          <a:prstGeom prst="rect">
            <a:avLst/>
          </a:prstGeom>
          <a:noFill/>
          <a:ln/>
        </p:spPr>
        <p:txBody>
          <a:bodyPr wrap="square" lIns="0" tIns="0" rIns="0" bIns="0" rtlCol="0" anchor="ctr"/>
          <a:lstStyle/>
          <a:p>
            <a:pPr marL="0" indent="0">
              <a:buNone/>
            </a:pPr>
            <a:r>
              <a:rPr lang="en-US" sz="2400" b="1" dirty="0">
                <a:solidFill>
                  <a:srgbClr val="111827"/>
                </a:solidFill>
                <a:latin typeface="Malgun Gothic" pitchFamily="34" charset="0"/>
                <a:ea typeface="Malgun Gothic" pitchFamily="34" charset="-122"/>
                <a:cs typeface="Malgun Gothic" pitchFamily="34" charset="-120"/>
              </a:rPr>
              <a:t>주요 논문 및 코드</a:t>
            </a:r>
            <a:endParaRPr lang="en-US" sz="2400" dirty="0"/>
          </a:p>
        </p:txBody>
      </p:sp>
      <p:sp>
        <p:nvSpPr>
          <p:cNvPr id="4" name="Shape 2"/>
          <p:cNvSpPr/>
          <p:nvPr/>
        </p:nvSpPr>
        <p:spPr>
          <a:xfrm>
            <a:off x="640080" y="1280160"/>
            <a:ext cx="10881360" cy="0"/>
          </a:xfrm>
          <a:prstGeom prst="line">
            <a:avLst/>
          </a:prstGeom>
          <a:noFill/>
          <a:ln w="9525">
            <a:solidFill>
              <a:srgbClr val="D1D5DB"/>
            </a:solidFill>
            <a:prstDash val="solid"/>
          </a:ln>
        </p:spPr>
        <p:txBody>
          <a:bodyPr/>
          <a:lstStyle/>
          <a:p>
            <a:endParaRPr lang="ko-KR" altLang="en-US"/>
          </a:p>
        </p:txBody>
      </p:sp>
      <p:sp>
        <p:nvSpPr>
          <p:cNvPr id="5" name="Text 3"/>
          <p:cNvSpPr/>
          <p:nvPr/>
        </p:nvSpPr>
        <p:spPr>
          <a:xfrm>
            <a:off x="640080" y="1508760"/>
            <a:ext cx="10972800" cy="365760"/>
          </a:xfrm>
          <a:prstGeom prst="rect">
            <a:avLst/>
          </a:prstGeom>
          <a:noFill/>
          <a:ln/>
        </p:spPr>
        <p:txBody>
          <a:bodyPr wrap="square" lIns="0" tIns="0" rIns="0" bIns="0" rtlCol="0" anchor="ctr"/>
          <a:lstStyle/>
          <a:p>
            <a:pPr marL="0" indent="0">
              <a:buNone/>
            </a:pPr>
            <a:r>
              <a:rPr lang="en-US" sz="1300" b="1" dirty="0">
                <a:solidFill>
                  <a:srgbClr val="1E40AF"/>
                </a:solidFill>
                <a:latin typeface="Malgun Gothic" pitchFamily="34" charset="0"/>
                <a:ea typeface="Malgun Gothic" pitchFamily="34" charset="-122"/>
                <a:cs typeface="Malgun Gothic" pitchFamily="34" charset="-120"/>
              </a:rPr>
              <a:t>논문</a:t>
            </a:r>
            <a:endParaRPr lang="en-US" sz="1300" dirty="0"/>
          </a:p>
        </p:txBody>
      </p:sp>
      <p:sp>
        <p:nvSpPr>
          <p:cNvPr id="6" name="Text 4"/>
          <p:cNvSpPr/>
          <p:nvPr/>
        </p:nvSpPr>
        <p:spPr>
          <a:xfrm>
            <a:off x="822960" y="1920240"/>
            <a:ext cx="1280160" cy="274320"/>
          </a:xfrm>
          <a:prstGeom prst="rect">
            <a:avLst/>
          </a:prstGeom>
          <a:noFill/>
          <a:ln/>
        </p:spPr>
        <p:txBody>
          <a:bodyPr wrap="square" lIns="0" tIns="0" rIns="0" bIns="0" rtlCol="0" anchor="ctr"/>
          <a:lstStyle/>
          <a:p>
            <a:pPr marL="0" indent="0">
              <a:buNone/>
            </a:pPr>
            <a:r>
              <a:rPr lang="en-US" sz="1100" b="1" dirty="0">
                <a:solidFill>
                  <a:srgbClr val="1E40AF"/>
                </a:solidFill>
                <a:latin typeface="Calibri" pitchFamily="34" charset="0"/>
                <a:ea typeface="Calibri" pitchFamily="34" charset="-122"/>
                <a:cs typeface="Calibri" pitchFamily="34" charset="-120"/>
              </a:rPr>
              <a:t>3DGS</a:t>
            </a:r>
            <a:endParaRPr lang="en-US" sz="1100" dirty="0"/>
          </a:p>
        </p:txBody>
      </p:sp>
      <p:sp>
        <p:nvSpPr>
          <p:cNvPr id="7" name="Text 5"/>
          <p:cNvSpPr/>
          <p:nvPr/>
        </p:nvSpPr>
        <p:spPr>
          <a:xfrm>
            <a:off x="2194560" y="1920240"/>
            <a:ext cx="9418320" cy="27432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Kerbl et al., 3D Gaussian Splatting for Real-Time Radiance Field Rendering, SIGGRAPH 2023</a:t>
            </a:r>
            <a:endParaRPr lang="en-US" sz="1100" dirty="0"/>
          </a:p>
        </p:txBody>
      </p:sp>
      <p:sp>
        <p:nvSpPr>
          <p:cNvPr id="8" name="Text 6"/>
          <p:cNvSpPr/>
          <p:nvPr/>
        </p:nvSpPr>
        <p:spPr>
          <a:xfrm>
            <a:off x="822960" y="2286000"/>
            <a:ext cx="1280160" cy="274320"/>
          </a:xfrm>
          <a:prstGeom prst="rect">
            <a:avLst/>
          </a:prstGeom>
          <a:noFill/>
          <a:ln/>
        </p:spPr>
        <p:txBody>
          <a:bodyPr wrap="square" lIns="0" tIns="0" rIns="0" bIns="0" rtlCol="0" anchor="ctr"/>
          <a:lstStyle/>
          <a:p>
            <a:pPr marL="0" indent="0">
              <a:buNone/>
            </a:pPr>
            <a:r>
              <a:rPr lang="en-US" sz="1100" b="1" dirty="0">
                <a:solidFill>
                  <a:srgbClr val="1E40AF"/>
                </a:solidFill>
                <a:latin typeface="Calibri" pitchFamily="34" charset="0"/>
                <a:ea typeface="Calibri" pitchFamily="34" charset="-122"/>
                <a:cs typeface="Calibri" pitchFamily="34" charset="-120"/>
              </a:rPr>
              <a:t>EWA</a:t>
            </a:r>
            <a:endParaRPr lang="en-US" sz="1100" dirty="0"/>
          </a:p>
        </p:txBody>
      </p:sp>
      <p:sp>
        <p:nvSpPr>
          <p:cNvPr id="9" name="Text 7"/>
          <p:cNvSpPr/>
          <p:nvPr/>
        </p:nvSpPr>
        <p:spPr>
          <a:xfrm>
            <a:off x="2194560" y="2286000"/>
            <a:ext cx="9418320" cy="27432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Zwicker et al., EWA Splatting, IEEE TVCG 2002  (공분산 투영 이론적 기반)</a:t>
            </a:r>
            <a:endParaRPr lang="en-US" sz="1100" dirty="0"/>
          </a:p>
        </p:txBody>
      </p:sp>
      <p:sp>
        <p:nvSpPr>
          <p:cNvPr id="10" name="Text 8"/>
          <p:cNvSpPr/>
          <p:nvPr/>
        </p:nvSpPr>
        <p:spPr>
          <a:xfrm>
            <a:off x="822960" y="2651760"/>
            <a:ext cx="1280160" cy="274320"/>
          </a:xfrm>
          <a:prstGeom prst="rect">
            <a:avLst/>
          </a:prstGeom>
          <a:noFill/>
          <a:ln/>
        </p:spPr>
        <p:txBody>
          <a:bodyPr wrap="square" lIns="0" tIns="0" rIns="0" bIns="0" rtlCol="0" anchor="ctr"/>
          <a:lstStyle/>
          <a:p>
            <a:pPr marL="0" indent="0">
              <a:buNone/>
            </a:pPr>
            <a:r>
              <a:rPr lang="en-US" sz="1100" b="1" dirty="0">
                <a:solidFill>
                  <a:srgbClr val="1E40AF"/>
                </a:solidFill>
                <a:latin typeface="Calibri" pitchFamily="34" charset="0"/>
                <a:ea typeface="Calibri" pitchFamily="34" charset="-122"/>
                <a:cs typeface="Calibri" pitchFamily="34" charset="-120"/>
              </a:rPr>
              <a:t>Depth-V2</a:t>
            </a:r>
            <a:endParaRPr lang="en-US" sz="1100" dirty="0"/>
          </a:p>
        </p:txBody>
      </p:sp>
      <p:sp>
        <p:nvSpPr>
          <p:cNvPr id="11" name="Text 9"/>
          <p:cNvSpPr/>
          <p:nvPr/>
        </p:nvSpPr>
        <p:spPr>
          <a:xfrm>
            <a:off x="2194560" y="2651760"/>
            <a:ext cx="9418320" cy="27432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Yang et al., Depth Anything V2, 2024</a:t>
            </a:r>
            <a:endParaRPr lang="en-US" sz="1100" dirty="0"/>
          </a:p>
        </p:txBody>
      </p:sp>
      <p:sp>
        <p:nvSpPr>
          <p:cNvPr id="12" name="Text 10"/>
          <p:cNvSpPr/>
          <p:nvPr/>
        </p:nvSpPr>
        <p:spPr>
          <a:xfrm>
            <a:off x="822960" y="3017520"/>
            <a:ext cx="1280160" cy="274320"/>
          </a:xfrm>
          <a:prstGeom prst="rect">
            <a:avLst/>
          </a:prstGeom>
          <a:noFill/>
          <a:ln/>
        </p:spPr>
        <p:txBody>
          <a:bodyPr wrap="square" lIns="0" tIns="0" rIns="0" bIns="0" rtlCol="0" anchor="ctr"/>
          <a:lstStyle/>
          <a:p>
            <a:pPr marL="0" indent="0">
              <a:buNone/>
            </a:pPr>
            <a:r>
              <a:rPr lang="en-US" sz="1100" b="1" dirty="0">
                <a:solidFill>
                  <a:srgbClr val="1E40AF"/>
                </a:solidFill>
                <a:latin typeface="Calibri" pitchFamily="34" charset="0"/>
                <a:ea typeface="Calibri" pitchFamily="34" charset="-122"/>
                <a:cs typeface="Calibri" pitchFamily="34" charset="-120"/>
              </a:rPr>
              <a:t>COLMAP</a:t>
            </a:r>
            <a:endParaRPr lang="en-US" sz="1100" dirty="0"/>
          </a:p>
        </p:txBody>
      </p:sp>
      <p:sp>
        <p:nvSpPr>
          <p:cNvPr id="13" name="Text 11"/>
          <p:cNvSpPr/>
          <p:nvPr/>
        </p:nvSpPr>
        <p:spPr>
          <a:xfrm>
            <a:off x="2194560" y="3017520"/>
            <a:ext cx="9418320" cy="27432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Schönberger &amp; Frahm, Structure-from-Motion Revisited, CVPR 2016</a:t>
            </a:r>
            <a:endParaRPr lang="en-US" sz="1100" dirty="0"/>
          </a:p>
        </p:txBody>
      </p:sp>
      <p:sp>
        <p:nvSpPr>
          <p:cNvPr id="14" name="Text 12"/>
          <p:cNvSpPr/>
          <p:nvPr/>
        </p:nvSpPr>
        <p:spPr>
          <a:xfrm>
            <a:off x="822960" y="3383280"/>
            <a:ext cx="1280160" cy="274320"/>
          </a:xfrm>
          <a:prstGeom prst="rect">
            <a:avLst/>
          </a:prstGeom>
          <a:noFill/>
          <a:ln/>
        </p:spPr>
        <p:txBody>
          <a:bodyPr wrap="square" lIns="0" tIns="0" rIns="0" bIns="0" rtlCol="0" anchor="ctr"/>
          <a:lstStyle/>
          <a:p>
            <a:pPr marL="0" indent="0">
              <a:buNone/>
            </a:pPr>
            <a:r>
              <a:rPr lang="en-US" sz="1100" b="1" dirty="0">
                <a:solidFill>
                  <a:srgbClr val="1E40AF"/>
                </a:solidFill>
                <a:latin typeface="Calibri" pitchFamily="34" charset="0"/>
                <a:ea typeface="Calibri" pitchFamily="34" charset="-122"/>
                <a:cs typeface="Calibri" pitchFamily="34" charset="-120"/>
              </a:rPr>
              <a:t>Taming-3DGS</a:t>
            </a:r>
            <a:endParaRPr lang="en-US" sz="1100" dirty="0"/>
          </a:p>
        </p:txBody>
      </p:sp>
      <p:sp>
        <p:nvSpPr>
          <p:cNvPr id="15" name="Text 13"/>
          <p:cNvSpPr/>
          <p:nvPr/>
        </p:nvSpPr>
        <p:spPr>
          <a:xfrm>
            <a:off x="2194560" y="3383280"/>
            <a:ext cx="9418320" cy="27432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Mallick et al., Taming 3DGS: High-Quality Radiance Fields with Limited Resources, SIGGRAPH Asia 2024</a:t>
            </a:r>
            <a:endParaRPr lang="en-US" sz="1100" dirty="0"/>
          </a:p>
        </p:txBody>
      </p:sp>
      <p:sp>
        <p:nvSpPr>
          <p:cNvPr id="16" name="Text 14"/>
          <p:cNvSpPr/>
          <p:nvPr/>
        </p:nvSpPr>
        <p:spPr>
          <a:xfrm>
            <a:off x="640080" y="3977640"/>
            <a:ext cx="10972800" cy="365760"/>
          </a:xfrm>
          <a:prstGeom prst="rect">
            <a:avLst/>
          </a:prstGeom>
          <a:noFill/>
          <a:ln/>
        </p:spPr>
        <p:txBody>
          <a:bodyPr wrap="square" lIns="0" tIns="0" rIns="0" bIns="0" rtlCol="0" anchor="ctr"/>
          <a:lstStyle/>
          <a:p>
            <a:pPr marL="0" indent="0">
              <a:buNone/>
            </a:pPr>
            <a:r>
              <a:rPr lang="en-US" sz="1300" b="1" dirty="0">
                <a:solidFill>
                  <a:srgbClr val="1E40AF"/>
                </a:solidFill>
                <a:latin typeface="Malgun Gothic" pitchFamily="34" charset="0"/>
                <a:ea typeface="Malgun Gothic" pitchFamily="34" charset="-122"/>
                <a:cs typeface="Malgun Gothic" pitchFamily="34" charset="-120"/>
              </a:rPr>
              <a:t>코드</a:t>
            </a:r>
            <a:endParaRPr lang="en-US" sz="1300" dirty="0"/>
          </a:p>
        </p:txBody>
      </p:sp>
      <p:sp>
        <p:nvSpPr>
          <p:cNvPr id="17" name="Text 15"/>
          <p:cNvSpPr/>
          <p:nvPr/>
        </p:nvSpPr>
        <p:spPr>
          <a:xfrm>
            <a:off x="822960" y="4389120"/>
            <a:ext cx="2743200" cy="274320"/>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gaussian-splatting</a:t>
            </a:r>
            <a:endParaRPr lang="en-US" sz="1100" dirty="0"/>
          </a:p>
        </p:txBody>
      </p:sp>
      <p:sp>
        <p:nvSpPr>
          <p:cNvPr id="18" name="Text 16"/>
          <p:cNvSpPr/>
          <p:nvPr/>
        </p:nvSpPr>
        <p:spPr>
          <a:xfrm>
            <a:off x="3657600" y="4389120"/>
            <a:ext cx="795528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github.com/graphdeco-inria/gaussian-splatting</a:t>
            </a:r>
            <a:endParaRPr lang="en-US" sz="1100" dirty="0"/>
          </a:p>
        </p:txBody>
      </p:sp>
      <p:sp>
        <p:nvSpPr>
          <p:cNvPr id="19" name="Text 17"/>
          <p:cNvSpPr/>
          <p:nvPr/>
        </p:nvSpPr>
        <p:spPr>
          <a:xfrm>
            <a:off x="822960" y="4736592"/>
            <a:ext cx="2743200" cy="274320"/>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diff-gaussian-rasterization</a:t>
            </a:r>
            <a:endParaRPr lang="en-US" sz="1100" dirty="0"/>
          </a:p>
        </p:txBody>
      </p:sp>
      <p:sp>
        <p:nvSpPr>
          <p:cNvPr id="20" name="Text 18"/>
          <p:cNvSpPr/>
          <p:nvPr/>
        </p:nvSpPr>
        <p:spPr>
          <a:xfrm>
            <a:off x="3657600" y="4736592"/>
            <a:ext cx="795528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github.com/graphdeco-inria/diff-gaussian-rasterization</a:t>
            </a:r>
            <a:endParaRPr lang="en-US" sz="1100" dirty="0"/>
          </a:p>
        </p:txBody>
      </p:sp>
      <p:sp>
        <p:nvSpPr>
          <p:cNvPr id="21" name="Text 19"/>
          <p:cNvSpPr/>
          <p:nvPr/>
        </p:nvSpPr>
        <p:spPr>
          <a:xfrm>
            <a:off x="822960" y="5084064"/>
            <a:ext cx="2743200" cy="274320"/>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COLMAP</a:t>
            </a:r>
            <a:endParaRPr lang="en-US" sz="1100" dirty="0"/>
          </a:p>
        </p:txBody>
      </p:sp>
      <p:sp>
        <p:nvSpPr>
          <p:cNvPr id="22" name="Text 20"/>
          <p:cNvSpPr/>
          <p:nvPr/>
        </p:nvSpPr>
        <p:spPr>
          <a:xfrm>
            <a:off x="3657600" y="5084064"/>
            <a:ext cx="795528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github.com/colmap/colmap</a:t>
            </a:r>
            <a:endParaRPr lang="en-US" sz="1100" dirty="0"/>
          </a:p>
        </p:txBody>
      </p:sp>
      <p:sp>
        <p:nvSpPr>
          <p:cNvPr id="23" name="Text 21"/>
          <p:cNvSpPr/>
          <p:nvPr/>
        </p:nvSpPr>
        <p:spPr>
          <a:xfrm>
            <a:off x="822960" y="5431536"/>
            <a:ext cx="2743200" cy="274320"/>
          </a:xfrm>
          <a:prstGeom prst="rect">
            <a:avLst/>
          </a:prstGeom>
          <a:noFill/>
          <a:ln/>
        </p:spPr>
        <p:txBody>
          <a:bodyPr wrap="square" lIns="0" tIns="0" rIns="0" bIns="0" rtlCol="0" anchor="ctr"/>
          <a:lstStyle/>
          <a:p>
            <a:pPr marL="0" indent="0">
              <a:buNone/>
            </a:pPr>
            <a:r>
              <a:rPr lang="en-US" sz="1100" b="1" dirty="0">
                <a:solidFill>
                  <a:srgbClr val="1A202C"/>
                </a:solidFill>
                <a:latin typeface="Calibri" pitchFamily="34" charset="0"/>
                <a:ea typeface="Calibri" pitchFamily="34" charset="-122"/>
                <a:cs typeface="Calibri" pitchFamily="34" charset="-120"/>
              </a:rPr>
              <a:t>SuperSplat viewer</a:t>
            </a:r>
            <a:endParaRPr lang="en-US" sz="1100" dirty="0"/>
          </a:p>
        </p:txBody>
      </p:sp>
      <p:sp>
        <p:nvSpPr>
          <p:cNvPr id="24" name="Text 22"/>
          <p:cNvSpPr/>
          <p:nvPr/>
        </p:nvSpPr>
        <p:spPr>
          <a:xfrm>
            <a:off x="3657600" y="5431536"/>
            <a:ext cx="7955280" cy="274320"/>
          </a:xfrm>
          <a:prstGeom prst="rect">
            <a:avLst/>
          </a:prstGeom>
          <a:noFill/>
          <a:ln/>
        </p:spPr>
        <p:txBody>
          <a:bodyPr wrap="square" lIns="0" tIns="0" rIns="0" bIns="0" rtlCol="0" anchor="ctr"/>
          <a:lstStyle/>
          <a:p>
            <a:pPr marL="0" indent="0">
              <a:buNone/>
            </a:pPr>
            <a:r>
              <a:rPr lang="en-US" sz="1100" dirty="0">
                <a:solidFill>
                  <a:srgbClr val="6B7280"/>
                </a:solidFill>
                <a:latin typeface="Calibri" pitchFamily="34" charset="0"/>
                <a:ea typeface="Calibri" pitchFamily="34" charset="-122"/>
                <a:cs typeface="Calibri" pitchFamily="34" charset="-120"/>
              </a:rPr>
              <a:t>학습 결과 시각화에 사용</a:t>
            </a:r>
            <a:endParaRPr lang="en-US" sz="1100" dirty="0"/>
          </a:p>
        </p:txBody>
      </p:sp>
      <p:sp>
        <p:nvSpPr>
          <p:cNvPr id="25" name="Shape 23"/>
          <p:cNvSpPr/>
          <p:nvPr/>
        </p:nvSpPr>
        <p:spPr>
          <a:xfrm>
            <a:off x="640080" y="6126480"/>
            <a:ext cx="10881360" cy="0"/>
          </a:xfrm>
          <a:prstGeom prst="line">
            <a:avLst/>
          </a:prstGeom>
          <a:noFill/>
          <a:ln w="9525">
            <a:solidFill>
              <a:srgbClr val="D1D5DB"/>
            </a:solidFill>
            <a:prstDash val="solid"/>
          </a:ln>
        </p:spPr>
        <p:txBody>
          <a:bodyPr/>
          <a:lstStyle/>
          <a:p>
            <a:endParaRPr lang="ko-KR" altLang="en-US"/>
          </a:p>
        </p:txBody>
      </p:sp>
      <p:sp>
        <p:nvSpPr>
          <p:cNvPr id="26" name="Text 24"/>
          <p:cNvSpPr/>
          <p:nvPr/>
        </p:nvSpPr>
        <p:spPr>
          <a:xfrm>
            <a:off x="640080" y="6263640"/>
            <a:ext cx="10972800" cy="365760"/>
          </a:xfrm>
          <a:prstGeom prst="rect">
            <a:avLst/>
          </a:prstGeom>
          <a:noFill/>
          <a:ln/>
        </p:spPr>
        <p:txBody>
          <a:bodyPr wrap="square" lIns="0" tIns="0" rIns="0" bIns="0" rtlCol="0" anchor="ctr"/>
          <a:lstStyle/>
          <a:p>
            <a:pPr marL="0" indent="0" algn="ctr">
              <a:buNone/>
            </a:pPr>
            <a:endParaRPr lang="en-US" sz="1600" dirty="0"/>
          </a:p>
        </p:txBody>
      </p:sp>
      <p:sp>
        <p:nvSpPr>
          <p:cNvPr id="27" name="Text 25"/>
          <p:cNvSpPr/>
          <p:nvPr/>
        </p:nvSpPr>
        <p:spPr>
          <a:xfrm>
            <a:off x="11064240" y="6492240"/>
            <a:ext cx="914400" cy="274320"/>
          </a:xfrm>
          <a:prstGeom prst="rect">
            <a:avLst/>
          </a:prstGeom>
          <a:noFill/>
          <a:ln/>
        </p:spPr>
        <p:txBody>
          <a:bodyPr wrap="square" lIns="0" tIns="0" rIns="0" bIns="0" rtlCol="0" anchor="ctr"/>
          <a:lstStyle/>
          <a:p>
            <a:pPr marL="0" indent="0" algn="r">
              <a:buNone/>
            </a:pPr>
            <a:r>
              <a:rPr lang="en-US" sz="1000" dirty="0">
                <a:solidFill>
                  <a:srgbClr val="6B7280"/>
                </a:solidFill>
                <a:latin typeface="Malgun Gothic" pitchFamily="34" charset="0"/>
                <a:ea typeface="Malgun Gothic" pitchFamily="34" charset="-122"/>
                <a:cs typeface="Malgun Gothic" pitchFamily="34" charset="-120"/>
              </a:rPr>
              <a:t>13 / 13</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129</TotalTime>
  <Words>3679</Words>
  <Application>Microsoft Macintosh PowerPoint</Application>
  <PresentationFormat>와이드스크린</PresentationFormat>
  <Paragraphs>351</Paragraphs>
  <Slides>14</Slides>
  <Notes>14</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14</vt:i4>
      </vt:variant>
    </vt:vector>
  </HeadingPairs>
  <TitlesOfParts>
    <vt:vector size="19" baseType="lpstr">
      <vt:lpstr>Malgun Gothic</vt:lpstr>
      <vt:lpstr>Arial</vt:lpstr>
      <vt:lpstr>Calibri</vt:lpstr>
      <vt:lpstr>Consolas</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Gaussian Splatting 논문 및 코드 리뷰</dc:title>
  <dc:subject>PptxGenJS Presentation</dc:subject>
  <dc:creator>[이름]</dc:creator>
  <cp:lastModifiedBy>민규 전</cp:lastModifiedBy>
  <cp:revision>3</cp:revision>
  <dcterms:created xsi:type="dcterms:W3CDTF">2026-04-23T14:14:27Z</dcterms:created>
  <dcterms:modified xsi:type="dcterms:W3CDTF">2026-04-24T03:48:25Z</dcterms:modified>
</cp:coreProperties>
</file>